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4"/>
  </p:notesMasterIdLst>
  <p:handoutMasterIdLst>
    <p:handoutMasterId r:id="rId55"/>
  </p:handoutMasterIdLst>
  <p:sldIdLst>
    <p:sldId id="256" r:id="rId5"/>
    <p:sldId id="269" r:id="rId6"/>
    <p:sldId id="271" r:id="rId7"/>
    <p:sldId id="272" r:id="rId8"/>
    <p:sldId id="274" r:id="rId9"/>
    <p:sldId id="275" r:id="rId10"/>
    <p:sldId id="276" r:id="rId11"/>
    <p:sldId id="277" r:id="rId12"/>
    <p:sldId id="278" r:id="rId13"/>
    <p:sldId id="279" r:id="rId14"/>
    <p:sldId id="314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91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300" r:id="rId36"/>
    <p:sldId id="301" r:id="rId37"/>
    <p:sldId id="302" r:id="rId38"/>
    <p:sldId id="303" r:id="rId39"/>
    <p:sldId id="320" r:id="rId40"/>
    <p:sldId id="310" r:id="rId41"/>
    <p:sldId id="311" r:id="rId42"/>
    <p:sldId id="321" r:id="rId43"/>
    <p:sldId id="322" r:id="rId44"/>
    <p:sldId id="315" r:id="rId45"/>
    <p:sldId id="309" r:id="rId46"/>
    <p:sldId id="319" r:id="rId47"/>
    <p:sldId id="316" r:id="rId48"/>
    <p:sldId id="317" r:id="rId49"/>
    <p:sldId id="312" r:id="rId50"/>
    <p:sldId id="313" r:id="rId51"/>
    <p:sldId id="307" r:id="rId52"/>
    <p:sldId id="308" r:id="rId53"/>
  </p:sldIdLst>
  <p:sldSz cx="12192000" cy="6858000"/>
  <p:notesSz cx="6858000" cy="9144000"/>
  <p:defaultTextStyle>
    <a:defPPr rtl="0"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3F3F3F"/>
    <a:srgbClr val="0937C9"/>
    <a:srgbClr val="014B79"/>
    <a:srgbClr val="013657"/>
    <a:srgbClr val="014067"/>
    <a:srgbClr val="014E7D"/>
    <a:srgbClr val="01456F"/>
    <a:srgbClr val="002774"/>
    <a:srgbClr val="929A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Estilo oscuro 1 - Énfasis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113A9D2-9D6B-4929-AA2D-F23B5EE8CBE7}" styleName="Estilo temático 2 - Énfasis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41" autoAdjust="0"/>
  </p:normalViewPr>
  <p:slideViewPr>
    <p:cSldViewPr snapToGrid="0" showGuides="1">
      <p:cViewPr>
        <p:scale>
          <a:sx n="75" d="100"/>
          <a:sy n="75" d="100"/>
        </p:scale>
        <p:origin x="931" y="307"/>
      </p:cViewPr>
      <p:guideLst>
        <p:guide pos="3840"/>
        <p:guide pos="597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1"/>
    <c:plotArea>
      <c:layout>
        <c:manualLayout>
          <c:layoutTarget val="inner"/>
          <c:xMode val="edge"/>
          <c:yMode val="edge"/>
          <c:x val="6.8480118329689518E-2"/>
          <c:y val="1.8446918286590615E-2"/>
          <c:w val="0.92877413850414403"/>
          <c:h val="0.8566654624793449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Actividades</c:v>
                </c:pt>
              </c:strCache>
            </c:strRef>
          </c:tx>
          <c:spPr>
            <a:solidFill>
              <a:schemeClr val="accent6">
                <a:shade val="6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13.8%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8-F676-4B4E-B07B-1AF797BB517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13.8%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9-F676-4B4E-B07B-1AF797BB517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11.3%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A-F676-4B4E-B07B-1AF797BB5179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dirty="0"/>
                      <a:t>10%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B-F676-4B4E-B07B-1AF797BB5179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dirty="0"/>
                      <a:t>8.8%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C-F676-4B4E-B07B-1AF797BB5179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dirty="0"/>
                      <a:t>8.8%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D-F676-4B4E-B07B-1AF797BB5179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dirty="0"/>
                      <a:t>7.5%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E-F676-4B4E-B07B-1AF797BB5179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dirty="0"/>
                      <a:t>7.5%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F-F676-4B4E-B07B-1AF797BB5179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dirty="0"/>
                      <a:t>6.3%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0-F676-4B4E-B07B-1AF797BB5179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dirty="0"/>
                      <a:t>5.0%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1-F676-4B4E-B07B-1AF797BB5179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dirty="0"/>
                      <a:t>3.8%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2-F676-4B4E-B07B-1AF797BB5179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rPr lang="en-US" dirty="0"/>
                      <a:t>3.8%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3-F676-4B4E-B07B-1AF797BB5179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 dirty="0"/>
                      <a:t>1.3%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4-F676-4B4E-B07B-1AF797BB5179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r>
                      <a:rPr lang="en-US" dirty="0"/>
                      <a:t>1.3%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5-F676-4B4E-B07B-1AF797BB5179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 dirty="0"/>
                      <a:t>1.3%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6-F676-4B4E-B07B-1AF797BB5179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 dirty="0"/>
                      <a:t>1.3%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7-F676-4B4E-B07B-1AF797BB5179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r>
                      <a:rPr lang="en-US" dirty="0"/>
                      <a:t>1.3%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28-F676-4B4E-B07B-1AF797BB517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Hoja1!$A$2:$A$18</c:f>
              <c:strCache>
                <c:ptCount val="17"/>
                <c:pt idx="0">
                  <c:v>Francia</c:v>
                </c:pt>
                <c:pt idx="1">
                  <c:v>Karym</c:v>
                </c:pt>
                <c:pt idx="2">
                  <c:v>Ramón</c:v>
                </c:pt>
                <c:pt idx="3">
                  <c:v>Pavel</c:v>
                </c:pt>
                <c:pt idx="4">
                  <c:v>Seferino</c:v>
                </c:pt>
                <c:pt idx="5">
                  <c:v>Harvey</c:v>
                </c:pt>
                <c:pt idx="6">
                  <c:v>Juan</c:v>
                </c:pt>
                <c:pt idx="7">
                  <c:v>Xavier</c:v>
                </c:pt>
                <c:pt idx="8">
                  <c:v>Iván</c:v>
                </c:pt>
                <c:pt idx="9">
                  <c:v>Miguel</c:v>
                </c:pt>
                <c:pt idx="10">
                  <c:v>Ian</c:v>
                </c:pt>
                <c:pt idx="11">
                  <c:v>Arturo</c:v>
                </c:pt>
                <c:pt idx="12">
                  <c:v>Itzel</c:v>
                </c:pt>
                <c:pt idx="13">
                  <c:v>Anahí</c:v>
                </c:pt>
                <c:pt idx="14">
                  <c:v>Thelma</c:v>
                </c:pt>
                <c:pt idx="15">
                  <c:v>Fidencio</c:v>
                </c:pt>
                <c:pt idx="16">
                  <c:v>Judith</c:v>
                </c:pt>
              </c:strCache>
            </c:strRef>
          </c:cat>
          <c:val>
            <c:numRef>
              <c:f>Hoja1!$B$2:$B$18</c:f>
              <c:numCache>
                <c:formatCode>General</c:formatCode>
                <c:ptCount val="17"/>
                <c:pt idx="0">
                  <c:v>11</c:v>
                </c:pt>
                <c:pt idx="1">
                  <c:v>11</c:v>
                </c:pt>
                <c:pt idx="2">
                  <c:v>9</c:v>
                </c:pt>
                <c:pt idx="3">
                  <c:v>8</c:v>
                </c:pt>
                <c:pt idx="4">
                  <c:v>7</c:v>
                </c:pt>
                <c:pt idx="5">
                  <c:v>7</c:v>
                </c:pt>
                <c:pt idx="6">
                  <c:v>6</c:v>
                </c:pt>
                <c:pt idx="7">
                  <c:v>6</c:v>
                </c:pt>
                <c:pt idx="8">
                  <c:v>5</c:v>
                </c:pt>
                <c:pt idx="9">
                  <c:v>4</c:v>
                </c:pt>
                <c:pt idx="10">
                  <c:v>3</c:v>
                </c:pt>
                <c:pt idx="11">
                  <c:v>3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76-4B4E-B07B-1AF797BB517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739737615"/>
        <c:axId val="1739737135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Hoja1!$C$1</c15:sqref>
                        </c15:formulaRef>
                      </c:ext>
                    </c:extLst>
                    <c:strCache>
                      <c:ptCount val="1"/>
                      <c:pt idx="0">
                        <c:v>%</c:v>
                      </c:pt>
                    </c:strCache>
                  </c:strRef>
                </c:tx>
                <c:spPr>
                  <a:solidFill>
                    <a:schemeClr val="accent6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tx>
                      <c:rich>
                        <a:bodyPr/>
                        <a:lstStyle/>
                        <a:p>
                          <a:r>
                            <a:rPr lang="en-US" dirty="0"/>
                            <a:t>12%</a:t>
                          </a:r>
                        </a:p>
                      </c:rich>
                    </c:tx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>
                        <c15:showDataLabelsRange val="0"/>
                      </c:ext>
                      <c:ext xmlns:c16="http://schemas.microsoft.com/office/drawing/2014/chart" uri="{C3380CC4-5D6E-409C-BE32-E72D297353CC}">
                        <c16:uniqueId val="{00000006-F676-4B4E-B07B-1AF797BB5179}"/>
                      </c:ext>
                    </c:extLst>
                  </c:dLbl>
                  <c:dLbl>
                    <c:idx val="1"/>
                    <c:tx>
                      <c:rich>
                        <a:bodyPr/>
                        <a:lstStyle/>
                        <a:p>
                          <a:r>
                            <a:rPr lang="en-US" dirty="0"/>
                            <a:t>12%</a:t>
                          </a:r>
                        </a:p>
                      </c:rich>
                    </c:tx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>
                        <c15:showDataLabelsRange val="0"/>
                      </c:ext>
                      <c:ext xmlns:c16="http://schemas.microsoft.com/office/drawing/2014/chart" uri="{C3380CC4-5D6E-409C-BE32-E72D297353CC}">
                        <c16:uniqueId val="{00000007-F676-4B4E-B07B-1AF797BB5179}"/>
                      </c:ext>
                    </c:extLst>
                  </c:dLbl>
                  <c:dLbl>
                    <c:idx val="2"/>
                    <c:tx>
                      <c:rich>
                        <a:bodyPr/>
                        <a:lstStyle/>
                        <a:p>
                          <a:r>
                            <a:rPr lang="en-US" dirty="0"/>
                            <a:t>12%</a:t>
                          </a:r>
                        </a:p>
                      </c:rich>
                    </c:tx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>
                        <c15:showDataLabelsRange val="0"/>
                      </c:ext>
                      <c:ext xmlns:c16="http://schemas.microsoft.com/office/drawing/2014/chart" uri="{C3380CC4-5D6E-409C-BE32-E72D297353CC}">
                        <c16:uniqueId val="{00000008-F676-4B4E-B07B-1AF797BB5179}"/>
                      </c:ext>
                    </c:extLst>
                  </c:dLbl>
                  <c:dLbl>
                    <c:idx val="3"/>
                    <c:tx>
                      <c:rich>
                        <a:bodyPr/>
                        <a:lstStyle/>
                        <a:p>
                          <a:r>
                            <a:rPr lang="en-US" dirty="0"/>
                            <a:t>8.0%</a:t>
                          </a:r>
                        </a:p>
                      </c:rich>
                    </c:tx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>
                        <c15:showDataLabelsRange val="0"/>
                      </c:ext>
                      <c:ext xmlns:c16="http://schemas.microsoft.com/office/drawing/2014/chart" uri="{C3380CC4-5D6E-409C-BE32-E72D297353CC}">
                        <c16:uniqueId val="{00000009-F676-4B4E-B07B-1AF797BB5179}"/>
                      </c:ext>
                    </c:extLst>
                  </c:dLbl>
                  <c:dLbl>
                    <c:idx val="4"/>
                    <c:tx>
                      <c:rich>
                        <a:bodyPr/>
                        <a:lstStyle/>
                        <a:p>
                          <a:r>
                            <a:rPr lang="en-US" dirty="0"/>
                            <a:t>9.3%</a:t>
                          </a:r>
                        </a:p>
                      </c:rich>
                    </c:tx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>
                        <c15:showDataLabelsRange val="0"/>
                      </c:ext>
                      <c:ext xmlns:c16="http://schemas.microsoft.com/office/drawing/2014/chart" uri="{C3380CC4-5D6E-409C-BE32-E72D297353CC}">
                        <c16:uniqueId val="{0000000A-F676-4B4E-B07B-1AF797BB5179}"/>
                      </c:ext>
                    </c:extLst>
                  </c:dLbl>
                  <c:dLbl>
                    <c:idx val="5"/>
                    <c:tx>
                      <c:rich>
                        <a:bodyPr/>
                        <a:lstStyle/>
                        <a:p>
                          <a:r>
                            <a:rPr lang="en-US" dirty="0"/>
                            <a:t>6.7%</a:t>
                          </a:r>
                        </a:p>
                      </c:rich>
                    </c:tx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>
                        <c15:showDataLabelsRange val="0"/>
                      </c:ext>
                      <c:ext xmlns:c16="http://schemas.microsoft.com/office/drawing/2014/chart" uri="{C3380CC4-5D6E-409C-BE32-E72D297353CC}">
                        <c16:uniqueId val="{0000000B-F676-4B4E-B07B-1AF797BB5179}"/>
                      </c:ext>
                    </c:extLst>
                  </c:dLbl>
                  <c:dLbl>
                    <c:idx val="6"/>
                    <c:tx>
                      <c:rich>
                        <a:bodyPr/>
                        <a:lstStyle/>
                        <a:p>
                          <a:r>
                            <a:rPr lang="en-US" dirty="0"/>
                            <a:t>8.0%</a:t>
                          </a:r>
                        </a:p>
                      </c:rich>
                    </c:tx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>
                        <c15:showDataLabelsRange val="0"/>
                      </c:ext>
                      <c:ext xmlns:c16="http://schemas.microsoft.com/office/drawing/2014/chart" uri="{C3380CC4-5D6E-409C-BE32-E72D297353CC}">
                        <c16:uniqueId val="{0000000C-F676-4B4E-B07B-1AF797BB5179}"/>
                      </c:ext>
                    </c:extLst>
                  </c:dLbl>
                  <c:dLbl>
                    <c:idx val="7"/>
                    <c:tx>
                      <c:rich>
                        <a:bodyPr/>
                        <a:lstStyle/>
                        <a:p>
                          <a:r>
                            <a:rPr lang="en-US" dirty="0"/>
                            <a:t>8.0%</a:t>
                          </a:r>
                        </a:p>
                      </c:rich>
                    </c:tx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>
                        <c15:showDataLabelsRange val="0"/>
                      </c:ext>
                      <c:ext xmlns:c16="http://schemas.microsoft.com/office/drawing/2014/chart" uri="{C3380CC4-5D6E-409C-BE32-E72D297353CC}">
                        <c16:uniqueId val="{0000000D-F676-4B4E-B07B-1AF797BB5179}"/>
                      </c:ext>
                    </c:extLst>
                  </c:dLbl>
                  <c:dLbl>
                    <c:idx val="8"/>
                    <c:tx>
                      <c:rich>
                        <a:bodyPr/>
                        <a:lstStyle/>
                        <a:p>
                          <a:r>
                            <a:rPr lang="en-US" dirty="0"/>
                            <a:t>4%</a:t>
                          </a:r>
                        </a:p>
                      </c:rich>
                    </c:tx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>
                        <c15:showDataLabelsRange val="0"/>
                      </c:ext>
                      <c:ext xmlns:c16="http://schemas.microsoft.com/office/drawing/2014/chart" uri="{C3380CC4-5D6E-409C-BE32-E72D297353CC}">
                        <c16:uniqueId val="{0000000E-F676-4B4E-B07B-1AF797BB5179}"/>
                      </c:ext>
                    </c:extLst>
                  </c:dLbl>
                  <c:dLbl>
                    <c:idx val="9"/>
                    <c:tx>
                      <c:rich>
                        <a:bodyPr/>
                        <a:lstStyle/>
                        <a:p>
                          <a:r>
                            <a:rPr lang="en-US" dirty="0"/>
                            <a:t>5.3%</a:t>
                          </a:r>
                        </a:p>
                      </c:rich>
                    </c:tx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>
                        <c15:showDataLabelsRange val="0"/>
                      </c:ext>
                      <c:ext xmlns:c16="http://schemas.microsoft.com/office/drawing/2014/chart" uri="{C3380CC4-5D6E-409C-BE32-E72D297353CC}">
                        <c16:uniqueId val="{0000000F-F676-4B4E-B07B-1AF797BB5179}"/>
                      </c:ext>
                    </c:extLst>
                  </c:dLbl>
                  <c:dLbl>
                    <c:idx val="10"/>
                    <c:tx>
                      <c:rich>
                        <a:bodyPr/>
                        <a:lstStyle/>
                        <a:p>
                          <a:r>
                            <a:rPr lang="en-US" dirty="0"/>
                            <a:t>4%</a:t>
                          </a:r>
                        </a:p>
                      </c:rich>
                    </c:tx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>
                        <c15:showDataLabelsRange val="0"/>
                      </c:ext>
                      <c:ext xmlns:c16="http://schemas.microsoft.com/office/drawing/2014/chart" uri="{C3380CC4-5D6E-409C-BE32-E72D297353CC}">
                        <c16:uniqueId val="{00000010-F676-4B4E-B07B-1AF797BB5179}"/>
                      </c:ext>
                    </c:extLst>
                  </c:dLbl>
                  <c:dLbl>
                    <c:idx val="11"/>
                    <c:tx>
                      <c:rich>
                        <a:bodyPr/>
                        <a:lstStyle/>
                        <a:p>
                          <a:r>
                            <a:rPr lang="en-US" dirty="0"/>
                            <a:t>2.7%</a:t>
                          </a:r>
                        </a:p>
                      </c:rich>
                    </c:tx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>
                        <c15:showDataLabelsRange val="0"/>
                      </c:ext>
                      <c:ext xmlns:c16="http://schemas.microsoft.com/office/drawing/2014/chart" uri="{C3380CC4-5D6E-409C-BE32-E72D297353CC}">
                        <c16:uniqueId val="{00000011-F676-4B4E-B07B-1AF797BB5179}"/>
                      </c:ext>
                    </c:extLst>
                  </c:dLbl>
                  <c:dLbl>
                    <c:idx val="12"/>
                    <c:tx>
                      <c:rich>
                        <a:bodyPr/>
                        <a:lstStyle/>
                        <a:p>
                          <a:r>
                            <a:rPr lang="en-US" dirty="0"/>
                            <a:t>1.3%</a:t>
                          </a:r>
                        </a:p>
                      </c:rich>
                    </c:tx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>
                        <c15:showDataLabelsRange val="0"/>
                      </c:ext>
                      <c:ext xmlns:c16="http://schemas.microsoft.com/office/drawing/2014/chart" uri="{C3380CC4-5D6E-409C-BE32-E72D297353CC}">
                        <c16:uniqueId val="{00000012-F676-4B4E-B07B-1AF797BB5179}"/>
                      </c:ext>
                    </c:extLst>
                  </c:dLbl>
                  <c:dLbl>
                    <c:idx val="13"/>
                    <c:tx>
                      <c:rich>
                        <a:bodyPr/>
                        <a:lstStyle/>
                        <a:p>
                          <a:r>
                            <a:rPr lang="en-US" dirty="0"/>
                            <a:t>1.3%</a:t>
                          </a:r>
                        </a:p>
                      </c:rich>
                    </c:tx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>
                        <c15:showDataLabelsRange val="0"/>
                      </c:ext>
                      <c:ext xmlns:c16="http://schemas.microsoft.com/office/drawing/2014/chart" uri="{C3380CC4-5D6E-409C-BE32-E72D297353CC}">
                        <c16:uniqueId val="{00000013-F676-4B4E-B07B-1AF797BB5179}"/>
                      </c:ext>
                    </c:extLst>
                  </c:dLbl>
                  <c:dLbl>
                    <c:idx val="14"/>
                    <c:tx>
                      <c:rich>
                        <a:bodyPr/>
                        <a:lstStyle/>
                        <a:p>
                          <a:r>
                            <a:rPr lang="en-US" dirty="0"/>
                            <a:t>1.3%</a:t>
                          </a:r>
                        </a:p>
                      </c:rich>
                    </c:tx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>
                        <c15:showDataLabelsRange val="0"/>
                      </c:ext>
                      <c:ext xmlns:c16="http://schemas.microsoft.com/office/drawing/2014/chart" uri="{C3380CC4-5D6E-409C-BE32-E72D297353CC}">
                        <c16:uniqueId val="{00000014-F676-4B4E-B07B-1AF797BB5179}"/>
                      </c:ext>
                    </c:extLst>
                  </c:dLbl>
                  <c:dLbl>
                    <c:idx val="15"/>
                    <c:tx>
                      <c:rich>
                        <a:bodyPr/>
                        <a:lstStyle/>
                        <a:p>
                          <a:r>
                            <a:rPr lang="en-US" dirty="0"/>
                            <a:t>1.3%</a:t>
                          </a:r>
                        </a:p>
                      </c:rich>
                    </c:tx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>
                        <c15:showDataLabelsRange val="0"/>
                      </c:ext>
                      <c:ext xmlns:c16="http://schemas.microsoft.com/office/drawing/2014/chart" uri="{C3380CC4-5D6E-409C-BE32-E72D297353CC}">
                        <c16:uniqueId val="{00000015-F676-4B4E-B07B-1AF797BB5179}"/>
                      </c:ext>
                    </c:extLst>
                  </c:dLbl>
                  <c:dLbl>
                    <c:idx val="16"/>
                    <c:tx>
                      <c:rich>
                        <a:bodyPr/>
                        <a:lstStyle/>
                        <a:p>
                          <a:r>
                            <a:rPr lang="en-US" dirty="0"/>
                            <a:t>1.3%</a:t>
                          </a:r>
                        </a:p>
                      </c:rich>
                    </c:tx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>
                        <c15:showDataLabelsRange val="0"/>
                      </c:ext>
                      <c:ext xmlns:c16="http://schemas.microsoft.com/office/drawing/2014/chart" uri="{C3380CC4-5D6E-409C-BE32-E72D297353CC}">
                        <c16:uniqueId val="{00000016-F676-4B4E-B07B-1AF797BB5179}"/>
                      </c:ext>
                    </c:extLst>
                  </c:dLbl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s-MX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Hoja1!$A$2:$A$18</c15:sqref>
                        </c15:formulaRef>
                      </c:ext>
                    </c:extLst>
                    <c:strCache>
                      <c:ptCount val="17"/>
                      <c:pt idx="0">
                        <c:v>Francia</c:v>
                      </c:pt>
                      <c:pt idx="1">
                        <c:v>Karym</c:v>
                      </c:pt>
                      <c:pt idx="2">
                        <c:v>Ramón</c:v>
                      </c:pt>
                      <c:pt idx="3">
                        <c:v>Pavel</c:v>
                      </c:pt>
                      <c:pt idx="4">
                        <c:v>Seferino</c:v>
                      </c:pt>
                      <c:pt idx="5">
                        <c:v>Harvey</c:v>
                      </c:pt>
                      <c:pt idx="6">
                        <c:v>Juan</c:v>
                      </c:pt>
                      <c:pt idx="7">
                        <c:v>Xavier</c:v>
                      </c:pt>
                      <c:pt idx="8">
                        <c:v>Iván</c:v>
                      </c:pt>
                      <c:pt idx="9">
                        <c:v>Miguel</c:v>
                      </c:pt>
                      <c:pt idx="10">
                        <c:v>Ian</c:v>
                      </c:pt>
                      <c:pt idx="11">
                        <c:v>Arturo</c:v>
                      </c:pt>
                      <c:pt idx="12">
                        <c:v>Itzel</c:v>
                      </c:pt>
                      <c:pt idx="13">
                        <c:v>Anahí</c:v>
                      </c:pt>
                      <c:pt idx="14">
                        <c:v>Thelma</c:v>
                      </c:pt>
                      <c:pt idx="15">
                        <c:v>Fidencio</c:v>
                      </c:pt>
                      <c:pt idx="16">
                        <c:v>Judith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Hoja1!$C$2:$C$18</c15:sqref>
                        </c15:formulaRef>
                      </c:ext>
                    </c:extLst>
                    <c:numCache>
                      <c:formatCode>0.0</c:formatCode>
                      <c:ptCount val="17"/>
                      <c:pt idx="0">
                        <c:v>13.75</c:v>
                      </c:pt>
                      <c:pt idx="1">
                        <c:v>13.75</c:v>
                      </c:pt>
                      <c:pt idx="2">
                        <c:v>11.25</c:v>
                      </c:pt>
                      <c:pt idx="3">
                        <c:v>10</c:v>
                      </c:pt>
                      <c:pt idx="4">
                        <c:v>8.75</c:v>
                      </c:pt>
                      <c:pt idx="5">
                        <c:v>8.75</c:v>
                      </c:pt>
                      <c:pt idx="6">
                        <c:v>7.5</c:v>
                      </c:pt>
                      <c:pt idx="7">
                        <c:v>7.5</c:v>
                      </c:pt>
                      <c:pt idx="8">
                        <c:v>6.25</c:v>
                      </c:pt>
                      <c:pt idx="9">
                        <c:v>5</c:v>
                      </c:pt>
                      <c:pt idx="10">
                        <c:v>3.75</c:v>
                      </c:pt>
                      <c:pt idx="11">
                        <c:v>3.75</c:v>
                      </c:pt>
                      <c:pt idx="12">
                        <c:v>1.25</c:v>
                      </c:pt>
                      <c:pt idx="13">
                        <c:v>1.25</c:v>
                      </c:pt>
                      <c:pt idx="14">
                        <c:v>1.25</c:v>
                      </c:pt>
                      <c:pt idx="15">
                        <c:v>1.25</c:v>
                      </c:pt>
                      <c:pt idx="16">
                        <c:v>1.25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F676-4B4E-B07B-1AF797BB5179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Hoja1!$D$1</c15:sqref>
                        </c15:formulaRef>
                      </c:ext>
                    </c:extLst>
                    <c:strCache>
                      <c:ptCount val="1"/>
                      <c:pt idx="0">
                        <c:v>Total de participaciones </c:v>
                      </c:pt>
                    </c:strCache>
                  </c:strRef>
                </c:tx>
                <c:spPr>
                  <a:solidFill>
                    <a:schemeClr val="accent6">
                      <a:tint val="65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s-MX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Hoja1!$A$2:$A$18</c15:sqref>
                        </c15:formulaRef>
                      </c:ext>
                    </c:extLst>
                    <c:strCache>
                      <c:ptCount val="17"/>
                      <c:pt idx="0">
                        <c:v>Francia</c:v>
                      </c:pt>
                      <c:pt idx="1">
                        <c:v>Karym</c:v>
                      </c:pt>
                      <c:pt idx="2">
                        <c:v>Ramón</c:v>
                      </c:pt>
                      <c:pt idx="3">
                        <c:v>Pavel</c:v>
                      </c:pt>
                      <c:pt idx="4">
                        <c:v>Seferino</c:v>
                      </c:pt>
                      <c:pt idx="5">
                        <c:v>Harvey</c:v>
                      </c:pt>
                      <c:pt idx="6">
                        <c:v>Juan</c:v>
                      </c:pt>
                      <c:pt idx="7">
                        <c:v>Xavier</c:v>
                      </c:pt>
                      <c:pt idx="8">
                        <c:v>Iván</c:v>
                      </c:pt>
                      <c:pt idx="9">
                        <c:v>Miguel</c:v>
                      </c:pt>
                      <c:pt idx="10">
                        <c:v>Ian</c:v>
                      </c:pt>
                      <c:pt idx="11">
                        <c:v>Arturo</c:v>
                      </c:pt>
                      <c:pt idx="12">
                        <c:v>Itzel</c:v>
                      </c:pt>
                      <c:pt idx="13">
                        <c:v>Anahí</c:v>
                      </c:pt>
                      <c:pt idx="14">
                        <c:v>Thelma</c:v>
                      </c:pt>
                      <c:pt idx="15">
                        <c:v>Fidencio</c:v>
                      </c:pt>
                      <c:pt idx="16">
                        <c:v>Judith</c:v>
                      </c:pt>
                    </c:strCache>
                  </c:strRef>
                </c:cat>
                <c:val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Hoja1!$D$2:$D$18</c15:sqref>
                        </c15:formulaRef>
                      </c:ext>
                    </c:extLst>
                    <c:numCache>
                      <c:formatCode>General</c:formatCode>
                      <c:ptCount val="17"/>
                      <c:pt idx="0">
                        <c:v>80</c:v>
                      </c:pt>
                      <c:pt idx="1">
                        <c:v>80</c:v>
                      </c:pt>
                      <c:pt idx="2">
                        <c:v>80</c:v>
                      </c:pt>
                      <c:pt idx="3">
                        <c:v>80</c:v>
                      </c:pt>
                      <c:pt idx="4">
                        <c:v>80</c:v>
                      </c:pt>
                      <c:pt idx="5">
                        <c:v>80</c:v>
                      </c:pt>
                      <c:pt idx="6">
                        <c:v>80</c:v>
                      </c:pt>
                      <c:pt idx="7">
                        <c:v>80</c:v>
                      </c:pt>
                      <c:pt idx="8">
                        <c:v>80</c:v>
                      </c:pt>
                      <c:pt idx="9">
                        <c:v>80</c:v>
                      </c:pt>
                      <c:pt idx="10">
                        <c:v>80</c:v>
                      </c:pt>
                      <c:pt idx="11">
                        <c:v>80</c:v>
                      </c:pt>
                      <c:pt idx="12">
                        <c:v>80</c:v>
                      </c:pt>
                      <c:pt idx="13">
                        <c:v>80</c:v>
                      </c:pt>
                      <c:pt idx="14">
                        <c:v>80</c:v>
                      </c:pt>
                      <c:pt idx="15">
                        <c:v>80</c:v>
                      </c:pt>
                      <c:pt idx="16">
                        <c:v>80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F676-4B4E-B07B-1AF797BB5179}"/>
                  </c:ext>
                </c:extLst>
              </c15:ser>
            </c15:filteredBarSeries>
          </c:ext>
        </c:extLst>
      </c:barChart>
      <c:catAx>
        <c:axId val="173973761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MX" b="1" dirty="0">
                    <a:solidFill>
                      <a:schemeClr val="tx1">
                        <a:lumMod val="50000"/>
                      </a:schemeClr>
                    </a:solidFill>
                  </a:rPr>
                  <a:t>EQUIPO HTL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MX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739737135"/>
        <c:crosses val="autoZero"/>
        <c:auto val="1"/>
        <c:lblAlgn val="ctr"/>
        <c:lblOffset val="100"/>
        <c:noMultiLvlLbl val="0"/>
      </c:catAx>
      <c:valAx>
        <c:axId val="173973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MX" b="1" dirty="0">
                    <a:solidFill>
                      <a:schemeClr val="tx1">
                        <a:lumMod val="50000"/>
                      </a:schemeClr>
                    </a:solidFill>
                  </a:rPr>
                  <a:t>PARTICIPACIÓN</a:t>
                </a:r>
                <a:r>
                  <a:rPr lang="es-MX" b="1" baseline="0" dirty="0">
                    <a:solidFill>
                      <a:schemeClr val="tx1">
                        <a:lumMod val="50000"/>
                      </a:schemeClr>
                    </a:solidFill>
                  </a:rPr>
                  <a:t> EN ACTIVIDADES (RACI)</a:t>
                </a:r>
                <a:endParaRPr lang="es-MX" b="1" dirty="0">
                  <a:solidFill>
                    <a:schemeClr val="tx1">
                      <a:lumMod val="50000"/>
                    </a:scheme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MX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7397376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E8BEDA40-91A9-49DC-B402-0EBE674AAE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8CBB508-5589-42E7-A433-D119AC0FFB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A2A426B-9440-44A8-9F99-3F0FF2DF39DF}" type="datetime1">
              <a:rPr lang="es-MX" smtClean="0"/>
              <a:t>23/01/2026</a:t>
            </a:fld>
            <a:endParaRPr lang="es-MX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9232ABA-B33A-4B3B-8412-C1773FBF3D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 dirty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BAB1832E-3B48-42CB-80A7-CD8E48D52D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F1072A3-100F-40A9-915F-8D2D9E6962D8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135371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CF690D-F816-4861-BF06-E5E9783C00DD}" type="datetime1">
              <a:rPr lang="es-MX" smtClean="0"/>
              <a:pPr/>
              <a:t>23/01/2026</a:t>
            </a:fld>
            <a:endParaRPr lang="es-MX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MX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MX" noProof="0" dirty="0"/>
              <a:t>Editar estilos de texto del patrón</a:t>
            </a:r>
          </a:p>
          <a:p>
            <a:pPr lvl="1" rtl="0"/>
            <a:r>
              <a:rPr lang="es-MX" noProof="0" dirty="0"/>
              <a:t>Segundo nivel</a:t>
            </a:r>
          </a:p>
          <a:p>
            <a:pPr lvl="2" rtl="0"/>
            <a:r>
              <a:rPr lang="es-MX" noProof="0" dirty="0"/>
              <a:t>Tercer nivel</a:t>
            </a:r>
          </a:p>
          <a:p>
            <a:pPr lvl="3" rtl="0"/>
            <a:r>
              <a:rPr lang="es-MX" noProof="0" dirty="0"/>
              <a:t>Cuarto nivel</a:t>
            </a:r>
          </a:p>
          <a:p>
            <a:pPr lvl="4" rtl="0"/>
            <a:r>
              <a:rPr lang="es-MX" noProof="0" dirty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9230CFA-805A-4FD3-B3A0-DAAA5993DA17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7989277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05458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39394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2508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75585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812078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084589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365944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243745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038831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10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96096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9B75D-1517-3758-A1F8-82FDE0AE0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8FAE3AB1-465B-942C-E383-42FC70D84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4DDAC434-0150-3AC8-5698-0EB6FAB19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F60B49E2-9BB7-B075-C98A-2FAD069737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11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948278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12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511385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13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045037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14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775298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15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332677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16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004951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17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391496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18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591113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19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396614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20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070998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21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906802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22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048268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23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327694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24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37567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25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156587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26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282056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27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534545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28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300078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29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735141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30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8802702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31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811109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32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9007337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33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4531681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34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1664007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35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8122511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8E41C-521D-C2DD-D110-08CE90CFB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EB0C7248-E561-3AF7-5FCF-83EB05057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9EDE5A8A-1109-C3FB-78BF-2656D5CCDE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BE6E7E21-E0CF-5584-2649-C1776D99D8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36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1646341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9DF2A-B0C6-261E-C4EC-AFA04C344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9D9CD2E5-D827-6BFB-A008-D0B923847F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0D1A7855-C089-FE9E-9BA1-2CAFB1D50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1DF045E5-68DF-97A3-516F-6A8BA48BFD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37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4151954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FDA58-85C6-643C-CE97-2DB14AA99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A8AA29DA-B288-6B43-1AF8-834753D259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0A549EB2-7B5C-7A3A-FBBB-46B36AD9D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15D224F7-C04F-B337-2B1F-458A98874E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38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356989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6030D-720A-A5DD-F17B-BE7A19165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344665C3-C228-705D-3D5B-5E9FBC98F6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F59D51CC-6E83-B2F7-59E7-5ABB73CA3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EDDCEF2B-F2BE-71C4-0371-E4CC8B637F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39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8178360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D40A1-A31E-3FB9-9C98-F396E6637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640A2609-3F4D-A507-6C62-5F9BD25A6D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3A2B2113-CE4A-F7F6-AEB7-4F36F315B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B5643ACB-E069-61A7-3DB2-5820100F95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40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9844162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2871F-B260-7E0A-04F4-CC4145088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03420A0E-F3C7-9CB1-4882-36B94D2BA6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AF5EAA9C-B42B-4336-E377-5236E8ACE8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F58AE2BF-D572-3919-4285-89745267CE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41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4242082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14B6D-6127-51B7-DD69-0623F90DE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2877044B-D121-BDE9-9930-24D7AC8AC8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779F14F3-95B4-369D-D884-6D2B0AEC4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29501E8E-2C04-73E4-4A70-A9876A8945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42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5270301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076FD-CB37-7400-9FA8-51DB6F8B9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9B8798C7-AA3B-D3F2-1D4E-652C419F5C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27CF281D-9C35-C6D5-799C-70E3A1619C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6EC8409C-267C-284F-90A9-B4EFF56DC7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43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0553604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59DA3-8CA4-044B-2D81-ED86C5E56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3FE81C9F-8ACD-E807-77EB-0A9817C5D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B80DAFB0-A6E0-11A2-F6C5-1392C2F6D3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19F22931-B821-59C1-6345-2E6C7B7EA5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44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450657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F336B-F5FE-F5EC-26EE-681623A06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0571577C-5BB9-9C1E-915C-3E5397E9AC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A6FE9C12-8855-6AB8-1DCF-E457842A81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D3A13E94-EC28-9EB7-434C-56551AAE2C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45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2242966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02C7E-92C2-04E3-4584-75DB6B179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7842480D-BFC8-1A34-6846-6D75E48C1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BCF35191-9240-E964-F18E-1D9E4E4A1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04F625CE-8B5D-FDDA-4FA9-D6BE1DC4C1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46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3867628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9DA86-9720-C2D8-412A-E91A991CE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8206C1F9-995F-1C18-6D73-811693DA23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BFE839CB-044A-5156-6AA1-67CC0E3347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DECBABB1-4B90-16D1-D13C-C6F8704A75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47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7569680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1981D-9DAC-AE36-E751-F3C7F33A7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7E1898F7-C6B6-C7EA-559D-1B52470D07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8ECF5A9A-C2CF-9860-6391-BB30E948C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FA3DA30F-B9AC-AE52-CFCC-71D4609B41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48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2525465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56E2A-E15C-89FA-86A4-E31C59811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>
            <a:extLst>
              <a:ext uri="{FF2B5EF4-FFF2-40B4-BE49-F238E27FC236}">
                <a16:creationId xmlns:a16="http://schemas.microsoft.com/office/drawing/2014/main" id="{F27332EA-8554-FA90-E876-668CFE9FE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notas 2">
            <a:extLst>
              <a:ext uri="{FF2B5EF4-FFF2-40B4-BE49-F238E27FC236}">
                <a16:creationId xmlns:a16="http://schemas.microsoft.com/office/drawing/2014/main" id="{11672793-AAFE-753C-1098-DEFB6F34B8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MX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1B01A070-593A-4171-ECE0-60D8E43E0E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79230CFA-805A-4FD3-B3A0-DAAA5993DA17}" type="slidenum">
              <a:rPr lang="es-MX" smtClean="0"/>
              <a:t>49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15925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ángulo rectángulo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 dirty="0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arcador de posición de imagen 24">
            <a:extLst>
              <a:ext uri="{FF2B5EF4-FFF2-40B4-BE49-F238E27FC236}">
                <a16:creationId xmlns:a16="http://schemas.microsoft.com/office/drawing/2014/main" id="{73B47EE6-EDE6-4881-B456-B37D9C1ADE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MX" noProof="0"/>
              <a:t>Haz clic en el icono para agregar una imagen</a:t>
            </a:r>
            <a:endParaRPr lang="es-MX" noProof="0" dirty="0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 title="Título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s-MX" noProof="0" dirty="0"/>
              <a:t>Haz clic para modificar el estilo de título del patrón</a:t>
            </a:r>
          </a:p>
        </p:txBody>
      </p:sp>
      <p:sp>
        <p:nvSpPr>
          <p:cNvPr id="3" name="Subtítulo 2" title="Subtítulo">
            <a:extLst>
              <a:ext uri="{FF2B5EF4-FFF2-40B4-BE49-F238E27FC236}">
                <a16:creationId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2400" b="0" i="0" spc="30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MX" noProof="0" dirty="0"/>
              <a:t>HAZ CLIC PARA MODIFICAR EL SUBTÍTULO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045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537" userDrawn="1">
          <p15:clr>
            <a:srgbClr val="FBAE40"/>
          </p15:clr>
        </p15:guide>
        <p15:guide id="3" pos="138" userDrawn="1">
          <p15:clr>
            <a:srgbClr val="FBAE40"/>
          </p15:clr>
        </p15:guide>
        <p15:guide id="4" orient="horz" pos="4178" userDrawn="1">
          <p15:clr>
            <a:srgbClr val="FBAE40"/>
          </p15:clr>
        </p15:guide>
        <p15:guide id="5" orient="horz" pos="142" userDrawn="1">
          <p15:clr>
            <a:srgbClr val="FBAE40"/>
          </p15:clr>
        </p15:guide>
        <p15:guide id="6" pos="2457" userDrawn="1">
          <p15:clr>
            <a:srgbClr val="FBAE40"/>
          </p15:clr>
        </p15:guide>
        <p15:guide id="7" pos="43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riángulo rectángulo 18">
            <a:extLst>
              <a:ext uri="{FF2B5EF4-FFF2-40B4-BE49-F238E27FC236}">
                <a16:creationId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 dirty="0"/>
          </a:p>
        </p:txBody>
      </p:sp>
      <p:sp>
        <p:nvSpPr>
          <p:cNvPr id="17" name="Paralelogramo 16">
            <a:extLst>
              <a:ext uri="{FF2B5EF4-FFF2-40B4-BE49-F238E27FC236}">
                <a16:creationId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 dirty="0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ítulo 1" title="Título">
            <a:extLst>
              <a:ext uri="{FF2B5EF4-FFF2-40B4-BE49-F238E27FC236}">
                <a16:creationId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es-MX" noProof="0" dirty="0"/>
              <a:t>Haz clic para modificar el estilo de título del patrón</a:t>
            </a:r>
          </a:p>
        </p:txBody>
      </p:sp>
      <p:sp>
        <p:nvSpPr>
          <p:cNvPr id="101" name="Marcador de texto 2" title="Subtítulo">
            <a:extLst>
              <a:ext uri="{FF2B5EF4-FFF2-40B4-BE49-F238E27FC236}">
                <a16:creationId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2000" b="0" i="0" spc="30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MX" noProof="0" dirty="0"/>
              <a:t>EDITAR ESTILOS DE TEXTO DEL PATRÓN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aralelogramo 24">
            <a:extLst>
              <a:ext uri="{FF2B5EF4-FFF2-40B4-BE49-F238E27FC236}">
                <a16:creationId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MX" noProof="0" dirty="0"/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arcador de posición de imagen 26">
            <a:extLst>
              <a:ext uri="{FF2B5EF4-FFF2-40B4-BE49-F238E27FC236}">
                <a16:creationId xmlns:a16="http://schemas.microsoft.com/office/drawing/2014/main" id="{95572AA9-EFAE-4771-B1EE-47E3611737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MX" noProof="0"/>
              <a:t>Haz clic en el icono para agregar una imagen</a:t>
            </a:r>
            <a:endParaRPr lang="es-MX" noProof="0" dirty="0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alelogramo 23">
            <a:extLst>
              <a:ext uri="{FF2B5EF4-FFF2-40B4-BE49-F238E27FC236}">
                <a16:creationId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1123998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143" userDrawn="1">
          <p15:clr>
            <a:srgbClr val="FBAE40"/>
          </p15:clr>
        </p15:guide>
        <p15:guide id="4" orient="horz" pos="4170" userDrawn="1">
          <p15:clr>
            <a:srgbClr val="FBAE40"/>
          </p15:clr>
        </p15:guide>
        <p15:guide id="5" pos="7537" userDrawn="1">
          <p15:clr>
            <a:srgbClr val="FBAE40"/>
          </p15:clr>
        </p15:guide>
        <p15:guide id="6" orient="horz" pos="14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de text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 title="Viñetas">
            <a:extLst>
              <a:ext uri="{FF2B5EF4-FFF2-40B4-BE49-F238E27FC236}">
                <a16:creationId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96915"/>
            <a:ext cx="4942829" cy="2958275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  <a:endParaRPr lang="es-MX" noProof="0" dirty="0"/>
          </a:p>
        </p:txBody>
      </p:sp>
      <p:sp>
        <p:nvSpPr>
          <p:cNvPr id="24" name="Triángulo rectángulo 23">
            <a:extLst>
              <a:ext uri="{FF2B5EF4-FFF2-40B4-BE49-F238E27FC236}">
                <a16:creationId xmlns:a16="http://schemas.microsoft.com/office/drawing/2014/main" id="{BD6ACE60-499D-41AB-89C4-D537D7C3D22A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 dirty="0"/>
          </a:p>
        </p:txBody>
      </p:sp>
      <p:sp>
        <p:nvSpPr>
          <p:cNvPr id="25" name="Paralelogramo 24">
            <a:extLst>
              <a:ext uri="{FF2B5EF4-FFF2-40B4-BE49-F238E27FC236}">
                <a16:creationId xmlns:a16="http://schemas.microsoft.com/office/drawing/2014/main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MX" noProof="0" dirty="0"/>
          </a:p>
        </p:txBody>
      </p: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6375400" y="5047077"/>
            <a:ext cx="1524574" cy="1803400"/>
          </a:xfrm>
          <a:prstGeom prst="line">
            <a:avLst/>
          </a:prstGeom>
          <a:ln>
            <a:solidFill>
              <a:srgbClr val="EAB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texto 4" title="Subtítulo">
            <a:extLst>
              <a:ext uri="{FF2B5EF4-FFF2-40B4-BE49-F238E27FC236}">
                <a16:creationId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563477"/>
            <a:ext cx="7342631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MX" noProof="0" dirty="0"/>
              <a:t>HAZ CLIC PARA EL ESTILO DE SUBTÍTULO</a:t>
            </a:r>
          </a:p>
        </p:txBody>
      </p:sp>
      <p:sp>
        <p:nvSpPr>
          <p:cNvPr id="2" name="Título 1" title="Título ">
            <a:extLst>
              <a:ext uri="{FF2B5EF4-FFF2-40B4-BE49-F238E27FC236}">
                <a16:creationId xmlns:a16="http://schemas.microsoft.com/office/drawing/2014/main" id="{20237B57-91C6-4F8B-8AA0-18FA50B0FD1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31378" y="1308484"/>
            <a:ext cx="7342622" cy="121556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s-MX" noProof="0" dirty="0"/>
              <a:t>Haz clic para modificar </a:t>
            </a:r>
            <a:br>
              <a:rPr lang="es-MX" noProof="0" dirty="0"/>
            </a:br>
            <a:r>
              <a:rPr lang="es-MX" noProof="0" dirty="0"/>
              <a:t>Estilo de título del patrón </a:t>
            </a:r>
          </a:p>
        </p:txBody>
      </p: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FE1FADFB-0A3D-40F7-9B40-368DECD971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000" y="0"/>
            <a:ext cx="5588000" cy="6872249"/>
          </a:xfrm>
          <a:custGeom>
            <a:avLst/>
            <a:gdLst>
              <a:gd name="connsiteX0" fmla="*/ 3876237 w 5588000"/>
              <a:gd name="connsiteY0" fmla="*/ 5431883 h 6872249"/>
              <a:gd name="connsiteX1" fmla="*/ 4953000 w 5588000"/>
              <a:gd name="connsiteY1" fmla="*/ 5431883 h 6872249"/>
              <a:gd name="connsiteX2" fmla="*/ 3769163 w 5588000"/>
              <a:gd name="connsiteY2" fmla="*/ 6872249 h 6872249"/>
              <a:gd name="connsiteX3" fmla="*/ 2692400 w 5588000"/>
              <a:gd name="connsiteY3" fmla="*/ 6872249 h 6872249"/>
              <a:gd name="connsiteX4" fmla="*/ 2479230 w 5588000"/>
              <a:gd name="connsiteY4" fmla="*/ 2870200 h 6872249"/>
              <a:gd name="connsiteX5" fmla="*/ 3175000 w 5588000"/>
              <a:gd name="connsiteY5" fmla="*/ 2870200 h 6872249"/>
              <a:gd name="connsiteX6" fmla="*/ 1965770 w 5588000"/>
              <a:gd name="connsiteY6" fmla="*/ 4310566 h 6872249"/>
              <a:gd name="connsiteX7" fmla="*/ 1270000 w 5588000"/>
              <a:gd name="connsiteY7" fmla="*/ 4310566 h 6872249"/>
              <a:gd name="connsiteX8" fmla="*/ 5575300 w 5588000"/>
              <a:gd name="connsiteY8" fmla="*/ 139700 h 6872249"/>
              <a:gd name="connsiteX9" fmla="*/ 5575300 w 5588000"/>
              <a:gd name="connsiteY9" fmla="*/ 3238583 h 6872249"/>
              <a:gd name="connsiteX10" fmla="*/ 2571663 w 5588000"/>
              <a:gd name="connsiteY10" fmla="*/ 6858000 h 6872249"/>
              <a:gd name="connsiteX11" fmla="*/ 0 w 5588000"/>
              <a:gd name="connsiteY11" fmla="*/ 6858000 h 6872249"/>
              <a:gd name="connsiteX12" fmla="*/ 4256761 w 5588000"/>
              <a:gd name="connsiteY12" fmla="*/ 0 h 6872249"/>
              <a:gd name="connsiteX13" fmla="*/ 5588000 w 5588000"/>
              <a:gd name="connsiteY13" fmla="*/ 0 h 6872249"/>
              <a:gd name="connsiteX14" fmla="*/ 3274339 w 5588000"/>
              <a:gd name="connsiteY14" fmla="*/ 2755900 h 6872249"/>
              <a:gd name="connsiteX15" fmla="*/ 1943100 w 5588000"/>
              <a:gd name="connsiteY15" fmla="*/ 2755900 h 687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88000" h="6872249">
                <a:moveTo>
                  <a:pt x="3876237" y="5431883"/>
                </a:moveTo>
                <a:lnTo>
                  <a:pt x="4953000" y="5431883"/>
                </a:lnTo>
                <a:lnTo>
                  <a:pt x="3769163" y="6872249"/>
                </a:lnTo>
                <a:lnTo>
                  <a:pt x="2692400" y="6872249"/>
                </a:lnTo>
                <a:close/>
                <a:moveTo>
                  <a:pt x="2479230" y="2870200"/>
                </a:moveTo>
                <a:lnTo>
                  <a:pt x="3175000" y="2870200"/>
                </a:lnTo>
                <a:lnTo>
                  <a:pt x="1965770" y="4310566"/>
                </a:lnTo>
                <a:lnTo>
                  <a:pt x="1270000" y="4310566"/>
                </a:lnTo>
                <a:close/>
                <a:moveTo>
                  <a:pt x="5575300" y="139700"/>
                </a:moveTo>
                <a:lnTo>
                  <a:pt x="5575300" y="3238583"/>
                </a:lnTo>
                <a:lnTo>
                  <a:pt x="2571663" y="6858000"/>
                </a:lnTo>
                <a:lnTo>
                  <a:pt x="0" y="6858000"/>
                </a:lnTo>
                <a:close/>
                <a:moveTo>
                  <a:pt x="4256761" y="0"/>
                </a:moveTo>
                <a:lnTo>
                  <a:pt x="5588000" y="0"/>
                </a:lnTo>
                <a:lnTo>
                  <a:pt x="3274339" y="2755900"/>
                </a:lnTo>
                <a:lnTo>
                  <a:pt x="1943100" y="2755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MX" noProof="0"/>
              <a:t>Haz clic en el icono para agregar una imagen</a:t>
            </a:r>
            <a:endParaRPr lang="es-MX" noProof="0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ADB14A5-A767-774C-85B8-68EF914689F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es-MX" noProof="0" dirty="0"/>
              <a:t>Agregar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B9B51B-EAA9-4B4D-A4F6-470CD95DAA7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442230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de texto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riángulo rectángulo 34">
            <a:extLst>
              <a:ext uri="{FF2B5EF4-FFF2-40B4-BE49-F238E27FC236}">
                <a16:creationId xmlns:a16="http://schemas.microsoft.com/office/drawing/2014/main" id="{805F1696-7D6B-4055-94C3-E4C179F63596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 dirty="0"/>
          </a:p>
        </p:txBody>
      </p:sp>
      <p:sp>
        <p:nvSpPr>
          <p:cNvPr id="18" name="Marcador de posición de imagen 17">
            <a:extLst>
              <a:ext uri="{FF2B5EF4-FFF2-40B4-BE49-F238E27FC236}">
                <a16:creationId xmlns:a16="http://schemas.microsoft.com/office/drawing/2014/main" id="{8B9EC3A9-7039-403A-9414-429521308A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0177" y="1435100"/>
            <a:ext cx="6021821" cy="5422900"/>
          </a:xfrm>
          <a:custGeom>
            <a:avLst/>
            <a:gdLst>
              <a:gd name="connsiteX0" fmla="*/ 6021821 w 6021821"/>
              <a:gd name="connsiteY0" fmla="*/ 0 h 5422900"/>
              <a:gd name="connsiteX1" fmla="*/ 6021821 w 6021821"/>
              <a:gd name="connsiteY1" fmla="*/ 5422900 h 5422900"/>
              <a:gd name="connsiteX2" fmla="*/ 0 w 6021821"/>
              <a:gd name="connsiteY2" fmla="*/ 5422900 h 542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21821" h="5422900">
                <a:moveTo>
                  <a:pt x="6021821" y="0"/>
                </a:moveTo>
                <a:lnTo>
                  <a:pt x="6021821" y="5422900"/>
                </a:lnTo>
                <a:lnTo>
                  <a:pt x="0" y="5422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rIns="365760" rtlCol="0" anchor="ctr">
            <a:noAutofit/>
          </a:bodyPr>
          <a:lstStyle>
            <a:lvl1pPr marL="0" indent="0" algn="r">
              <a:buNone/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MX" noProof="0"/>
              <a:t>Haz clic en el icono para agregar una imagen</a:t>
            </a:r>
            <a:endParaRPr lang="es-MX" noProof="0" dirty="0"/>
          </a:p>
        </p:txBody>
      </p:sp>
      <p:sp>
        <p:nvSpPr>
          <p:cNvPr id="3" name="Marcador de contenido 2" title="Viñetas">
            <a:extLst>
              <a:ext uri="{FF2B5EF4-FFF2-40B4-BE49-F238E27FC236}">
                <a16:creationId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96915"/>
            <a:ext cx="4942829" cy="2958275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  <a:endParaRPr lang="es-MX" noProof="0" dirty="0"/>
          </a:p>
        </p:txBody>
      </p:sp>
      <p:sp>
        <p:nvSpPr>
          <p:cNvPr id="25" name="Paralelogramo 24">
            <a:extLst>
              <a:ext uri="{FF2B5EF4-FFF2-40B4-BE49-F238E27FC236}">
                <a16:creationId xmlns:a16="http://schemas.microsoft.com/office/drawing/2014/main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MX" noProof="0" dirty="0"/>
          </a:p>
        </p:txBody>
      </p: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10352314" y="1185452"/>
            <a:ext cx="1839685" cy="163394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texto 4" title="Subtítulo">
            <a:extLst>
              <a:ext uri="{FF2B5EF4-FFF2-40B4-BE49-F238E27FC236}">
                <a16:creationId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563477"/>
            <a:ext cx="7342621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MX" noProof="0" dirty="0"/>
              <a:t>HAZ CLIC PARA EL ESTILO DE SUBTÍTULO</a:t>
            </a:r>
          </a:p>
        </p:txBody>
      </p:sp>
      <p:sp>
        <p:nvSpPr>
          <p:cNvPr id="17" name="Cuadro de texto 16">
            <a:extLst>
              <a:ext uri="{FF2B5EF4-FFF2-40B4-BE49-F238E27FC236}">
                <a16:creationId xmlns:a16="http://schemas.microsoft.com/office/drawing/2014/main" id="{3EB154C1-CE47-4220-9832-4FD0868A64A8}"/>
              </a:ext>
            </a:extLst>
          </p:cNvPr>
          <p:cNvSpPr txBox="1"/>
          <p:nvPr userDrawn="1"/>
        </p:nvSpPr>
        <p:spPr>
          <a:xfrm>
            <a:off x="11073384" y="237744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MX" sz="3400" b="1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19" name="Título 1" title="Título ">
            <a:extLst>
              <a:ext uri="{FF2B5EF4-FFF2-40B4-BE49-F238E27FC236}">
                <a16:creationId xmlns:a16="http://schemas.microsoft.com/office/drawing/2014/main" id="{2DB9D671-9FC8-4306-96B7-D9D585694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378" y="1308484"/>
            <a:ext cx="7342622" cy="121556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s-MX" noProof="0" dirty="0"/>
              <a:t>Haz clic para modificar </a:t>
            </a:r>
            <a:br>
              <a:rPr lang="es-MX" noProof="0" dirty="0"/>
            </a:br>
            <a:r>
              <a:rPr lang="es-MX" noProof="0" dirty="0"/>
              <a:t>Estilo de título del patrón 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6E55A0B9-F639-8643-9C4D-B93B8EE21A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s-MX" noProof="0" dirty="0"/>
              <a:t>Agregar un pie de página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D0C29282-8AC7-494D-9A8E-A26C7F69948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4283110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 con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o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Franja diagonal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MX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elogramo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MX" noProof="0" dirty="0"/>
            </a:p>
          </p:txBody>
        </p:sp>
      </p:grp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B2E19FBD-2379-4B3B-910D-F51E007CB63F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20698" y="2104888"/>
            <a:ext cx="5475290" cy="781188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MX" noProof="0"/>
              <a:t>Haga clic para modificar los estilos de texto del patrón</a:t>
            </a:r>
          </a:p>
        </p:txBody>
      </p:sp>
      <p:sp>
        <p:nvSpPr>
          <p:cNvPr id="18" name="Marcador de contenido 3" title="Viñetas">
            <a:extLst>
              <a:ext uri="{FF2B5EF4-FFF2-40B4-BE49-F238E27FC236}">
                <a16:creationId xmlns:a16="http://schemas.microsoft.com/office/drawing/2014/main" id="{8715E757-6584-4841-8154-C92E70E0CD6B}"/>
              </a:ext>
            </a:extLst>
          </p:cNvPr>
          <p:cNvSpPr>
            <a:spLocks noGrp="1"/>
          </p:cNvSpPr>
          <p:nvPr userDrawn="1">
            <p:ph sz="half" idx="13"/>
          </p:nvPr>
        </p:nvSpPr>
        <p:spPr>
          <a:xfrm>
            <a:off x="520698" y="2886076"/>
            <a:ext cx="5475290" cy="323214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IN" dirty="0">
                <a:solidFill>
                  <a:schemeClr val="tx1"/>
                </a:solidFill>
              </a:defRPr>
            </a:lvl5pPr>
          </a:lstStyle>
          <a:p>
            <a:pPr lvl="0" rtl="0">
              <a:buClr>
                <a:schemeClr val="accent2"/>
              </a:buClr>
            </a:pPr>
            <a:r>
              <a:rPr lang="es-MX" noProof="0"/>
              <a:t>Haga clic para modificar los estilos de texto del patrón</a:t>
            </a:r>
          </a:p>
          <a:p>
            <a:pPr lvl="1" rtl="0">
              <a:buClr>
                <a:schemeClr val="accent2"/>
              </a:buClr>
            </a:pPr>
            <a:r>
              <a:rPr lang="es-MX" noProof="0"/>
              <a:t>Segundo nivel</a:t>
            </a:r>
          </a:p>
          <a:p>
            <a:pPr lvl="2" rtl="0">
              <a:buClr>
                <a:schemeClr val="accent2"/>
              </a:buClr>
            </a:pPr>
            <a:r>
              <a:rPr lang="es-MX" noProof="0"/>
              <a:t>Tercer nivel</a:t>
            </a:r>
          </a:p>
          <a:p>
            <a:pPr lvl="3" rtl="0">
              <a:buClr>
                <a:schemeClr val="accent2"/>
              </a:buClr>
            </a:pPr>
            <a:r>
              <a:rPr lang="es-MX" noProof="0"/>
              <a:t>Cuarto nivel</a:t>
            </a:r>
          </a:p>
          <a:p>
            <a:pPr lvl="4" rtl="0">
              <a:buClr>
                <a:schemeClr val="accent2"/>
              </a:buClr>
            </a:pPr>
            <a:r>
              <a:rPr lang="es-MX" noProof="0"/>
              <a:t>Quinto nivel</a:t>
            </a:r>
            <a:endParaRPr lang="es-MX" noProof="0" dirty="0"/>
          </a:p>
        </p:txBody>
      </p:sp>
      <p:sp>
        <p:nvSpPr>
          <p:cNvPr id="19" name="Marcador de texto 4">
            <a:extLst>
              <a:ext uri="{FF2B5EF4-FFF2-40B4-BE49-F238E27FC236}">
                <a16:creationId xmlns:a16="http://schemas.microsoft.com/office/drawing/2014/main" id="{47CDC5A2-8836-4ED3-8E78-18C24853D882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6186713" y="2104888"/>
            <a:ext cx="5475600" cy="781188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MX" noProof="0"/>
              <a:t>Haga clic para modificar los estilos de texto del patrón</a:t>
            </a:r>
          </a:p>
        </p:txBody>
      </p:sp>
      <p:sp>
        <p:nvSpPr>
          <p:cNvPr id="20" name="Marcador de contenido 5" title="Viñetas">
            <a:extLst>
              <a:ext uri="{FF2B5EF4-FFF2-40B4-BE49-F238E27FC236}">
                <a16:creationId xmlns:a16="http://schemas.microsoft.com/office/drawing/2014/main" id="{D957FBD7-2C3C-4DD1-954F-DF1E007BE590}"/>
              </a:ext>
            </a:extLst>
          </p:cNvPr>
          <p:cNvSpPr>
            <a:spLocks noGrp="1"/>
          </p:cNvSpPr>
          <p:nvPr userDrawn="1">
            <p:ph sz="quarter" idx="15"/>
          </p:nvPr>
        </p:nvSpPr>
        <p:spPr>
          <a:xfrm>
            <a:off x="6186713" y="2886076"/>
            <a:ext cx="5475600" cy="3232149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IN" dirty="0">
                <a:solidFill>
                  <a:schemeClr val="tx1"/>
                </a:solidFill>
              </a:defRPr>
            </a:lvl5pPr>
          </a:lstStyle>
          <a:p>
            <a:pPr lvl="0" rtl="0">
              <a:buClr>
                <a:schemeClr val="accent2"/>
              </a:buClr>
            </a:pPr>
            <a:r>
              <a:rPr lang="es-MX" noProof="0"/>
              <a:t>Haga clic para modificar los estilos de texto del patrón</a:t>
            </a:r>
          </a:p>
          <a:p>
            <a:pPr lvl="1" rtl="0">
              <a:buClr>
                <a:schemeClr val="accent2"/>
              </a:buClr>
            </a:pPr>
            <a:r>
              <a:rPr lang="es-MX" noProof="0"/>
              <a:t>Segundo nivel</a:t>
            </a:r>
          </a:p>
          <a:p>
            <a:pPr lvl="2" rtl="0">
              <a:buClr>
                <a:schemeClr val="accent2"/>
              </a:buClr>
            </a:pPr>
            <a:r>
              <a:rPr lang="es-MX" noProof="0"/>
              <a:t>Tercer nivel</a:t>
            </a:r>
          </a:p>
          <a:p>
            <a:pPr lvl="3" rtl="0">
              <a:buClr>
                <a:schemeClr val="accent2"/>
              </a:buClr>
            </a:pPr>
            <a:r>
              <a:rPr lang="es-MX" noProof="0"/>
              <a:t>Cuarto nivel</a:t>
            </a:r>
          </a:p>
          <a:p>
            <a:pPr lvl="4" rtl="0">
              <a:buClr>
                <a:schemeClr val="accent2"/>
              </a:buClr>
            </a:pPr>
            <a:r>
              <a:rPr lang="es-MX" noProof="0"/>
              <a:t>Quinto nivel</a:t>
            </a:r>
            <a:endParaRPr lang="es-MX" noProof="0" dirty="0"/>
          </a:p>
        </p:txBody>
      </p:sp>
      <p:sp>
        <p:nvSpPr>
          <p:cNvPr id="24" name="Marcador de texto 4" title="Subtítulo">
            <a:extLst>
              <a:ext uri="{FF2B5EF4-FFF2-40B4-BE49-F238E27FC236}">
                <a16:creationId xmlns:a16="http://schemas.microsoft.com/office/drawing/2014/main" id="{77DB65FF-A89E-4562-8251-2BB63EFDD28E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MX" noProof="0" dirty="0"/>
              <a:t>HAZ CLIC PARA EL ESTILO DE SUBTÍTULO</a:t>
            </a:r>
          </a:p>
        </p:txBody>
      </p:sp>
      <p:sp>
        <p:nvSpPr>
          <p:cNvPr id="25" name="Cuadro de texto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MX" sz="3400" b="1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elogramo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MX" noProof="0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r>
              <a:rPr lang="es-MX" noProof="0" dirty="0"/>
              <a:t>Agregar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MX" noProof="0" smtClean="0"/>
              <a:t>‹Nº›</a:t>
            </a:fld>
            <a:endParaRPr lang="es-MX" noProof="0" dirty="0"/>
          </a:p>
        </p:txBody>
      </p:sp>
      <p:sp>
        <p:nvSpPr>
          <p:cNvPr id="27" name="Título 1" title="Título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s-MX" noProof="0" dirty="0"/>
              <a:t>Haz clic para editar el estilo del título del patrón </a:t>
            </a:r>
          </a:p>
        </p:txBody>
      </p:sp>
    </p:spTree>
    <p:extLst>
      <p:ext uri="{BB962C8B-B14F-4D97-AF65-F5344CB8AC3E}">
        <p14:creationId xmlns:p14="http://schemas.microsoft.com/office/powerpoint/2010/main" val="3256540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uadro de texto 15">
            <a:extLst>
              <a:ext uri="{FF2B5EF4-FFF2-40B4-BE49-F238E27FC236}">
                <a16:creationId xmlns:a16="http://schemas.microsoft.com/office/drawing/2014/main" id="{A4F49194-9068-41AA-B460-962319BF96A4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MX" sz="3400" b="1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5806E656-313A-47B1-B381-D004200F7A01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9" name="Franja diagonal 28">
              <a:extLst>
                <a:ext uri="{FF2B5EF4-FFF2-40B4-BE49-F238E27FC236}">
                  <a16:creationId xmlns:a16="http://schemas.microsoft.com/office/drawing/2014/main" id="{65F8E2DA-4BB4-4421-9172-A11AF38DFEF4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MX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6EDB47F2-B6A7-40B4-8A2C-06719F75C08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Paralelogramo 30">
              <a:extLst>
                <a:ext uri="{FF2B5EF4-FFF2-40B4-BE49-F238E27FC236}">
                  <a16:creationId xmlns:a16="http://schemas.microsoft.com/office/drawing/2014/main" id="{B188E7A9-2351-4B68-98B8-10099CB39CD2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MX" noProof="0" dirty="0"/>
            </a:p>
          </p:txBody>
        </p:sp>
      </p:grpSp>
      <p:sp>
        <p:nvSpPr>
          <p:cNvPr id="33" name="Paralelogramo 32">
            <a:extLst>
              <a:ext uri="{FF2B5EF4-FFF2-40B4-BE49-F238E27FC236}">
                <a16:creationId xmlns:a16="http://schemas.microsoft.com/office/drawing/2014/main" id="{F088C182-BF10-45B2-B159-7702E00D31D4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MX" noProof="0" dirty="0"/>
          </a:p>
        </p:txBody>
      </p:sp>
      <p:sp>
        <p:nvSpPr>
          <p:cNvPr id="34" name="Marcador de texto 4" title="Subtítulo">
            <a:extLst>
              <a:ext uri="{FF2B5EF4-FFF2-40B4-BE49-F238E27FC236}">
                <a16:creationId xmlns:a16="http://schemas.microsoft.com/office/drawing/2014/main" id="{FB561B16-2788-452A-B7AF-A482256DCD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MX" noProof="0" dirty="0"/>
              <a:t>HAZ CLIC PARA EL ESTILO DE SUBTÍTULO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D6990C03-1647-2044-B335-6F5F19E4E5F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r>
              <a:rPr lang="es-MX" noProof="0" dirty="0"/>
              <a:t>Agregar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F03A7CC-E6DC-1544-BE55-15EC1718B7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MX" noProof="0" smtClean="0"/>
              <a:t>‹Nº›</a:t>
            </a:fld>
            <a:endParaRPr lang="es-MX" noProof="0" dirty="0"/>
          </a:p>
        </p:txBody>
      </p:sp>
      <p:sp>
        <p:nvSpPr>
          <p:cNvPr id="17" name="Título 1" title="Título ">
            <a:extLst>
              <a:ext uri="{FF2B5EF4-FFF2-40B4-BE49-F238E27FC236}">
                <a16:creationId xmlns:a16="http://schemas.microsoft.com/office/drawing/2014/main" id="{BDEC780E-6412-1344-A62E-6B84E9CCB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s-MX" noProof="0" dirty="0"/>
              <a:t>Haz clic para editar el estilo del título del patrón 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C82AC85-33B6-2B49-8BF4-0841444437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1814" y="2005762"/>
            <a:ext cx="5225764" cy="4083888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MX" noProof="0" dirty="0"/>
              <a:t>Texto aquí.</a:t>
            </a:r>
          </a:p>
        </p:txBody>
      </p:sp>
      <p:sp>
        <p:nvSpPr>
          <p:cNvPr id="20" name="Marcador de posición de gráfico 2" title="Gráfico">
            <a:extLst>
              <a:ext uri="{FF2B5EF4-FFF2-40B4-BE49-F238E27FC236}">
                <a16:creationId xmlns:a16="http://schemas.microsoft.com/office/drawing/2014/main" id="{0EF0FD2A-B62A-4931-846D-2602DED26606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796114" y="2005762"/>
            <a:ext cx="5719397" cy="4084470"/>
          </a:xfrm>
          <a:prstGeom prst="rect">
            <a:avLst/>
          </a:prstGeom>
        </p:spPr>
        <p:txBody>
          <a:bodyPr vert="horz" lIns="91420" tIns="45710" rIns="91420" bIns="45710" rtlCol="0">
            <a:no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+mn-lt"/>
                <a:cs typeface="CiscoSans ExtraLight"/>
              </a:defRPr>
            </a:lvl1pPr>
          </a:lstStyle>
          <a:p>
            <a:pPr lvl="0" rtl="0"/>
            <a:r>
              <a:rPr lang="es-MX" noProof="0"/>
              <a:t>Haz clic en el icono para agregar un gráfico</a:t>
            </a:r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2200477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posición de tabla 11" title="Tabla">
            <a:extLst>
              <a:ext uri="{FF2B5EF4-FFF2-40B4-BE49-F238E27FC236}">
                <a16:creationId xmlns:a16="http://schemas.microsoft.com/office/drawing/2014/main" id="{7CD3E31F-0AF8-4EB8-B6FA-BD95A2EDA63B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31378" y="2664803"/>
            <a:ext cx="10993375" cy="3433180"/>
          </a:xfrm>
          <a:prstGeom prst="rect">
            <a:avLst/>
          </a:prstGeom>
        </p:spPr>
        <p:txBody>
          <a:bodyPr lIns="91420" tIns="45710" rIns="91420" bIns="45710" rtlCol="0">
            <a:noAutofit/>
          </a:bodyPr>
          <a:lstStyle>
            <a:lvl1pPr marL="0" indent="0" algn="ctr"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s-MX" noProof="0"/>
              <a:t>Haz clic en el icono para agregar una tabla</a:t>
            </a:r>
            <a:endParaRPr lang="es-MX" noProof="0" dirty="0"/>
          </a:p>
        </p:txBody>
      </p:sp>
      <p:sp>
        <p:nvSpPr>
          <p:cNvPr id="16" name="Cuadro de texto 15">
            <a:extLst>
              <a:ext uri="{FF2B5EF4-FFF2-40B4-BE49-F238E27FC236}">
                <a16:creationId xmlns:a16="http://schemas.microsoft.com/office/drawing/2014/main" id="{B84020D1-D35E-497E-97F1-84A6EA9D048E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MX" sz="3400" b="1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36C8A74F-FDDF-48E8-AC2B-A5BD59D7D6A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Franja diagonal 26">
              <a:extLst>
                <a:ext uri="{FF2B5EF4-FFF2-40B4-BE49-F238E27FC236}">
                  <a16:creationId xmlns:a16="http://schemas.microsoft.com/office/drawing/2014/main" id="{2D5247F3-E6EB-4003-B1FD-F6200F0738E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MX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E9B7D995-9FB8-4461-8AAA-FA8B9A145B6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Paralelogramo 32">
              <a:extLst>
                <a:ext uri="{FF2B5EF4-FFF2-40B4-BE49-F238E27FC236}">
                  <a16:creationId xmlns:a16="http://schemas.microsoft.com/office/drawing/2014/main" id="{849B962F-68BC-4B89-B4D8-D862517534DF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MX" noProof="0" dirty="0"/>
            </a:p>
          </p:txBody>
        </p:sp>
      </p:grpSp>
      <p:sp>
        <p:nvSpPr>
          <p:cNvPr id="36" name="Paralelogramo 35">
            <a:extLst>
              <a:ext uri="{FF2B5EF4-FFF2-40B4-BE49-F238E27FC236}">
                <a16:creationId xmlns:a16="http://schemas.microsoft.com/office/drawing/2014/main" id="{8006416B-866C-47E5-8480-109B40F9EAA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MX" noProof="0" dirty="0"/>
          </a:p>
        </p:txBody>
      </p:sp>
      <p:sp>
        <p:nvSpPr>
          <p:cNvPr id="37" name="Marcador de texto 4" title="Subtítulo">
            <a:extLst>
              <a:ext uri="{FF2B5EF4-FFF2-40B4-BE49-F238E27FC236}">
                <a16:creationId xmlns:a16="http://schemas.microsoft.com/office/drawing/2014/main" id="{FE79FAE9-2A8C-46BA-8738-44CBCF7294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spc="300">
                <a:solidFill>
                  <a:schemeClr val="accent6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s-MX" noProof="0" dirty="0"/>
              <a:t>HAZ CLIC PARA EL ESTILO DE SUBTÍTULO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5750A33E-CEFE-4D43-9554-513B01B1D3D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r>
              <a:rPr lang="es-MX" noProof="0" dirty="0"/>
              <a:t>Agregar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A960C75-8FA7-5740-9388-2B5112B2C5B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MX" noProof="0" smtClean="0"/>
              <a:t>‹Nº›</a:t>
            </a:fld>
            <a:endParaRPr lang="es-MX" noProof="0" dirty="0"/>
          </a:p>
        </p:txBody>
      </p:sp>
      <p:sp>
        <p:nvSpPr>
          <p:cNvPr id="17" name="Título 1" title="Título ">
            <a:extLst>
              <a:ext uri="{FF2B5EF4-FFF2-40B4-BE49-F238E27FC236}">
                <a16:creationId xmlns:a16="http://schemas.microsoft.com/office/drawing/2014/main" id="{0F525D04-A814-7A4D-9732-11097EA762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s-MX" noProof="0" dirty="0"/>
              <a:t>Haz clic para editar el estilo del título del patrón </a:t>
            </a:r>
          </a:p>
        </p:txBody>
      </p:sp>
    </p:spTree>
    <p:extLst>
      <p:ext uri="{BB962C8B-B14F-4D97-AF65-F5344CB8AC3E}">
        <p14:creationId xmlns:p14="http://schemas.microsoft.com/office/powerpoint/2010/main" val="3415060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grafía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ángulo rectángulo 3">
            <a:extLst>
              <a:ext uri="{FF2B5EF4-FFF2-40B4-BE49-F238E27FC236}">
                <a16:creationId xmlns:a16="http://schemas.microsoft.com/office/drawing/2014/main" id="{79ED029D-F488-47E5-B064-0E35B31D23A5}"/>
              </a:ext>
            </a:extLst>
          </p:cNvPr>
          <p:cNvSpPr/>
          <p:nvPr userDrawn="1"/>
        </p:nvSpPr>
        <p:spPr>
          <a:xfrm flipV="1">
            <a:off x="0" y="-5"/>
            <a:ext cx="11747500" cy="6299203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 dirty="0"/>
          </a:p>
        </p:txBody>
      </p:sp>
      <p:sp>
        <p:nvSpPr>
          <p:cNvPr id="5" name="Marcador de posición de imagen 31" title="Imagen">
            <a:extLst>
              <a:ext uri="{FF2B5EF4-FFF2-40B4-BE49-F238E27FC236}">
                <a16:creationId xmlns:a16="http://schemas.microsoft.com/office/drawing/2014/main" id="{D683190A-95C6-428D-AEE4-FC8350C3246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9229" y="326570"/>
            <a:ext cx="11473542" cy="62048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0" rtlCol="0" anchor="ctr"/>
          <a:lstStyle>
            <a:lvl1pPr marL="0" indent="0" algn="ctr"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MX" noProof="0" dirty="0"/>
              <a:t>Inserta o arrastra y coloca la imagen aquí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F78F4957-6DDE-40CE-9D33-00B1434FA08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5344886"/>
            <a:ext cx="2362200" cy="12409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ítulo 1" title="Título ">
            <a:extLst>
              <a:ext uri="{FF2B5EF4-FFF2-40B4-BE49-F238E27FC236}">
                <a16:creationId xmlns:a16="http://schemas.microsoft.com/office/drawing/2014/main" id="{D9A8085F-72C4-4DFB-813E-C5666B0CC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229" y="558802"/>
            <a:ext cx="8333222" cy="939798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lIns="288000" rtlCol="0" anchor="ctr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s-MX" noProof="0" dirty="0"/>
              <a:t>Agregar descripción aquí</a:t>
            </a:r>
          </a:p>
        </p:txBody>
      </p:sp>
    </p:spTree>
    <p:extLst>
      <p:ext uri="{BB962C8B-B14F-4D97-AF65-F5344CB8AC3E}">
        <p14:creationId xmlns:p14="http://schemas.microsoft.com/office/powerpoint/2010/main" val="4237576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3">
            <a:extLst>
              <a:ext uri="{FF2B5EF4-FFF2-40B4-BE49-F238E27FC236}">
                <a16:creationId xmlns:a16="http://schemas.microsoft.com/office/drawing/2014/main" id="{A488AB73-8058-4FB5-9619-FCECCA9F39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2929" y="3461163"/>
            <a:ext cx="3445782" cy="28800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es-MX" noProof="0" dirty="0"/>
              <a:t>Nombre</a:t>
            </a:r>
          </a:p>
        </p:txBody>
      </p:sp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359BE165-3EB5-4C11-8B53-6E98C0BC2E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22929" y="3839451"/>
            <a:ext cx="3445782" cy="28800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es-MX" noProof="0" dirty="0"/>
              <a:t>Número de teléfono</a:t>
            </a:r>
          </a:p>
        </p:txBody>
      </p:sp>
      <p:sp>
        <p:nvSpPr>
          <p:cNvPr id="11" name="Marcador de texto 5">
            <a:extLst>
              <a:ext uri="{FF2B5EF4-FFF2-40B4-BE49-F238E27FC236}">
                <a16:creationId xmlns:a16="http://schemas.microsoft.com/office/drawing/2014/main" id="{79D05293-35AD-495F-A7AE-942398090B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22928" y="4216669"/>
            <a:ext cx="3445783" cy="2890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es-MX" noProof="0" dirty="0"/>
              <a:t>Correo </a:t>
            </a:r>
          </a:p>
        </p:txBody>
      </p:sp>
      <p:sp>
        <p:nvSpPr>
          <p:cNvPr id="13" name="Marcador de texto 21">
            <a:extLst>
              <a:ext uri="{FF2B5EF4-FFF2-40B4-BE49-F238E27FC236}">
                <a16:creationId xmlns:a16="http://schemas.microsoft.com/office/drawing/2014/main" id="{997A03F2-8D8A-4425-9F56-66DB33CE11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22929" y="4594957"/>
            <a:ext cx="3445782" cy="28800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es-MX" noProof="0" dirty="0"/>
              <a:t>Sitio web de la compañía</a:t>
            </a:r>
          </a:p>
        </p:txBody>
      </p:sp>
      <p:sp>
        <p:nvSpPr>
          <p:cNvPr id="14" name="Forma 4157">
            <a:extLst>
              <a:ext uri="{FF2B5EF4-FFF2-40B4-BE49-F238E27FC236}">
                <a16:creationId xmlns:a16="http://schemas.microsoft.com/office/drawing/2014/main" id="{A30A8F28-98F4-425F-A750-78192A157DF4}"/>
              </a:ext>
            </a:extLst>
          </p:cNvPr>
          <p:cNvSpPr/>
          <p:nvPr userDrawn="1"/>
        </p:nvSpPr>
        <p:spPr>
          <a:xfrm>
            <a:off x="6458938" y="3505247"/>
            <a:ext cx="258875" cy="258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s-MX" noProof="0" dirty="0"/>
          </a:p>
        </p:txBody>
      </p:sp>
      <p:sp>
        <p:nvSpPr>
          <p:cNvPr id="15" name="Forma 4186">
            <a:extLst>
              <a:ext uri="{FF2B5EF4-FFF2-40B4-BE49-F238E27FC236}">
                <a16:creationId xmlns:a16="http://schemas.microsoft.com/office/drawing/2014/main" id="{2F84D399-8148-4E86-A1E4-BE7D1D81383A}"/>
              </a:ext>
            </a:extLst>
          </p:cNvPr>
          <p:cNvSpPr/>
          <p:nvPr userDrawn="1"/>
        </p:nvSpPr>
        <p:spPr>
          <a:xfrm>
            <a:off x="6507622" y="3897986"/>
            <a:ext cx="161507" cy="2960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s-MX" noProof="0" dirty="0"/>
          </a:p>
        </p:txBody>
      </p:sp>
      <p:sp>
        <p:nvSpPr>
          <p:cNvPr id="19" name="Forma 4379">
            <a:extLst>
              <a:ext uri="{FF2B5EF4-FFF2-40B4-BE49-F238E27FC236}">
                <a16:creationId xmlns:a16="http://schemas.microsoft.com/office/drawing/2014/main" id="{E4408FF8-E342-42F8-BBE9-1220822B5E99}"/>
              </a:ext>
            </a:extLst>
          </p:cNvPr>
          <p:cNvSpPr/>
          <p:nvPr userDrawn="1"/>
        </p:nvSpPr>
        <p:spPr>
          <a:xfrm>
            <a:off x="6458938" y="4327945"/>
            <a:ext cx="258875" cy="1882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s-MX" noProof="0" dirty="0"/>
          </a:p>
        </p:txBody>
      </p:sp>
      <p:sp>
        <p:nvSpPr>
          <p:cNvPr id="20" name="Forma 4487">
            <a:extLst>
              <a:ext uri="{FF2B5EF4-FFF2-40B4-BE49-F238E27FC236}">
                <a16:creationId xmlns:a16="http://schemas.microsoft.com/office/drawing/2014/main" id="{11D27456-C005-4109-9E74-0B692200A0B3}"/>
              </a:ext>
            </a:extLst>
          </p:cNvPr>
          <p:cNvSpPr/>
          <p:nvPr userDrawn="1"/>
        </p:nvSpPr>
        <p:spPr>
          <a:xfrm>
            <a:off x="6471716" y="4650082"/>
            <a:ext cx="233318" cy="2333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rtlCol="0" anchor="ctr"/>
          <a:lstStyle/>
          <a:p>
            <a:pPr algn="ctr" defTabSz="457200" rtl="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s-MX" noProof="0" dirty="0"/>
          </a:p>
        </p:txBody>
      </p:sp>
      <p:sp>
        <p:nvSpPr>
          <p:cNvPr id="21" name="Triángulo rectángulo 20">
            <a:extLst>
              <a:ext uri="{FF2B5EF4-FFF2-40B4-BE49-F238E27FC236}">
                <a16:creationId xmlns:a16="http://schemas.microsoft.com/office/drawing/2014/main" id="{FDDD2B84-3CB9-4567-8C91-C538E8A1C89F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 dirty="0"/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34EF3020-1476-41B1-9FE7-B476A25C53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B1B64EC3-B232-415D-8E27-EB3E24D13922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2261CE2F-F199-4242-AC6C-692676B81FF1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arcador de posición de imagen 24">
            <a:extLst>
              <a:ext uri="{FF2B5EF4-FFF2-40B4-BE49-F238E27FC236}">
                <a16:creationId xmlns:a16="http://schemas.microsoft.com/office/drawing/2014/main" id="{89C0506D-0CA6-4583-9D04-24E7F4D16A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MX" noProof="0"/>
              <a:t>Haz clic en el icono para agregar una imagen</a:t>
            </a:r>
            <a:endParaRPr lang="es-MX" noProof="0" dirty="0"/>
          </a:p>
        </p:txBody>
      </p:sp>
      <p:sp>
        <p:nvSpPr>
          <p:cNvPr id="2" name="Título 1" title="Título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1821022"/>
            <a:ext cx="4853573" cy="161625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s-MX" noProof="0" dirty="0"/>
              <a:t>Haz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839051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ángulo rectángulo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 dirty="0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 title="Título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s-MX" noProof="0" dirty="0"/>
              <a:t>Haz clic para modificar el estilo de título del patrón</a:t>
            </a:r>
          </a:p>
        </p:txBody>
      </p:sp>
      <p:sp>
        <p:nvSpPr>
          <p:cNvPr id="3" name="Subtítulo 2" title="Subtítulo">
            <a:extLst>
              <a:ext uri="{FF2B5EF4-FFF2-40B4-BE49-F238E27FC236}">
                <a16:creationId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 rtlCol="0"/>
          <a:lstStyle>
            <a:lvl1pPr marL="0" indent="0" algn="l">
              <a:buNone/>
              <a:defRPr sz="2400" b="0" i="0" spc="30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MX" noProof="0" dirty="0"/>
              <a:t>HAZ CLIC PARA EDITAR EL ESTILO DE SUBTÍTULO DEL PATRÓN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45617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riángulo rectángulo 18">
            <a:extLst>
              <a:ext uri="{FF2B5EF4-FFF2-40B4-BE49-F238E27FC236}">
                <a16:creationId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 dirty="0"/>
          </a:p>
        </p:txBody>
      </p:sp>
      <p:sp>
        <p:nvSpPr>
          <p:cNvPr id="17" name="Paralelogramo 16">
            <a:extLst>
              <a:ext uri="{FF2B5EF4-FFF2-40B4-BE49-F238E27FC236}">
                <a16:creationId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 dirty="0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ítulo 1" title="Título">
            <a:extLst>
              <a:ext uri="{FF2B5EF4-FFF2-40B4-BE49-F238E27FC236}">
                <a16:creationId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pPr rtl="0"/>
            <a:r>
              <a:rPr lang="es-MX" noProof="0" dirty="0"/>
              <a:t>Haz clic para modificar el estilo de título del patrón</a:t>
            </a:r>
          </a:p>
        </p:txBody>
      </p:sp>
      <p:sp>
        <p:nvSpPr>
          <p:cNvPr id="101" name="Marcador de texto 2" title="Subtítulo">
            <a:extLst>
              <a:ext uri="{FF2B5EF4-FFF2-40B4-BE49-F238E27FC236}">
                <a16:creationId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2000" b="0" i="0" spc="300">
                <a:solidFill>
                  <a:schemeClr val="accent6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MX" noProof="0" dirty="0"/>
              <a:t>EDITAR ESTILOS DE TEXTO DEL PATRÓN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aralelogramo 24">
            <a:extLst>
              <a:ext uri="{FF2B5EF4-FFF2-40B4-BE49-F238E27FC236}">
                <a16:creationId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s-MX" noProof="0" dirty="0"/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alelogramo 23">
            <a:extLst>
              <a:ext uri="{FF2B5EF4-FFF2-40B4-BE49-F238E27FC236}">
                <a16:creationId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100786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orient="horz" pos="4170">
          <p15:clr>
            <a:srgbClr val="FBAE40"/>
          </p15:clr>
        </p15:guide>
        <p15:guide id="5" pos="7537">
          <p15:clr>
            <a:srgbClr val="FBAE40"/>
          </p15:clr>
        </p15:guide>
        <p15:guide id="6" orient="horz" pos="14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o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Franja diagonal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MX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elogramo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MX" noProof="0" dirty="0"/>
            </a:p>
          </p:txBody>
        </p:sp>
      </p:grpSp>
      <p:sp>
        <p:nvSpPr>
          <p:cNvPr id="25" name="Cuadro de texto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MX" sz="3400" b="1" noProof="0" dirty="0">
                <a:solidFill>
                  <a:schemeClr val="accent6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elogramo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MX" noProof="0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r>
              <a:rPr lang="es-MX" noProof="0" dirty="0"/>
              <a:t>Agregar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MX" noProof="0" smtClean="0"/>
              <a:t>‹Nº›</a:t>
            </a:fld>
            <a:endParaRPr lang="es-MX" noProof="0" dirty="0"/>
          </a:p>
        </p:txBody>
      </p:sp>
      <p:sp>
        <p:nvSpPr>
          <p:cNvPr id="27" name="Título 1" title="Título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s-MX" noProof="0" dirty="0"/>
              <a:t>Haz clic para editar el estilo del título del patrón </a:t>
            </a:r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1FAE0C34-9220-45F0-9FC2-9FE7C994E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78" y="1671924"/>
            <a:ext cx="10835122" cy="4505039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25434304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o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Franja diagonal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MX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elogramo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MX" noProof="0" dirty="0"/>
            </a:p>
          </p:txBody>
        </p:sp>
      </p:grpSp>
      <p:sp>
        <p:nvSpPr>
          <p:cNvPr id="25" name="Cuadro de texto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MX" sz="3400" b="1" noProof="0" dirty="0">
                <a:solidFill>
                  <a:schemeClr val="accent6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elogramo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MX" noProof="0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r>
              <a:rPr lang="es-MX" noProof="0" dirty="0"/>
              <a:t>Agregar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MX" noProof="0" smtClean="0"/>
              <a:t>‹Nº›</a:t>
            </a:fld>
            <a:endParaRPr lang="es-MX" noProof="0" dirty="0"/>
          </a:p>
        </p:txBody>
      </p:sp>
      <p:sp>
        <p:nvSpPr>
          <p:cNvPr id="27" name="Título 1" title="Título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s-MX" noProof="0" dirty="0"/>
              <a:t>Haz clic para editar el estilo del título del patrón </a:t>
            </a: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217F9213-0142-420B-A84D-C5627A0C81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9687" y="1651044"/>
            <a:ext cx="5181600" cy="4525919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  <a:endParaRPr lang="es-MX" noProof="0" dirty="0"/>
          </a:p>
        </p:txBody>
      </p:sp>
      <p:sp>
        <p:nvSpPr>
          <p:cNvPr id="15" name="Marcador de posición de contenido 3">
            <a:extLst>
              <a:ext uri="{FF2B5EF4-FFF2-40B4-BE49-F238E27FC236}">
                <a16:creationId xmlns:a16="http://schemas.microsoft.com/office/drawing/2014/main" id="{8014328B-D576-4B5C-A4AE-CF9831892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51044"/>
            <a:ext cx="5181600" cy="4525919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1284813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upo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Franja diagonal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MX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elogramo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MX" noProof="0" dirty="0"/>
            </a:p>
          </p:txBody>
        </p:sp>
      </p:grpSp>
      <p:sp>
        <p:nvSpPr>
          <p:cNvPr id="25" name="Cuadro de texto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MX" sz="3400" b="1" noProof="0" dirty="0">
                <a:solidFill>
                  <a:schemeClr val="accent6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elogramo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MX" noProof="0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r>
              <a:rPr lang="es-MX" noProof="0" dirty="0"/>
              <a:t>Agregar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MX" noProof="0" smtClean="0"/>
              <a:t>‹Nº›</a:t>
            </a:fld>
            <a:endParaRPr lang="es-MX" noProof="0" dirty="0"/>
          </a:p>
        </p:txBody>
      </p:sp>
      <p:sp>
        <p:nvSpPr>
          <p:cNvPr id="27" name="Título 1" title="Título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s-MX" noProof="0" dirty="0"/>
              <a:t>Haz clic para editar el estilo del título del patrón </a:t>
            </a:r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82BFF385-445D-4DBB-9773-F99669415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678" y="1681163"/>
            <a:ext cx="5382501" cy="823912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lang="en-US" b="1" dirty="0">
                <a:solidFill>
                  <a:schemeClr val="accent6"/>
                </a:solidFill>
              </a:defRPr>
            </a:lvl1pPr>
          </a:lstStyle>
          <a:p>
            <a:pPr marL="228600" lvl="0" indent="-228600" rtl="0"/>
            <a:r>
              <a:rPr lang="es-MX" noProof="0"/>
              <a:t>Haga clic para modificar los estilos de texto del patrón</a:t>
            </a:r>
          </a:p>
        </p:txBody>
      </p:sp>
      <p:sp>
        <p:nvSpPr>
          <p:cNvPr id="20" name="Marcador de texto 4">
            <a:extLst>
              <a:ext uri="{FF2B5EF4-FFF2-40B4-BE49-F238E27FC236}">
                <a16:creationId xmlns:a16="http://schemas.microsoft.com/office/drawing/2014/main" id="{311B1CFE-1B35-4B5C-B40A-DC5ADF211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MX" noProof="0"/>
              <a:t>Haga clic para modificar los estilos de texto del patrón</a:t>
            </a:r>
          </a:p>
        </p:txBody>
      </p:sp>
      <p:sp>
        <p:nvSpPr>
          <p:cNvPr id="21" name="Marcador de posición de contenido 5">
            <a:extLst>
              <a:ext uri="{FF2B5EF4-FFF2-40B4-BE49-F238E27FC236}">
                <a16:creationId xmlns:a16="http://schemas.microsoft.com/office/drawing/2014/main" id="{1CE840E8-D596-479D-AE97-E88F42DC1B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  <a:endParaRPr lang="es-MX" noProof="0" dirty="0"/>
          </a:p>
        </p:txBody>
      </p:sp>
      <p:sp>
        <p:nvSpPr>
          <p:cNvPr id="24" name="Marcador de posición de contenido 3">
            <a:extLst>
              <a:ext uri="{FF2B5EF4-FFF2-40B4-BE49-F238E27FC236}">
                <a16:creationId xmlns:a16="http://schemas.microsoft.com/office/drawing/2014/main" id="{B9A68D25-B19E-4E84-B65D-596EE8382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678" y="2505075"/>
            <a:ext cx="5391749" cy="36845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2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tx1"/>
                </a:solidFill>
              </a:defRPr>
            </a:lvl5pPr>
          </a:lstStyle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2452267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ángulo rectángulo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 dirty="0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 title="Título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s-MX" noProof="0" dirty="0"/>
              <a:t>Haz clic para modificar el estilo de título del patrón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texto 3">
            <a:extLst>
              <a:ext uri="{FF2B5EF4-FFF2-40B4-BE49-F238E27FC236}">
                <a16:creationId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 rtlCol="0"/>
          <a:lstStyle>
            <a:lvl1pPr marL="0" indent="0" algn="r">
              <a:buFont typeface="Arial" panose="020B0604020202020204" pitchFamily="34" charset="0"/>
              <a:buNone/>
              <a:defRPr sz="1600">
                <a:solidFill>
                  <a:schemeClr val="accent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MX" noProof="0"/>
              <a:t>Haga clic para modificar los estilos de texto del patrón</a:t>
            </a: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C9A1E80C-1A76-4D3E-92A1-846866867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1316" y="2290713"/>
            <a:ext cx="5803672" cy="4341862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2"/>
              </a:buClr>
              <a:defRPr sz="2400"/>
            </a:lvl1pPr>
            <a:lvl2pPr>
              <a:buClr>
                <a:schemeClr val="accent2"/>
              </a:buClr>
              <a:defRPr sz="2000"/>
            </a:lvl2pPr>
            <a:lvl3pPr>
              <a:buClr>
                <a:schemeClr val="accent2"/>
              </a:buClr>
              <a:defRPr sz="1800"/>
            </a:lvl3pPr>
            <a:lvl4pPr>
              <a:buClr>
                <a:schemeClr val="accent2"/>
              </a:buClr>
              <a:defRPr sz="1600"/>
            </a:lvl4pPr>
            <a:lvl5pPr>
              <a:buClr>
                <a:schemeClr val="accent2"/>
              </a:buCl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255265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ángulo rectángulo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 dirty="0"/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 title="Título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s-MX" noProof="0" dirty="0"/>
              <a:t>Haz clic para modificar el estilo de título del patrón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texto 3">
            <a:extLst>
              <a:ext uri="{FF2B5EF4-FFF2-40B4-BE49-F238E27FC236}">
                <a16:creationId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 rtlCol="0"/>
          <a:lstStyle>
            <a:lvl1pPr marL="0" indent="0" algn="r">
              <a:buFont typeface="Arial" panose="020B0604020202020204" pitchFamily="34" charset="0"/>
              <a:buNone/>
              <a:defRPr sz="1600">
                <a:solidFill>
                  <a:schemeClr val="accent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MX" noProof="0"/>
              <a:t>Haga clic para modificar los estilos de texto del patrón</a:t>
            </a:r>
          </a:p>
        </p:txBody>
      </p:sp>
      <p:sp>
        <p:nvSpPr>
          <p:cNvPr id="12" name="Marcador de posición de imagen 2">
            <a:extLst>
              <a:ext uri="{FF2B5EF4-FFF2-40B4-BE49-F238E27FC236}">
                <a16:creationId xmlns:a16="http://schemas.microsoft.com/office/drawing/2014/main" id="{22728E0A-430E-4C6A-BF56-06FA8510F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49970" y="2271860"/>
            <a:ext cx="5715017" cy="4360714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MX" noProof="0"/>
              <a:t>Haz clic en el icono para agregar una imagen</a:t>
            </a:r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2614302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uadro de texto 17">
            <a:extLst>
              <a:ext uri="{FF2B5EF4-FFF2-40B4-BE49-F238E27FC236}">
                <a16:creationId xmlns:a16="http://schemas.microsoft.com/office/drawing/2014/main" id="{CC52C5C1-EC33-44C1-9D54-A1058BBF1812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MX" sz="3400" b="1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8A0030CD-8C9E-4AA5-8C5D-F9B2EDB7E17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Franja diagonal 26">
              <a:extLst>
                <a:ext uri="{FF2B5EF4-FFF2-40B4-BE49-F238E27FC236}">
                  <a16:creationId xmlns:a16="http://schemas.microsoft.com/office/drawing/2014/main" id="{872EE65E-EE50-4A3E-861E-1D6C241CB8EA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MX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E76AD1EF-E06C-4D3C-9693-26844D01C83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Paralelogramo 28">
              <a:extLst>
                <a:ext uri="{FF2B5EF4-FFF2-40B4-BE49-F238E27FC236}">
                  <a16:creationId xmlns:a16="http://schemas.microsoft.com/office/drawing/2014/main" id="{57D44C42-44C0-420A-A125-9B1A979D4F56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MX" noProof="0" dirty="0"/>
            </a:p>
          </p:txBody>
        </p:sp>
      </p:grpSp>
      <p:sp>
        <p:nvSpPr>
          <p:cNvPr id="30" name="Paralelogramo 29">
            <a:extLst>
              <a:ext uri="{FF2B5EF4-FFF2-40B4-BE49-F238E27FC236}">
                <a16:creationId xmlns:a16="http://schemas.microsoft.com/office/drawing/2014/main" id="{406089BB-36DC-4E23-B215-527A8A18FCF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MX" noProof="0" dirty="0"/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578C43A6-50C6-704E-BADC-6D83BADE73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es-MX" noProof="0" dirty="0"/>
              <a:t>Agregar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D91439B-965F-3548-AF77-89501B24F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4199068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uadro de texto 20">
            <a:extLst>
              <a:ext uri="{FF2B5EF4-FFF2-40B4-BE49-F238E27FC236}">
                <a16:creationId xmlns:a16="http://schemas.microsoft.com/office/drawing/2014/main" id="{7E8A2C98-F26E-415A-B931-1B89CA46C1CF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es-MX" sz="3400" b="1" noProof="0" dirty="0">
                <a:solidFill>
                  <a:schemeClr val="accent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1B2FB48C-0C70-4DBE-B904-A134B6644DD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8" name="Franja diagonal 27">
              <a:extLst>
                <a:ext uri="{FF2B5EF4-FFF2-40B4-BE49-F238E27FC236}">
                  <a16:creationId xmlns:a16="http://schemas.microsoft.com/office/drawing/2014/main" id="{4F2E2158-1E6E-4E0D-BDAB-B20041C7361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MX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626D62DB-3A5A-4DA1-BFA4-D9E58676E86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elogramo 29">
              <a:extLst>
                <a:ext uri="{FF2B5EF4-FFF2-40B4-BE49-F238E27FC236}">
                  <a16:creationId xmlns:a16="http://schemas.microsoft.com/office/drawing/2014/main" id="{F5A729A7-3A5C-405C-AE06-180E7529E477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MX" noProof="0" dirty="0"/>
            </a:p>
          </p:txBody>
        </p:sp>
      </p:grpSp>
      <p:sp>
        <p:nvSpPr>
          <p:cNvPr id="31" name="Paralelogramo 30">
            <a:extLst>
              <a:ext uri="{FF2B5EF4-FFF2-40B4-BE49-F238E27FC236}">
                <a16:creationId xmlns:a16="http://schemas.microsoft.com/office/drawing/2014/main" id="{41E23981-B12A-4AC3-A030-337BBBA5E45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 rtl="0"/>
            <a:endParaRPr lang="es-MX" noProof="0" dirty="0"/>
          </a:p>
        </p:txBody>
      </p:sp>
      <p:sp>
        <p:nvSpPr>
          <p:cNvPr id="33" name="Título 1" title="Título ">
            <a:extLst>
              <a:ext uri="{FF2B5EF4-FFF2-40B4-BE49-F238E27FC236}">
                <a16:creationId xmlns:a16="http://schemas.microsoft.com/office/drawing/2014/main" id="{59067A2C-FE71-4381-BE51-08DAC5E435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215566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pPr rtl="0"/>
            <a:r>
              <a:rPr lang="es-MX" noProof="0" dirty="0"/>
              <a:t>Haz clic para editar el estilo del título del patrón </a:t>
            </a:r>
          </a:p>
        </p:txBody>
      </p:sp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CB69A007-934D-7A4B-9EFA-82044EF4DC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es-MX" noProof="0" dirty="0"/>
              <a:t>Agregar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A154DC2-98C7-4D4B-A17A-AA4731217F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699F50C-BE38-4BD0-BA84-9B090E1F2B9B}" type="slidenum">
              <a:rPr lang="es-MX" noProof="0" smtClean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658419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5CE2EB-00DF-4EBA-BF1F-D37805D45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MX" noProof="0"/>
              <a:t>Haz clic para modificar el estilo de título del patrón</a:t>
            </a:r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1658918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BDB16155-303B-403D-8B49-D4CEE47D6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53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pPr rtl="0"/>
            <a:r>
              <a:rPr lang="es-MX" noProof="0" dirty="0"/>
              <a:t>Agregar un pie de página</a:t>
            </a:r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6B915EF5-4ABE-4759-AC09-679CD6083A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6971" y="6356350"/>
            <a:ext cx="7402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pPr rtl="0"/>
            <a:fld id="{8699F50C-BE38-4BD0-BA84-9B090E1F2B9B}" type="slidenum">
              <a:rPr lang="es-MX" noProof="0" smtClean="0"/>
              <a:pPr rtl="0"/>
              <a:t>‹Nº›</a:t>
            </a:fld>
            <a:endParaRPr lang="es-MX" noProof="0" dirty="0"/>
          </a:p>
        </p:txBody>
      </p:sp>
      <p:sp>
        <p:nvSpPr>
          <p:cNvPr id="9" name="Marcador de título 8">
            <a:extLst>
              <a:ext uri="{FF2B5EF4-FFF2-40B4-BE49-F238E27FC236}">
                <a16:creationId xmlns:a16="http://schemas.microsoft.com/office/drawing/2014/main" id="{AA2D2B61-D240-024D-AD60-4162EF152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10835122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/>
          <a:p>
            <a:pPr rtl="0"/>
            <a:r>
              <a:rPr lang="es-MX" noProof="0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564885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85" r:id="rId3"/>
    <p:sldLayoutId id="2147483706" r:id="rId4"/>
    <p:sldLayoutId id="2147483708" r:id="rId5"/>
    <p:sldLayoutId id="2147483704" r:id="rId6"/>
    <p:sldLayoutId id="2147483689" r:id="rId7"/>
    <p:sldLayoutId id="2147483668" r:id="rId8"/>
    <p:sldLayoutId id="2147483707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692" r:id="rId17"/>
    <p:sldLayoutId id="2147483697" r:id="rId18"/>
    <p:sldLayoutId id="2147483674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IN"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2E7A40"/>
        </a:buClr>
        <a:buFont typeface="Arial" panose="020B0604020202020204" pitchFamily="34" charset="0"/>
        <a:buChar char="•"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IN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9.xml"/><Relationship Id="rId4" Type="http://schemas.openxmlformats.org/officeDocument/2006/relationships/chart" Target="../charts/char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posición de imagen 7">
            <a:extLst>
              <a:ext uri="{FF2B5EF4-FFF2-40B4-BE49-F238E27FC236}">
                <a16:creationId xmlns:a16="http://schemas.microsoft.com/office/drawing/2014/main" id="{12DC045B-B2FE-8515-4887-61C18FB83E9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6891" r="6891"/>
          <a:stretch>
            <a:fillRect/>
          </a:stretch>
        </p:blipFill>
        <p:spPr>
          <a:xfrm>
            <a:off x="1671638" y="860425"/>
            <a:ext cx="4429125" cy="5137150"/>
          </a:xfrm>
        </p:spPr>
      </p:pic>
      <p:sp>
        <p:nvSpPr>
          <p:cNvPr id="18" name="Hexágono 17" descr="Hexágono liso de color oscuro en el medio de un énfasis de imagen">
            <a:extLst>
              <a:ext uri="{FF2B5EF4-FFF2-40B4-BE49-F238E27FC236}">
                <a16:creationId xmlns:a16="http://schemas.microsoft.com/office/drawing/2014/main" id="{0E6B042D-E9CB-40E0-AAE9-6AD11F53E044}"/>
              </a:ext>
            </a:extLst>
          </p:cNvPr>
          <p:cNvSpPr/>
          <p:nvPr/>
        </p:nvSpPr>
        <p:spPr>
          <a:xfrm rot="16200000">
            <a:off x="2679702" y="2388914"/>
            <a:ext cx="2412998" cy="2080172"/>
          </a:xfrm>
          <a:prstGeom prst="hexag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D638ACE-163E-40EB-A458-E794C67EA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5217" y="2211121"/>
            <a:ext cx="4853573" cy="1616252"/>
          </a:xfrm>
        </p:spPr>
        <p:txBody>
          <a:bodyPr rtlCol="0">
            <a:normAutofit/>
          </a:bodyPr>
          <a:lstStyle/>
          <a:p>
            <a:r>
              <a:rPr lang="es-MX" sz="2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Análisis organizacional y propuesta de procedimientos (SOPs)</a:t>
            </a:r>
            <a:br>
              <a:rPr lang="es-MX" sz="2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s-MX" sz="28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1E1C208-84BF-056A-91A5-D1866B5CDA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7326" y="2652114"/>
            <a:ext cx="1139432" cy="1553771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02F89F2A-B93C-18AE-40FC-41FDCA3F473F}"/>
              </a:ext>
            </a:extLst>
          </p:cNvPr>
          <p:cNvSpPr txBox="1">
            <a:spLocks/>
          </p:cNvSpPr>
          <p:nvPr/>
        </p:nvSpPr>
        <p:spPr>
          <a:xfrm>
            <a:off x="6405217" y="3019247"/>
            <a:ext cx="4853573" cy="1616252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3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i="1" kern="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HTL Electronics </a:t>
            </a:r>
            <a:br>
              <a:rPr lang="es-MX" sz="2500" kern="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s-MX" sz="2500" dirty="0"/>
          </a:p>
        </p:txBody>
      </p:sp>
      <p:sp>
        <p:nvSpPr>
          <p:cNvPr id="29" name="Marcador de pie de página 4">
            <a:extLst>
              <a:ext uri="{FF2B5EF4-FFF2-40B4-BE49-F238E27FC236}">
                <a16:creationId xmlns:a16="http://schemas.microsoft.com/office/drawing/2014/main" id="{BAE9ACC5-3E3F-388F-6AD5-2308DC3D9021}"/>
              </a:ext>
            </a:extLst>
          </p:cNvPr>
          <p:cNvSpPr txBox="1">
            <a:spLocks/>
          </p:cNvSpPr>
          <p:nvPr/>
        </p:nvSpPr>
        <p:spPr>
          <a:xfrm>
            <a:off x="442452" y="6356350"/>
            <a:ext cx="3672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s-mx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/>
              <a:t>HTL Electronics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80699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MX" dirty="0">
                <a:solidFill>
                  <a:schemeClr val="tx1"/>
                </a:solidFill>
              </a:rPr>
              <a:t>CONTEXTO DE HTL ELECTRONICS</a:t>
            </a: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640A3223-3DA3-4CF2-82B6-1447667547BD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978949" y="1966758"/>
            <a:ext cx="8283037" cy="1838325"/>
          </a:xfrm>
          <a:prstGeom prst="rect">
            <a:avLst/>
          </a:prstGeom>
        </p:spPr>
        <p:txBody>
          <a:bodyPr rtlCol="0"/>
          <a:lstStyle/>
          <a:p>
            <a:pPr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dirty="0"/>
              <a:t>Empresa dedicada a la automatización colaborativa.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dirty="0"/>
              <a:t>Operación binacional (Dallas–Guadalajara).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dirty="0"/>
              <a:t>Distribuidores autorizados Universal Robots y </a:t>
            </a:r>
            <a:r>
              <a:rPr lang="es-MX" dirty="0" err="1"/>
              <a:t>MiR</a:t>
            </a:r>
            <a:r>
              <a:rPr lang="es-MX" dirty="0"/>
              <a:t>.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dirty="0"/>
              <a:t>Servicios: integración de sistemas, soporte y capacitación 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v"/>
            </a:pPr>
            <a:endParaRPr lang="es-MX" dirty="0"/>
          </a:p>
        </p:txBody>
      </p:sp>
      <p:sp>
        <p:nvSpPr>
          <p:cNvPr id="20" name="Marcador de pie de página 4">
            <a:extLst>
              <a:ext uri="{FF2B5EF4-FFF2-40B4-BE49-F238E27FC236}">
                <a16:creationId xmlns:a16="http://schemas.microsoft.com/office/drawing/2014/main" id="{391D3201-20F9-4DD7-B4EB-F41AF17CA42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42452" y="6356350"/>
            <a:ext cx="3672348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l"/>
            <a:r>
              <a:rPr lang="es-MX" dirty="0"/>
              <a:t>HTL Electronics </a:t>
            </a:r>
          </a:p>
        </p:txBody>
      </p:sp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5" y="6356350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2</a:t>
            </a:fld>
            <a:endParaRPr lang="es-MX" dirty="0"/>
          </a:p>
        </p:txBody>
      </p:sp>
      <p:sp>
        <p:nvSpPr>
          <p:cNvPr id="12" name="Diagrama de flujo: proceso 11">
            <a:extLst>
              <a:ext uri="{FF2B5EF4-FFF2-40B4-BE49-F238E27FC236}">
                <a16:creationId xmlns:a16="http://schemas.microsoft.com/office/drawing/2014/main" id="{C7B97B88-755D-097D-6854-DCD045EEA5A4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3" name="Diagrama de flujo: proceso 12">
            <a:extLst>
              <a:ext uri="{FF2B5EF4-FFF2-40B4-BE49-F238E27FC236}">
                <a16:creationId xmlns:a16="http://schemas.microsoft.com/office/drawing/2014/main" id="{F52F812B-6720-BD02-54AF-5256B7C22A68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9C4054E-7149-9BAA-C295-641891BEE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516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8498" y="228837"/>
            <a:ext cx="3099593" cy="1147968"/>
          </a:xfrm>
        </p:spPr>
        <p:txBody>
          <a:bodyPr rtlCol="0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OBJETIVOS</a:t>
            </a: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640A3223-3DA3-4CF2-82B6-1447667547BD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87505" y="1899114"/>
            <a:ext cx="4741580" cy="33414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sz="2100" dirty="0"/>
              <a:t>Eficientar procesos internos (eliminar cuellos de botella).</a:t>
            </a:r>
          </a:p>
          <a:p>
            <a:pPr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sz="2100" dirty="0"/>
              <a:t>Clarificar responsabilidades.</a:t>
            </a:r>
          </a:p>
          <a:p>
            <a:pPr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sz="2100" dirty="0"/>
              <a:t>Mejorar la trazabilidad de costos.</a:t>
            </a:r>
          </a:p>
          <a:p>
            <a:pPr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sz="2100" dirty="0"/>
              <a:t>Elevar la satisfacción del cliente.</a:t>
            </a:r>
          </a:p>
          <a:p>
            <a:pPr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sz="2100" dirty="0"/>
              <a:t>Preservar el control financiero binacional (Dallas–Guadalajara).</a:t>
            </a:r>
          </a:p>
        </p:txBody>
      </p:sp>
      <p:sp>
        <p:nvSpPr>
          <p:cNvPr id="20" name="Marcador de pie de página 4">
            <a:extLst>
              <a:ext uri="{FF2B5EF4-FFF2-40B4-BE49-F238E27FC236}">
                <a16:creationId xmlns:a16="http://schemas.microsoft.com/office/drawing/2014/main" id="{391D3201-20F9-4DD7-B4EB-F41AF17CA42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42452" y="6356350"/>
            <a:ext cx="3672348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l"/>
            <a:r>
              <a:rPr lang="es-MX" dirty="0"/>
              <a:t>HTL Electronics </a:t>
            </a:r>
          </a:p>
        </p:txBody>
      </p:sp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5" y="6356350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3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9C4054E-7149-9BAA-C295-641891BEE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017AC109-3CEE-C476-3A35-7E9626E0F8B3}"/>
              </a:ext>
            </a:extLst>
          </p:cNvPr>
          <p:cNvSpPr txBox="1">
            <a:spLocks/>
          </p:cNvSpPr>
          <p:nvPr/>
        </p:nvSpPr>
        <p:spPr>
          <a:xfrm>
            <a:off x="6639258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5" name="Título 13">
            <a:extLst>
              <a:ext uri="{FF2B5EF4-FFF2-40B4-BE49-F238E27FC236}">
                <a16:creationId xmlns:a16="http://schemas.microsoft.com/office/drawing/2014/main" id="{D18F9A2B-7B90-4CF9-D57A-812C681FADFB}"/>
              </a:ext>
            </a:extLst>
          </p:cNvPr>
          <p:cNvSpPr txBox="1">
            <a:spLocks/>
          </p:cNvSpPr>
          <p:nvPr/>
        </p:nvSpPr>
        <p:spPr>
          <a:xfrm>
            <a:off x="7140703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dirty="0">
                <a:solidFill>
                  <a:schemeClr val="tx1"/>
                </a:solidFill>
              </a:rPr>
              <a:t>AlCANCE</a:t>
            </a:r>
            <a:r>
              <a:rPr lang="es-MX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sp>
        <p:nvSpPr>
          <p:cNvPr id="6" name="Marcador de texto 16">
            <a:extLst>
              <a:ext uri="{FF2B5EF4-FFF2-40B4-BE49-F238E27FC236}">
                <a16:creationId xmlns:a16="http://schemas.microsoft.com/office/drawing/2014/main" id="{B6CD5695-BF11-E541-7235-DBDFCD34649D}"/>
              </a:ext>
            </a:extLst>
          </p:cNvPr>
          <p:cNvSpPr txBox="1">
            <a:spLocks/>
          </p:cNvSpPr>
          <p:nvPr/>
        </p:nvSpPr>
        <p:spPr>
          <a:xfrm>
            <a:off x="6269910" y="1697146"/>
            <a:ext cx="5724806" cy="2221783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MX" dirty="0"/>
          </a:p>
        </p:txBody>
      </p:sp>
      <p:sp>
        <p:nvSpPr>
          <p:cNvPr id="10" name="Marcador de texto 16">
            <a:extLst>
              <a:ext uri="{FF2B5EF4-FFF2-40B4-BE49-F238E27FC236}">
                <a16:creationId xmlns:a16="http://schemas.microsoft.com/office/drawing/2014/main" id="{E810F323-BC61-E4FD-8D55-F41A3B441335}"/>
              </a:ext>
            </a:extLst>
          </p:cNvPr>
          <p:cNvSpPr txBox="1">
            <a:spLocks/>
          </p:cNvSpPr>
          <p:nvPr/>
        </p:nvSpPr>
        <p:spPr>
          <a:xfrm>
            <a:off x="6394658" y="1899115"/>
            <a:ext cx="5209838" cy="382014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sz="2100" dirty="0"/>
              <a:t>Cotizaciones y requisiciones.</a:t>
            </a:r>
          </a:p>
          <a:p>
            <a:pPr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sz="2100" dirty="0"/>
              <a:t>Ciclo completo de ventas.</a:t>
            </a:r>
          </a:p>
          <a:p>
            <a:pPr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sz="2100" dirty="0"/>
              <a:t>Control de materiales para proyectos.</a:t>
            </a:r>
          </a:p>
          <a:p>
            <a:pPr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sz="2100" dirty="0"/>
              <a:t>Préstamos de equipos demo.</a:t>
            </a:r>
          </a:p>
          <a:p>
            <a:pPr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sz="2100" dirty="0"/>
              <a:t>Solicitud de servicios.</a:t>
            </a:r>
          </a:p>
          <a:p>
            <a:pPr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sz="2100" dirty="0"/>
              <a:t>Ciclo completo de proyectos.</a:t>
            </a:r>
          </a:p>
          <a:p>
            <a:pPr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sz="2100" dirty="0"/>
              <a:t>Fabricación de partes con proveedores. </a:t>
            </a:r>
          </a:p>
          <a:p>
            <a:pPr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sz="2100" dirty="0"/>
              <a:t>Ensamble en </a:t>
            </a:r>
            <a:r>
              <a:rPr lang="es-MX" sz="2100" dirty="0" err="1"/>
              <a:t>systems</a:t>
            </a:r>
            <a:r>
              <a:rPr lang="es-MX" sz="2100" dirty="0"/>
              <a:t> </a:t>
            </a:r>
            <a:r>
              <a:rPr lang="es-MX" sz="2100" dirty="0" err="1"/>
              <a:t>integration</a:t>
            </a:r>
            <a:r>
              <a:rPr lang="es-MX" sz="2100" dirty="0"/>
              <a:t> (SI).</a:t>
            </a:r>
          </a:p>
          <a:p>
            <a:pPr algn="just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sz="2100" dirty="0"/>
              <a:t>Puesta en marcha y servicio postventa.</a:t>
            </a:r>
          </a:p>
          <a:p>
            <a:pPr algn="just"/>
            <a:endParaRPr lang="es-MX" sz="2100" dirty="0"/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1E95CFF5-3620-D819-C984-9771B5D510A4}"/>
              </a:ext>
            </a:extLst>
          </p:cNvPr>
          <p:cNvCxnSpPr>
            <a:cxnSpLocks/>
          </p:cNvCxnSpPr>
          <p:nvPr/>
        </p:nvCxnSpPr>
        <p:spPr>
          <a:xfrm>
            <a:off x="5391767" y="3546986"/>
            <a:ext cx="9008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7D9C17E3-1C32-22D1-6787-DE1BA42A4763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B1412656-E69F-B20C-148B-44D5F401A11B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9575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629" y="100530"/>
            <a:ext cx="5552741" cy="1128159"/>
          </a:xfrm>
        </p:spPr>
        <p:txBody>
          <a:bodyPr rtlCol="0">
            <a:normAutofit/>
          </a:bodyPr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HALLAZGOS Y RIESGOS </a:t>
            </a:r>
          </a:p>
        </p:txBody>
      </p:sp>
      <p:sp>
        <p:nvSpPr>
          <p:cNvPr id="20" name="Marcador de pie de página 4">
            <a:extLst>
              <a:ext uri="{FF2B5EF4-FFF2-40B4-BE49-F238E27FC236}">
                <a16:creationId xmlns:a16="http://schemas.microsoft.com/office/drawing/2014/main" id="{391D3201-20F9-4DD7-B4EB-F41AF17CA42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42452" y="6356350"/>
            <a:ext cx="3672348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l"/>
            <a:r>
              <a:rPr lang="es-MX" dirty="0"/>
              <a:t>HTL Electronics </a:t>
            </a:r>
          </a:p>
        </p:txBody>
      </p:sp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5" y="6356350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4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9C4054E-7149-9BAA-C295-641891BEE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017AC109-3CEE-C476-3A35-7E9626E0F8B3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6" name="Marcador de texto 16">
            <a:extLst>
              <a:ext uri="{FF2B5EF4-FFF2-40B4-BE49-F238E27FC236}">
                <a16:creationId xmlns:a16="http://schemas.microsoft.com/office/drawing/2014/main" id="{B6CD5695-BF11-E541-7235-DBDFCD34649D}"/>
              </a:ext>
            </a:extLst>
          </p:cNvPr>
          <p:cNvSpPr txBox="1">
            <a:spLocks/>
          </p:cNvSpPr>
          <p:nvPr/>
        </p:nvSpPr>
        <p:spPr>
          <a:xfrm>
            <a:off x="6269910" y="1697146"/>
            <a:ext cx="5724806" cy="2221783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MX" dirty="0"/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7D9C17E3-1C32-22D1-6787-DE1BA42A4763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B1412656-E69F-B20C-148B-44D5F401A11B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Marcador de texto 16">
            <a:extLst>
              <a:ext uri="{FF2B5EF4-FFF2-40B4-BE49-F238E27FC236}">
                <a16:creationId xmlns:a16="http://schemas.microsoft.com/office/drawing/2014/main" id="{735EA330-7EA6-DD6E-E9DB-F0C4CDB6E820}"/>
              </a:ext>
            </a:extLst>
          </p:cNvPr>
          <p:cNvSpPr txBox="1">
            <a:spLocks/>
          </p:cNvSpPr>
          <p:nvPr/>
        </p:nvSpPr>
        <p:spPr>
          <a:xfrm>
            <a:off x="587505" y="1958107"/>
            <a:ext cx="11142379" cy="1838325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MX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D1A63EFB-2B73-25C0-2ECE-67ECCE9240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362976"/>
              </p:ext>
            </p:extLst>
          </p:nvPr>
        </p:nvGraphicFramePr>
        <p:xfrm>
          <a:off x="677209" y="1841500"/>
          <a:ext cx="10837579" cy="379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1058">
                  <a:extLst>
                    <a:ext uri="{9D8B030D-6E8A-4147-A177-3AD203B41FA5}">
                      <a16:colId xmlns:a16="http://schemas.microsoft.com/office/drawing/2014/main" val="494941458"/>
                    </a:ext>
                  </a:extLst>
                </a:gridCol>
                <a:gridCol w="3755923">
                  <a:extLst>
                    <a:ext uri="{9D8B030D-6E8A-4147-A177-3AD203B41FA5}">
                      <a16:colId xmlns:a16="http://schemas.microsoft.com/office/drawing/2014/main" val="857015243"/>
                    </a:ext>
                  </a:extLst>
                </a:gridCol>
                <a:gridCol w="3040598">
                  <a:extLst>
                    <a:ext uri="{9D8B030D-6E8A-4147-A177-3AD203B41FA5}">
                      <a16:colId xmlns:a16="http://schemas.microsoft.com/office/drawing/2014/main" val="27430795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MX" sz="1600" dirty="0">
                          <a:latin typeface="+mn-lt"/>
                        </a:rPr>
                        <a:t>HALLAZGO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RIESGO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IMPACTO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0623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>
                          <a:latin typeface="+mn-lt"/>
                        </a:rPr>
                        <a:t>Centralización funcional en Xavier.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Dependencia crítica en una sola persona (cuellos de botella).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dirty="0">
                          <a:highlight>
                            <a:srgbClr val="FF0000"/>
                          </a:highlight>
                        </a:rPr>
                        <a:t>Alto</a:t>
                      </a:r>
                      <a:endParaRPr lang="es-MX" sz="1600" dirty="0">
                        <a:highlight>
                          <a:srgbClr val="FF0000"/>
                        </a:highlight>
                        <a:latin typeface="+mn-lt"/>
                      </a:endParaRPr>
                    </a:p>
                    <a:p>
                      <a:pPr algn="ctr"/>
                      <a:endParaRPr lang="es-MX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607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 err="1">
                          <a:latin typeface="+mn-lt"/>
                        </a:rPr>
                        <a:t>Karym</a:t>
                      </a:r>
                      <a:r>
                        <a:rPr lang="es-MX" sz="1600" dirty="0">
                          <a:latin typeface="+mn-lt"/>
                        </a:rPr>
                        <a:t> sobrecargada de múltiples funciones 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Sobrecarga operativa y riesgo de errores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dirty="0">
                          <a:highlight>
                            <a:srgbClr val="FF0000"/>
                          </a:highlight>
                        </a:rPr>
                        <a:t>Alto</a:t>
                      </a:r>
                      <a:endParaRPr lang="es-MX" sz="1600" dirty="0">
                        <a:highlight>
                          <a:srgbClr val="FF0000"/>
                        </a:highlight>
                        <a:latin typeface="+mn-lt"/>
                      </a:endParaRP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063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>
                          <a:latin typeface="+mn-lt"/>
                        </a:rPr>
                        <a:t>Sin procedimiento de salida de materiales.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Costos no trazables, riesgo financiero.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dirty="0">
                          <a:highlight>
                            <a:srgbClr val="FF0000"/>
                          </a:highlight>
                        </a:rPr>
                        <a:t>Alto</a:t>
                      </a:r>
                      <a:endParaRPr lang="es-MX" sz="1600" dirty="0">
                        <a:highlight>
                          <a:srgbClr val="FF0000"/>
                        </a:highlight>
                        <a:latin typeface="+mn-lt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732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>
                          <a:latin typeface="+mn-lt"/>
                        </a:rPr>
                        <a:t>Procesos inter-áreas no estandarizado.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Posibles retrasos y errores.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dirty="0">
                          <a:highlight>
                            <a:srgbClr val="FF0000"/>
                          </a:highlight>
                        </a:rPr>
                        <a:t>Alto</a:t>
                      </a:r>
                      <a:endParaRPr lang="es-MX" sz="1600" dirty="0">
                        <a:highlight>
                          <a:srgbClr val="FF0000"/>
                        </a:highlight>
                        <a:latin typeface="+mn-lt"/>
                      </a:endParaRPr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2745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>
                          <a:latin typeface="+mn-lt"/>
                        </a:rPr>
                        <a:t>Francia (PM) sin autoridad sobre Ingeniería y SI.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Baja tracción en compromisos y fechas incumplidas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dirty="0">
                          <a:highlight>
                            <a:srgbClr val="FFFF00"/>
                          </a:highlight>
                        </a:rPr>
                        <a:t>Medio</a:t>
                      </a:r>
                      <a:endParaRPr lang="es-MX" sz="1600" dirty="0"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177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>
                          <a:latin typeface="+mn-lt"/>
                        </a:rPr>
                        <a:t>Compras a cargo de Harvey sin canal único.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Desorden en requisiciones y baja trazabilidad de costos.</a:t>
                      </a:r>
                    </a:p>
                  </a:txBody>
                  <a:tcP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dirty="0">
                          <a:highlight>
                            <a:srgbClr val="FFFF00"/>
                          </a:highlight>
                        </a:rPr>
                        <a:t>Medio</a:t>
                      </a:r>
                      <a:endParaRPr lang="es-MX" sz="1600" dirty="0">
                        <a:highlight>
                          <a:srgbClr val="FFFF00"/>
                        </a:highlight>
                        <a:latin typeface="+mn-lt"/>
                      </a:endParaRPr>
                    </a:p>
                    <a:p>
                      <a:pPr algn="ctr"/>
                      <a:endParaRPr lang="es-MX" sz="1600" dirty="0"/>
                    </a:p>
                  </a:txBody>
                  <a:tcPr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337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>
                          <a:latin typeface="+mn-lt"/>
                        </a:rPr>
                        <a:t>Sin formato para préstamos de demos.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Pérdida o daño de equipos </a:t>
                      </a:r>
                      <a:r>
                        <a:rPr lang="de-DE" sz="1600" dirty="0"/>
                        <a:t>clave (4 UR5e, 1 MiR250 shelf, 1 MiR100).</a:t>
                      </a:r>
                      <a:endParaRPr lang="es-MX" sz="16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dirty="0">
                          <a:highlight>
                            <a:srgbClr val="FFFF00"/>
                          </a:highlight>
                        </a:rPr>
                        <a:t>Medio</a:t>
                      </a:r>
                      <a:endParaRPr lang="es-MX" sz="1600" dirty="0">
                        <a:highlight>
                          <a:srgbClr val="FFFF00"/>
                        </a:highlight>
                        <a:latin typeface="+mn-lt"/>
                      </a:endParaRPr>
                    </a:p>
                    <a:p>
                      <a:pPr algn="ctr"/>
                      <a:endParaRPr lang="es-MX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381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3474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032" y="84080"/>
            <a:ext cx="9682050" cy="938476"/>
          </a:xfrm>
        </p:spPr>
        <p:txBody>
          <a:bodyPr rtlCol="0">
            <a:normAutofit/>
          </a:bodyPr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MATRÍZ DE PROBABILIDAD E IMPACTO </a:t>
            </a:r>
          </a:p>
        </p:txBody>
      </p:sp>
      <p:sp>
        <p:nvSpPr>
          <p:cNvPr id="20" name="Marcador de pie de página 4">
            <a:extLst>
              <a:ext uri="{FF2B5EF4-FFF2-40B4-BE49-F238E27FC236}">
                <a16:creationId xmlns:a16="http://schemas.microsoft.com/office/drawing/2014/main" id="{391D3201-20F9-4DD7-B4EB-F41AF17CA42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42452" y="6356350"/>
            <a:ext cx="3672348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l"/>
            <a:r>
              <a:rPr lang="es-MX" dirty="0"/>
              <a:t>HTL Electronics </a:t>
            </a:r>
          </a:p>
        </p:txBody>
      </p:sp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5" y="6356350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5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9C4054E-7149-9BAA-C295-641891BEE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017AC109-3CEE-C476-3A35-7E9626E0F8B3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6" name="Marcador de texto 16">
            <a:extLst>
              <a:ext uri="{FF2B5EF4-FFF2-40B4-BE49-F238E27FC236}">
                <a16:creationId xmlns:a16="http://schemas.microsoft.com/office/drawing/2014/main" id="{B6CD5695-BF11-E541-7235-DBDFCD34649D}"/>
              </a:ext>
            </a:extLst>
          </p:cNvPr>
          <p:cNvSpPr txBox="1">
            <a:spLocks/>
          </p:cNvSpPr>
          <p:nvPr/>
        </p:nvSpPr>
        <p:spPr>
          <a:xfrm>
            <a:off x="6269910" y="1697146"/>
            <a:ext cx="5724806" cy="2221783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MX" dirty="0"/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7D9C17E3-1C32-22D1-6787-DE1BA42A4763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B1412656-E69F-B20C-148B-44D5F401A11B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Marcador de texto 16">
            <a:extLst>
              <a:ext uri="{FF2B5EF4-FFF2-40B4-BE49-F238E27FC236}">
                <a16:creationId xmlns:a16="http://schemas.microsoft.com/office/drawing/2014/main" id="{735EA330-7EA6-DD6E-E9DB-F0C4CDB6E820}"/>
              </a:ext>
            </a:extLst>
          </p:cNvPr>
          <p:cNvSpPr txBox="1">
            <a:spLocks/>
          </p:cNvSpPr>
          <p:nvPr/>
        </p:nvSpPr>
        <p:spPr>
          <a:xfrm>
            <a:off x="587505" y="1958107"/>
            <a:ext cx="11142379" cy="1838325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MX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B4B29EB-3626-471B-873C-F1DBE4BEF4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589086"/>
              </p:ext>
            </p:extLst>
          </p:nvPr>
        </p:nvGraphicFramePr>
        <p:xfrm>
          <a:off x="545462" y="1697146"/>
          <a:ext cx="11142378" cy="5076775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802755">
                  <a:extLst>
                    <a:ext uri="{9D8B030D-6E8A-4147-A177-3AD203B41FA5}">
                      <a16:colId xmlns:a16="http://schemas.microsoft.com/office/drawing/2014/main" val="974357151"/>
                    </a:ext>
                  </a:extLst>
                </a:gridCol>
                <a:gridCol w="2963511">
                  <a:extLst>
                    <a:ext uri="{9D8B030D-6E8A-4147-A177-3AD203B41FA5}">
                      <a16:colId xmlns:a16="http://schemas.microsoft.com/office/drawing/2014/main" val="1466802382"/>
                    </a:ext>
                  </a:extLst>
                </a:gridCol>
                <a:gridCol w="2219784">
                  <a:extLst>
                    <a:ext uri="{9D8B030D-6E8A-4147-A177-3AD203B41FA5}">
                      <a16:colId xmlns:a16="http://schemas.microsoft.com/office/drawing/2014/main" val="2626928572"/>
                    </a:ext>
                  </a:extLst>
                </a:gridCol>
                <a:gridCol w="1332847">
                  <a:extLst>
                    <a:ext uri="{9D8B030D-6E8A-4147-A177-3AD203B41FA5}">
                      <a16:colId xmlns:a16="http://schemas.microsoft.com/office/drawing/2014/main" val="2341578638"/>
                    </a:ext>
                  </a:extLst>
                </a:gridCol>
                <a:gridCol w="1469550">
                  <a:extLst>
                    <a:ext uri="{9D8B030D-6E8A-4147-A177-3AD203B41FA5}">
                      <a16:colId xmlns:a16="http://schemas.microsoft.com/office/drawing/2014/main" val="3018923209"/>
                    </a:ext>
                  </a:extLst>
                </a:gridCol>
                <a:gridCol w="1262103">
                  <a:extLst>
                    <a:ext uri="{9D8B030D-6E8A-4147-A177-3AD203B41FA5}">
                      <a16:colId xmlns:a16="http://schemas.microsoft.com/office/drawing/2014/main" val="3860406290"/>
                    </a:ext>
                  </a:extLst>
                </a:gridCol>
                <a:gridCol w="1091828">
                  <a:extLst>
                    <a:ext uri="{9D8B030D-6E8A-4147-A177-3AD203B41FA5}">
                      <a16:colId xmlns:a16="http://schemas.microsoft.com/office/drawing/2014/main" val="2941657687"/>
                    </a:ext>
                  </a:extLst>
                </a:gridCol>
              </a:tblGrid>
              <a:tr h="478715"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/>
                        <a:t>#</a:t>
                      </a:r>
                      <a:endParaRPr lang="es-MX" sz="1600" b="1" dirty="0">
                        <a:latin typeface="+mn-lt"/>
                      </a:endParaRPr>
                    </a:p>
                  </a:txBody>
                  <a:tcPr marL="48891" marR="48891" marT="24446" marB="24446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/>
                        <a:t>Hallazgo</a:t>
                      </a:r>
                      <a:endParaRPr lang="es-MX" sz="1600" b="1" dirty="0">
                        <a:latin typeface="+mn-lt"/>
                      </a:endParaRPr>
                    </a:p>
                  </a:txBody>
                  <a:tcPr marL="48891" marR="48891" marT="24446" marB="24446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/>
                        <a:t>Riesgo</a:t>
                      </a:r>
                      <a:endParaRPr lang="es-MX" sz="1600" b="1" dirty="0">
                        <a:latin typeface="+mn-lt"/>
                      </a:endParaRPr>
                    </a:p>
                  </a:txBody>
                  <a:tcPr marL="48891" marR="48891" marT="24446" marB="24446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 err="1"/>
                        <a:t>Prob</a:t>
                      </a:r>
                      <a:r>
                        <a:rPr lang="es-MX" sz="1600" b="1" dirty="0"/>
                        <a:t>. (1–5)</a:t>
                      </a:r>
                      <a:endParaRPr lang="es-MX" sz="1600" b="1" dirty="0">
                        <a:latin typeface="+mn-lt"/>
                      </a:endParaRPr>
                    </a:p>
                  </a:txBody>
                  <a:tcPr marL="48891" marR="48891" marT="24446" marB="24446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/>
                        <a:t>Impacto (1–5)</a:t>
                      </a:r>
                      <a:endParaRPr lang="es-MX" sz="1600" b="1" dirty="0">
                        <a:latin typeface="+mn-lt"/>
                      </a:endParaRPr>
                    </a:p>
                  </a:txBody>
                  <a:tcPr marL="48891" marR="48891" marT="24446" marB="24446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/>
                        <a:t>Puntaje (P×I)</a:t>
                      </a:r>
                      <a:endParaRPr lang="es-MX" sz="1600" b="1" dirty="0">
                        <a:latin typeface="+mn-lt"/>
                      </a:endParaRPr>
                    </a:p>
                  </a:txBody>
                  <a:tcPr marL="48891" marR="48891" marT="24446" marB="24446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/>
                        <a:t>Nivel</a:t>
                      </a:r>
                      <a:endParaRPr lang="es-MX" sz="1600" b="1" dirty="0">
                        <a:latin typeface="+mn-lt"/>
                      </a:endParaRPr>
                    </a:p>
                  </a:txBody>
                  <a:tcPr marL="48891" marR="48891" marT="24446" marB="24446" anchor="ctr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5762497"/>
                  </a:ext>
                </a:extLst>
              </a:tr>
              <a:tr h="589495">
                <a:tc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1</a:t>
                      </a:r>
                      <a:endParaRPr lang="es-MX" sz="1600" dirty="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Centralización funcional en Xavier</a:t>
                      </a:r>
                      <a:endParaRPr lang="es-MX" sz="1600" dirty="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Dependencia crítica / cuello de botella</a:t>
                      </a:r>
                      <a:endParaRPr lang="es-MX" sz="1600" dirty="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4</a:t>
                      </a:r>
                      <a:endParaRPr lang="es-MX" sz="1600" dirty="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5</a:t>
                      </a:r>
                      <a:endParaRPr lang="es-MX" sz="1600" dirty="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20</a:t>
                      </a:r>
                      <a:endParaRPr lang="es-MX" sz="1600" dirty="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>
                          <a:highlight>
                            <a:srgbClr val="FF0000"/>
                          </a:highlight>
                        </a:rPr>
                        <a:t>Alto</a:t>
                      </a:r>
                      <a:endParaRPr lang="es-MX" sz="1600" dirty="0">
                        <a:highlight>
                          <a:srgbClr val="FF0000"/>
                        </a:highlight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extLst>
                  <a:ext uri="{0D108BD9-81ED-4DB2-BD59-A6C34878D82A}">
                    <a16:rowId xmlns:a16="http://schemas.microsoft.com/office/drawing/2014/main" val="147692915"/>
                  </a:ext>
                </a:extLst>
              </a:tr>
              <a:tr h="729834">
                <a:tc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2</a:t>
                      </a:r>
                      <a:endParaRPr lang="es-MX" sz="1600" dirty="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Francia (PM) sin autoridad sobre Ingeniería y SI</a:t>
                      </a:r>
                      <a:endParaRPr lang="es-MX" sz="1600" dirty="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Baja tracción en compromisos y fechas</a:t>
                      </a:r>
                      <a:endParaRPr lang="es-MX" sz="1600" dirty="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3</a:t>
                      </a:r>
                      <a:endParaRPr lang="es-MX" sz="1600" dirty="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4</a:t>
                      </a:r>
                      <a:endParaRPr lang="es-MX" sz="1600" dirty="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/>
                        <a:t>12</a:t>
                      </a:r>
                      <a:endParaRPr lang="es-MX" sz="160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>
                          <a:highlight>
                            <a:srgbClr val="FFFF00"/>
                          </a:highlight>
                        </a:rPr>
                        <a:t>Medio</a:t>
                      </a:r>
                      <a:endParaRPr lang="es-MX" sz="1600" dirty="0"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extLst>
                  <a:ext uri="{0D108BD9-81ED-4DB2-BD59-A6C34878D82A}">
                    <a16:rowId xmlns:a16="http://schemas.microsoft.com/office/drawing/2014/main" val="716674961"/>
                  </a:ext>
                </a:extLst>
              </a:tr>
              <a:tr h="589495">
                <a:tc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3</a:t>
                      </a:r>
                      <a:endParaRPr lang="es-MX" sz="1600" dirty="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r>
                        <a:rPr lang="es-MX" sz="1600" dirty="0" err="1"/>
                        <a:t>Karvm</a:t>
                      </a:r>
                      <a:r>
                        <a:rPr lang="es-MX" sz="1600" dirty="0"/>
                        <a:t> sobrecargada con múltiples funciones</a:t>
                      </a:r>
                      <a:endParaRPr lang="es-MX" sz="1600" dirty="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Sobrecarga operativa y errores</a:t>
                      </a:r>
                      <a:endParaRPr lang="es-MX" sz="1600" dirty="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4</a:t>
                      </a:r>
                      <a:endParaRPr lang="es-MX" sz="1600" dirty="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4</a:t>
                      </a:r>
                      <a:endParaRPr lang="es-MX" sz="1600" dirty="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16</a:t>
                      </a:r>
                      <a:endParaRPr lang="es-MX" sz="1600" dirty="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>
                          <a:highlight>
                            <a:srgbClr val="FF0000"/>
                          </a:highlight>
                        </a:rPr>
                        <a:t>Alto</a:t>
                      </a:r>
                      <a:endParaRPr lang="es-MX" sz="1600" dirty="0">
                        <a:highlight>
                          <a:srgbClr val="FF0000"/>
                        </a:highlight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extLst>
                  <a:ext uri="{0D108BD9-81ED-4DB2-BD59-A6C34878D82A}">
                    <a16:rowId xmlns:a16="http://schemas.microsoft.com/office/drawing/2014/main" val="4025214864"/>
                  </a:ext>
                </a:extLst>
              </a:tr>
              <a:tr h="696263">
                <a:tc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4</a:t>
                      </a:r>
                      <a:endParaRPr lang="es-MX" sz="1600" dirty="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r>
                        <a:rPr lang="es-MX" sz="1600"/>
                        <a:t>Compras a cargo de Harvey sin canal único</a:t>
                      </a:r>
                      <a:endParaRPr lang="es-MX" sz="160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Desorden en requisiciones, baja trazabilidad</a:t>
                      </a:r>
                      <a:endParaRPr lang="es-MX" sz="1600" dirty="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3</a:t>
                      </a:r>
                      <a:endParaRPr lang="es-MX" sz="1600" dirty="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3</a:t>
                      </a:r>
                      <a:endParaRPr lang="es-MX" sz="1600" dirty="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/>
                        <a:t>9</a:t>
                      </a:r>
                      <a:endParaRPr lang="es-MX" sz="160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>
                          <a:highlight>
                            <a:srgbClr val="FFFF00"/>
                          </a:highlight>
                        </a:rPr>
                        <a:t>Medio</a:t>
                      </a:r>
                      <a:endParaRPr lang="es-MX" sz="1600" dirty="0"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extLst>
                  <a:ext uri="{0D108BD9-81ED-4DB2-BD59-A6C34878D82A}">
                    <a16:rowId xmlns:a16="http://schemas.microsoft.com/office/drawing/2014/main" val="1593707525"/>
                  </a:ext>
                </a:extLst>
              </a:tr>
              <a:tr h="589495">
                <a:tc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5</a:t>
                      </a:r>
                      <a:endParaRPr lang="es-MX" sz="1600" dirty="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r>
                        <a:rPr lang="es-MX" sz="1600"/>
                        <a:t>Sin procedimiento de salida de materiales</a:t>
                      </a:r>
                      <a:endParaRPr lang="es-MX" sz="160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r>
                        <a:rPr lang="es-MX" sz="1600" dirty="0"/>
                        <a:t>Costos no trazables, riesgo financiero</a:t>
                      </a:r>
                      <a:endParaRPr lang="es-MX" sz="1600" dirty="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>
                          <a:latin typeface="+mn-lt"/>
                        </a:rPr>
                        <a:t>3</a:t>
                      </a: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>
                          <a:latin typeface="+mn-lt"/>
                        </a:rPr>
                        <a:t>5</a:t>
                      </a: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15</a:t>
                      </a:r>
                      <a:endParaRPr lang="es-MX" sz="1600" dirty="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>
                          <a:highlight>
                            <a:srgbClr val="FF0000"/>
                          </a:highlight>
                        </a:rPr>
                        <a:t>Alto</a:t>
                      </a:r>
                      <a:endParaRPr lang="es-MX" sz="1600" dirty="0">
                        <a:highlight>
                          <a:srgbClr val="FF0000"/>
                        </a:highlight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extLst>
                  <a:ext uri="{0D108BD9-81ED-4DB2-BD59-A6C34878D82A}">
                    <a16:rowId xmlns:a16="http://schemas.microsoft.com/office/drawing/2014/main" val="3613139984"/>
                  </a:ext>
                </a:extLst>
              </a:tr>
              <a:tr h="729834">
                <a:tc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6</a:t>
                      </a:r>
                      <a:endParaRPr lang="es-MX" sz="1600" dirty="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r>
                        <a:rPr lang="es-MX" sz="1600"/>
                        <a:t>Procesos inter-áreas no estandarizado</a:t>
                      </a:r>
                      <a:endParaRPr lang="es-MX" sz="160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r>
                        <a:rPr lang="es-MX" sz="1600"/>
                        <a:t>Posibles retrasos y errores</a:t>
                      </a:r>
                      <a:endParaRPr lang="es-MX" sz="160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/>
                        <a:t>4</a:t>
                      </a:r>
                      <a:endParaRPr lang="es-MX" sz="160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>
                          <a:latin typeface="+mn-lt"/>
                        </a:rPr>
                        <a:t>4</a:t>
                      </a: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>
                          <a:latin typeface="+mn-lt"/>
                        </a:rPr>
                        <a:t>16</a:t>
                      </a: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dirty="0">
                          <a:highlight>
                            <a:srgbClr val="FF0000"/>
                          </a:highlight>
                        </a:rPr>
                        <a:t>Alto</a:t>
                      </a:r>
                      <a:endParaRPr lang="es-MX" sz="1600" dirty="0">
                        <a:highlight>
                          <a:srgbClr val="FF0000"/>
                        </a:highlight>
                        <a:latin typeface="+mn-lt"/>
                      </a:endParaRPr>
                    </a:p>
                    <a:p>
                      <a:pPr algn="ctr"/>
                      <a:endParaRPr lang="es-MX" sz="1600" dirty="0"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extLst>
                  <a:ext uri="{0D108BD9-81ED-4DB2-BD59-A6C34878D82A}">
                    <a16:rowId xmlns:a16="http://schemas.microsoft.com/office/drawing/2014/main" val="3023513438"/>
                  </a:ext>
                </a:extLst>
              </a:tr>
              <a:tr h="589495">
                <a:tc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7</a:t>
                      </a:r>
                      <a:endParaRPr lang="es-MX" sz="1600" dirty="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r>
                        <a:rPr lang="es-MX" sz="1600"/>
                        <a:t>Sin formato para préstamos de demos</a:t>
                      </a:r>
                      <a:endParaRPr lang="es-MX" sz="160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r>
                        <a:rPr lang="es-MX" sz="1600"/>
                        <a:t>Pérdida/daño de equipos clave</a:t>
                      </a:r>
                      <a:endParaRPr lang="es-MX" sz="160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/>
                        <a:t>2</a:t>
                      </a:r>
                      <a:endParaRPr lang="es-MX" sz="160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4</a:t>
                      </a:r>
                      <a:endParaRPr lang="es-MX" sz="1600" dirty="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/>
                        <a:t>8</a:t>
                      </a:r>
                      <a:endParaRPr lang="es-MX" sz="1600" dirty="0"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dirty="0">
                          <a:highlight>
                            <a:srgbClr val="FFFF00"/>
                          </a:highlight>
                        </a:rPr>
                        <a:t>Medio</a:t>
                      </a:r>
                      <a:endParaRPr lang="es-MX" sz="1600" dirty="0">
                        <a:highlight>
                          <a:srgbClr val="FFFF00"/>
                        </a:highlight>
                        <a:latin typeface="+mn-lt"/>
                      </a:endParaRPr>
                    </a:p>
                  </a:txBody>
                  <a:tcPr marL="48891" marR="48891" marT="24446" marB="24446" anchor="ctr"/>
                </a:tc>
                <a:extLst>
                  <a:ext uri="{0D108BD9-81ED-4DB2-BD59-A6C34878D82A}">
                    <a16:rowId xmlns:a16="http://schemas.microsoft.com/office/drawing/2014/main" val="39324267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1AB0E658-78D4-B6BC-0578-FE7F068938EF}"/>
              </a:ext>
            </a:extLst>
          </p:cNvPr>
          <p:cNvSpPr txBox="1"/>
          <p:nvPr/>
        </p:nvSpPr>
        <p:spPr>
          <a:xfrm>
            <a:off x="1160207" y="1181855"/>
            <a:ext cx="37067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/>
              <a:t>1–5 Bajo, 6–12 Medio, 13–25 Alto</a:t>
            </a:r>
          </a:p>
        </p:txBody>
      </p:sp>
    </p:spTree>
    <p:extLst>
      <p:ext uri="{BB962C8B-B14F-4D97-AF65-F5344CB8AC3E}">
        <p14:creationId xmlns:p14="http://schemas.microsoft.com/office/powerpoint/2010/main" val="3862190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4975" y="219312"/>
            <a:ext cx="9682050" cy="938476"/>
          </a:xfrm>
        </p:spPr>
        <p:txBody>
          <a:bodyPr rtlCol="0">
            <a:normAutofit/>
          </a:bodyPr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OBJETIVOS DE LA PROPUESTA </a:t>
            </a:r>
          </a:p>
        </p:txBody>
      </p:sp>
      <p:sp>
        <p:nvSpPr>
          <p:cNvPr id="20" name="Marcador de pie de página 4">
            <a:extLst>
              <a:ext uri="{FF2B5EF4-FFF2-40B4-BE49-F238E27FC236}">
                <a16:creationId xmlns:a16="http://schemas.microsoft.com/office/drawing/2014/main" id="{391D3201-20F9-4DD7-B4EB-F41AF17CA42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42452" y="6356350"/>
            <a:ext cx="3672348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l"/>
            <a:r>
              <a:rPr lang="es-MX" dirty="0"/>
              <a:t>HTL Electronics </a:t>
            </a:r>
          </a:p>
        </p:txBody>
      </p:sp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5" y="6356350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6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9C4054E-7149-9BAA-C295-641891BEE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017AC109-3CEE-C476-3A35-7E9626E0F8B3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7D9C17E3-1C32-22D1-6787-DE1BA42A4763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B1412656-E69F-B20C-148B-44D5F401A11B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3839069C-68FA-B910-C93D-32FE2E079C38}"/>
              </a:ext>
            </a:extLst>
          </p:cNvPr>
          <p:cNvSpPr txBox="1">
            <a:spLocks/>
          </p:cNvSpPr>
          <p:nvPr/>
        </p:nvSpPr>
        <p:spPr>
          <a:xfrm>
            <a:off x="717756" y="1897056"/>
            <a:ext cx="11021960" cy="35795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dirty="0"/>
              <a:t>✅ Claridad de responsabilidades (RACI) y empoderamiento de mandos medios.</a:t>
            </a:r>
          </a:p>
          <a:p>
            <a:pPr marL="0" indent="0">
              <a:buNone/>
            </a:pPr>
            <a:r>
              <a:rPr lang="es-MX" dirty="0"/>
              <a:t>✅ Canal único de requisiciones con trazabilidad de costos por proyecto.</a:t>
            </a:r>
          </a:p>
          <a:p>
            <a:pPr marL="0" indent="0">
              <a:buNone/>
            </a:pPr>
            <a:r>
              <a:rPr lang="es-MX" dirty="0"/>
              <a:t>✅ Estandarizar ciclo de vida de proyectos (</a:t>
            </a:r>
            <a:r>
              <a:rPr lang="es-MX" dirty="0" err="1"/>
              <a:t>Stage</a:t>
            </a:r>
            <a:r>
              <a:rPr lang="es-MX" dirty="0"/>
              <a:t>-Gate) con hitos y control de cambios.</a:t>
            </a:r>
          </a:p>
          <a:p>
            <a:pPr marL="0" indent="0">
              <a:buNone/>
            </a:pPr>
            <a:r>
              <a:rPr lang="es-MX" dirty="0"/>
              <a:t>✅ Control operativo de demos, materiales y servicios mediante </a:t>
            </a:r>
            <a:r>
              <a:rPr lang="es-MX" dirty="0" err="1"/>
              <a:t>SLAs</a:t>
            </a:r>
            <a:r>
              <a:rPr lang="es-MX" dirty="0"/>
              <a:t> y </a:t>
            </a:r>
            <a:r>
              <a:rPr lang="es-MX" dirty="0" err="1"/>
              <a:t>KPIs</a:t>
            </a:r>
            <a:r>
              <a:rPr lang="es-MX" dirty="0"/>
              <a:t>.</a:t>
            </a:r>
          </a:p>
          <a:p>
            <a:pPr marL="0" indent="0">
              <a:buNone/>
            </a:pPr>
            <a:r>
              <a:rPr lang="es-MX" dirty="0"/>
              <a:t>✅ Separación efectiva de proyectos vs. productos estandarizados para escalar.</a:t>
            </a:r>
          </a:p>
          <a:p>
            <a:pPr marL="0" indent="0">
              <a:buNone/>
            </a:pPr>
            <a:r>
              <a:rPr lang="es-MX" dirty="0"/>
              <a:t>✅ Mayor autonomía operativa local sin perder control financiero binacional.</a:t>
            </a:r>
          </a:p>
        </p:txBody>
      </p:sp>
    </p:spTree>
    <p:extLst>
      <p:ext uri="{BB962C8B-B14F-4D97-AF65-F5344CB8AC3E}">
        <p14:creationId xmlns:p14="http://schemas.microsoft.com/office/powerpoint/2010/main" val="3570380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4975" y="219312"/>
            <a:ext cx="9682050" cy="938476"/>
          </a:xfrm>
        </p:spPr>
        <p:txBody>
          <a:bodyPr rtlCol="0">
            <a:normAutofit/>
          </a:bodyPr>
          <a:lstStyle/>
          <a:p>
            <a:pPr algn="ctr"/>
            <a:r>
              <a:rPr lang="es-MX" b="1" kern="100" dirty="0">
                <a:solidFill>
                  <a:srgbClr val="000000"/>
                </a:solidFill>
                <a:effectLst/>
                <a:latin typeface="+mn-lt"/>
                <a:ea typeface="Arial" panose="020B0604020202020204" pitchFamily="34" charset="0"/>
              </a:rPr>
              <a:t>GOBERNANZA Y RACI DE ALTO NIVEL</a:t>
            </a:r>
            <a:endParaRPr lang="es-MX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0" name="Marcador de pie de página 4">
            <a:extLst>
              <a:ext uri="{FF2B5EF4-FFF2-40B4-BE49-F238E27FC236}">
                <a16:creationId xmlns:a16="http://schemas.microsoft.com/office/drawing/2014/main" id="{391D3201-20F9-4DD7-B4EB-F41AF17CA42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42452" y="6356350"/>
            <a:ext cx="3672348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l"/>
            <a:r>
              <a:rPr lang="es-MX" dirty="0"/>
              <a:t>HTL Electronics </a:t>
            </a:r>
          </a:p>
        </p:txBody>
      </p:sp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5" y="6356350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7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9C4054E-7149-9BAA-C295-641891BEE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017AC109-3CEE-C476-3A35-7E9626E0F8B3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7D9C17E3-1C32-22D1-6787-DE1BA42A4763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B1412656-E69F-B20C-148B-44D5F401A11B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3839069C-68FA-B910-C93D-32FE2E079C38}"/>
              </a:ext>
            </a:extLst>
          </p:cNvPr>
          <p:cNvSpPr txBox="1">
            <a:spLocks/>
          </p:cNvSpPr>
          <p:nvPr/>
        </p:nvSpPr>
        <p:spPr>
          <a:xfrm>
            <a:off x="787787" y="1870301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E256B46D-E353-945C-0720-69D79C97B8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190898"/>
              </p:ext>
            </p:extLst>
          </p:nvPr>
        </p:nvGraphicFramePr>
        <p:xfrm>
          <a:off x="833036" y="1870301"/>
          <a:ext cx="10931462" cy="4265023"/>
        </p:xfrm>
        <a:graphic>
          <a:graphicData uri="http://schemas.openxmlformats.org/drawingml/2006/table">
            <a:tbl>
              <a:tblPr>
                <a:tableStyleId>{125E5076-3810-47DD-B79F-674D7AD40C01}</a:tableStyleId>
              </a:tblPr>
              <a:tblGrid>
                <a:gridCol w="2518982">
                  <a:extLst>
                    <a:ext uri="{9D8B030D-6E8A-4147-A177-3AD203B41FA5}">
                      <a16:colId xmlns:a16="http://schemas.microsoft.com/office/drawing/2014/main" val="155699744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18953027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9477598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9848715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70215536"/>
                    </a:ext>
                  </a:extLst>
                </a:gridCol>
              </a:tblGrid>
              <a:tr h="320583"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>
                          <a:solidFill>
                            <a:schemeClr val="bg1"/>
                          </a:solidFill>
                        </a:rPr>
                        <a:t>Decisión clave</a:t>
                      </a:r>
                      <a:endParaRPr lang="es-MX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>
                          <a:solidFill>
                            <a:schemeClr val="bg1"/>
                          </a:solidFill>
                        </a:rPr>
                        <a:t>A (Aprueba)</a:t>
                      </a:r>
                      <a:endParaRPr lang="es-MX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>
                          <a:solidFill>
                            <a:schemeClr val="bg1"/>
                          </a:solidFill>
                        </a:rPr>
                        <a:t>R (Responsable)</a:t>
                      </a:r>
                      <a:endParaRPr lang="es-MX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>
                          <a:solidFill>
                            <a:schemeClr val="bg1"/>
                          </a:solidFill>
                        </a:rPr>
                        <a:t>C (Consultado)</a:t>
                      </a:r>
                      <a:endParaRPr lang="es-MX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>
                          <a:solidFill>
                            <a:schemeClr val="bg1"/>
                          </a:solidFill>
                        </a:rPr>
                        <a:t>I (Informado)</a:t>
                      </a:r>
                      <a:endParaRPr lang="es-MX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33233339"/>
                  </a:ext>
                </a:extLst>
              </a:tr>
              <a:tr h="553734">
                <a:tc>
                  <a:txBody>
                    <a:bodyPr/>
                    <a:lstStyle/>
                    <a:p>
                      <a:r>
                        <a:rPr lang="es-MX" sz="1600" b="1" dirty="0">
                          <a:solidFill>
                            <a:schemeClr val="tx1"/>
                          </a:solidFill>
                        </a:rPr>
                        <a:t>Comercial / Marcas</a:t>
                      </a:r>
                      <a:endParaRPr lang="es-MX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solidFill>
                            <a:schemeClr val="tx1"/>
                          </a:solidFill>
                        </a:rPr>
                        <a:t>Juan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solidFill>
                            <a:schemeClr val="tx1"/>
                          </a:solidFill>
                        </a:rPr>
                        <a:t>Judith / Anahí / Thelma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solidFill>
                            <a:schemeClr val="tx1"/>
                          </a:solidFill>
                        </a:rPr>
                        <a:t>Xavier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 err="1">
                          <a:solidFill>
                            <a:schemeClr val="tx1"/>
                          </a:solidFill>
                        </a:rPr>
                        <a:t>Karym</a:t>
                      </a:r>
                      <a:endParaRPr lang="es-MX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381068"/>
                  </a:ext>
                </a:extLst>
              </a:tr>
              <a:tr h="553734">
                <a:tc>
                  <a:txBody>
                    <a:bodyPr/>
                    <a:lstStyle/>
                    <a:p>
                      <a:r>
                        <a:rPr lang="es-MX" sz="1600" b="1" dirty="0">
                          <a:solidFill>
                            <a:schemeClr val="tx1"/>
                          </a:solidFill>
                        </a:rPr>
                        <a:t>Proyectos (ejecución)</a:t>
                      </a:r>
                      <a:endParaRPr lang="es-MX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solidFill>
                            <a:schemeClr val="tx1"/>
                          </a:solidFill>
                        </a:rPr>
                        <a:t>Francia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solidFill>
                            <a:schemeClr val="tx1"/>
                          </a:solidFill>
                        </a:rPr>
                        <a:t>Ramón / </a:t>
                      </a:r>
                      <a:r>
                        <a:rPr lang="es-MX" sz="1600" dirty="0" err="1">
                          <a:solidFill>
                            <a:schemeClr val="tx1"/>
                          </a:solidFill>
                        </a:rPr>
                        <a:t>Seferino</a:t>
                      </a:r>
                      <a:r>
                        <a:rPr lang="es-MX" sz="1600" dirty="0">
                          <a:solidFill>
                            <a:schemeClr val="tx1"/>
                          </a:solidFill>
                        </a:rPr>
                        <a:t> / Miguel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solidFill>
                            <a:schemeClr val="tx1"/>
                          </a:solidFill>
                        </a:rPr>
                        <a:t>Xavier / Juan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 err="1">
                          <a:solidFill>
                            <a:schemeClr val="tx1"/>
                          </a:solidFill>
                        </a:rPr>
                        <a:t>Karym</a:t>
                      </a:r>
                      <a:r>
                        <a:rPr lang="es-MX" sz="1600" dirty="0">
                          <a:solidFill>
                            <a:schemeClr val="tx1"/>
                          </a:solidFill>
                        </a:rPr>
                        <a:t> / Pavel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346791"/>
                  </a:ext>
                </a:extLst>
              </a:tr>
              <a:tr h="786886">
                <a:tc>
                  <a:txBody>
                    <a:bodyPr/>
                    <a:lstStyle/>
                    <a:p>
                      <a:r>
                        <a:rPr lang="es-MX" sz="1600" b="1" dirty="0">
                          <a:solidFill>
                            <a:schemeClr val="tx1"/>
                          </a:solidFill>
                        </a:rPr>
                        <a:t>Compras estratégicas</a:t>
                      </a:r>
                      <a:endParaRPr lang="es-MX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solidFill>
                            <a:schemeClr val="tx1"/>
                          </a:solidFill>
                        </a:rPr>
                        <a:t>Harvey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solidFill>
                            <a:schemeClr val="tx1"/>
                          </a:solidFill>
                        </a:rPr>
                        <a:t>-Francia-(requisición)</a:t>
                      </a:r>
                    </a:p>
                    <a:p>
                      <a:r>
                        <a:rPr lang="es-MX" sz="160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s-MX" sz="1600" dirty="0" err="1">
                          <a:solidFill>
                            <a:schemeClr val="tx1"/>
                          </a:solidFill>
                        </a:rPr>
                        <a:t>Karym</a:t>
                      </a:r>
                      <a:r>
                        <a:rPr lang="es-MX" sz="1600" dirty="0">
                          <a:solidFill>
                            <a:schemeClr val="tx1"/>
                          </a:solidFill>
                        </a:rPr>
                        <a:t>-(pago)</a:t>
                      </a:r>
                    </a:p>
                    <a:p>
                      <a:r>
                        <a:rPr lang="es-MX" sz="1600" dirty="0">
                          <a:solidFill>
                            <a:schemeClr val="tx1"/>
                          </a:solidFill>
                        </a:rPr>
                        <a:t>-Pavel-(recepción)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 err="1">
                          <a:solidFill>
                            <a:schemeClr val="tx1"/>
                          </a:solidFill>
                        </a:rPr>
                        <a:t>Seferino</a:t>
                      </a:r>
                      <a:endParaRPr lang="es-MX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solidFill>
                            <a:schemeClr val="tx1"/>
                          </a:solidFill>
                        </a:rPr>
                        <a:t>Xavier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85639"/>
                  </a:ext>
                </a:extLst>
              </a:tr>
              <a:tr h="1020037">
                <a:tc>
                  <a:txBody>
                    <a:bodyPr/>
                    <a:lstStyle/>
                    <a:p>
                      <a:r>
                        <a:rPr lang="es-MX" sz="1600" b="1" dirty="0">
                          <a:solidFill>
                            <a:schemeClr val="tx1"/>
                          </a:solidFill>
                        </a:rPr>
                        <a:t>Compras operativas locales</a:t>
                      </a:r>
                      <a:endParaRPr lang="es-MX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 err="1">
                          <a:solidFill>
                            <a:schemeClr val="tx1"/>
                          </a:solidFill>
                        </a:rPr>
                        <a:t>Karym</a:t>
                      </a:r>
                      <a:endParaRPr lang="es-MX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solidFill>
                            <a:schemeClr val="tx1"/>
                          </a:solidFill>
                        </a:rPr>
                        <a:t>-Francia-(requisición)</a:t>
                      </a:r>
                    </a:p>
                    <a:p>
                      <a:r>
                        <a:rPr lang="es-MX" sz="160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s-MX" sz="1600" dirty="0" err="1">
                          <a:solidFill>
                            <a:schemeClr val="tx1"/>
                          </a:solidFill>
                        </a:rPr>
                        <a:t>Karym</a:t>
                      </a:r>
                      <a:r>
                        <a:rPr lang="es-MX" sz="1600" dirty="0">
                          <a:solidFill>
                            <a:schemeClr val="tx1"/>
                          </a:solidFill>
                        </a:rPr>
                        <a:t>-(pago)</a:t>
                      </a:r>
                    </a:p>
                    <a:p>
                      <a:r>
                        <a:rPr lang="es-MX" sz="1600" dirty="0">
                          <a:solidFill>
                            <a:schemeClr val="tx1"/>
                          </a:solidFill>
                        </a:rPr>
                        <a:t>-Pavel-(recepción)</a:t>
                      </a:r>
                    </a:p>
                    <a:p>
                      <a:endParaRPr lang="es-MX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solidFill>
                            <a:schemeClr val="tx1"/>
                          </a:solidFill>
                        </a:rPr>
                        <a:t>Francia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solidFill>
                            <a:schemeClr val="tx1"/>
                          </a:solidFill>
                        </a:rPr>
                        <a:t>Harvey / Xavier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3387404"/>
                  </a:ext>
                </a:extLst>
              </a:tr>
              <a:tr h="881743">
                <a:tc>
                  <a:txBody>
                    <a:bodyPr/>
                    <a:lstStyle/>
                    <a:p>
                      <a:r>
                        <a:rPr lang="es-MX" sz="1600" b="1" dirty="0">
                          <a:solidFill>
                            <a:schemeClr val="tx1"/>
                          </a:solidFill>
                        </a:rPr>
                        <a:t>Compras USA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solidFill>
                            <a:schemeClr val="tx1"/>
                          </a:solidFill>
                        </a:rPr>
                        <a:t>Harvey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solidFill>
                            <a:schemeClr val="tx1"/>
                          </a:solidFill>
                        </a:rPr>
                        <a:t>-Francia-(requisición)</a:t>
                      </a:r>
                    </a:p>
                    <a:p>
                      <a:r>
                        <a:rPr lang="es-MX" sz="160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s-MX" sz="1600" dirty="0" err="1">
                          <a:solidFill>
                            <a:schemeClr val="tx1"/>
                          </a:solidFill>
                        </a:rPr>
                        <a:t>Karym</a:t>
                      </a:r>
                      <a:r>
                        <a:rPr lang="es-MX" sz="1600" dirty="0">
                          <a:solidFill>
                            <a:schemeClr val="tx1"/>
                          </a:solidFill>
                        </a:rPr>
                        <a:t>-(pago)</a:t>
                      </a:r>
                    </a:p>
                    <a:p>
                      <a:r>
                        <a:rPr lang="es-MX" sz="1600" dirty="0">
                          <a:solidFill>
                            <a:schemeClr val="tx1"/>
                          </a:solidFill>
                        </a:rPr>
                        <a:t>-Pavel-(recepción)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>
                          <a:solidFill>
                            <a:schemeClr val="tx1"/>
                          </a:solidFill>
                        </a:rPr>
                        <a:t>Francia 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00" dirty="0" err="1">
                          <a:solidFill>
                            <a:schemeClr val="tx1"/>
                          </a:solidFill>
                        </a:rPr>
                        <a:t>Karym</a:t>
                      </a:r>
                      <a:r>
                        <a:rPr lang="es-MX" sz="1600">
                          <a:solidFill>
                            <a:schemeClr val="tx1"/>
                          </a:solidFill>
                        </a:rPr>
                        <a:t>/Xavier</a:t>
                      </a:r>
                      <a:endParaRPr lang="es-MX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064165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58B83B6C-AAC0-1DAB-08EB-A8792A870790}"/>
              </a:ext>
            </a:extLst>
          </p:cNvPr>
          <p:cNvSpPr txBox="1"/>
          <p:nvPr/>
        </p:nvSpPr>
        <p:spPr>
          <a:xfrm>
            <a:off x="888613" y="1396448"/>
            <a:ext cx="10400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Clr>
                <a:schemeClr val="accent5"/>
              </a:buClr>
              <a:buFont typeface="Wingdings" panose="05000000000000000000" pitchFamily="2" charset="2"/>
              <a:buChar char="§"/>
            </a:pPr>
            <a:r>
              <a:rPr lang="es-MX" b="1" dirty="0"/>
              <a:t>Comité directivo local (semanal): Xavier (</a:t>
            </a:r>
            <a:r>
              <a:rPr lang="es-MX" b="1" dirty="0" err="1"/>
              <a:t>chair</a:t>
            </a:r>
            <a:r>
              <a:rPr lang="es-MX" b="1" dirty="0"/>
              <a:t>), </a:t>
            </a:r>
            <a:r>
              <a:rPr lang="es-MX" b="1" dirty="0" err="1"/>
              <a:t>Karym</a:t>
            </a:r>
            <a:r>
              <a:rPr lang="es-MX" b="1" dirty="0"/>
              <a:t>, Juan, Francia, Ramón, </a:t>
            </a:r>
            <a:r>
              <a:rPr lang="es-MX" b="1" dirty="0" err="1"/>
              <a:t>Seferino</a:t>
            </a:r>
            <a:r>
              <a:rPr lang="es-MX" b="1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89472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381" y="1012271"/>
            <a:ext cx="9682050" cy="938476"/>
          </a:xfrm>
        </p:spPr>
        <p:txBody>
          <a:bodyPr rtlCol="0">
            <a:normAutofit fontScale="90000"/>
          </a:bodyPr>
          <a:lstStyle/>
          <a:p>
            <a:pPr algn="ctr"/>
            <a:r>
              <a:rPr lang="es-MX" dirty="0">
                <a:solidFill>
                  <a:schemeClr val="tx1"/>
                </a:solidFill>
                <a:latin typeface="+mn-lt"/>
              </a:rPr>
              <a:t>SOP 1-COTIZACIONES </a:t>
            </a:r>
            <a:r>
              <a:rPr lang="es-MX" b="1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(distribución, proyectos y componentes)</a:t>
            </a:r>
            <a:br>
              <a:rPr lang="es-MX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sp>
        <p:nvSpPr>
          <p:cNvPr id="20" name="Marcador de pie de página 4">
            <a:extLst>
              <a:ext uri="{FF2B5EF4-FFF2-40B4-BE49-F238E27FC236}">
                <a16:creationId xmlns:a16="http://schemas.microsoft.com/office/drawing/2014/main" id="{391D3201-20F9-4DD7-B4EB-F41AF17CA42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42452" y="6356350"/>
            <a:ext cx="3672348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l"/>
            <a:r>
              <a:rPr lang="es-MX" dirty="0"/>
              <a:t>HTL Electronics </a:t>
            </a:r>
          </a:p>
        </p:txBody>
      </p:sp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5" y="6356350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8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9C4054E-7149-9BAA-C295-641891BEE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017AC109-3CEE-C476-3A35-7E9626E0F8B3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7D9C17E3-1C32-22D1-6787-DE1BA42A4763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B1412656-E69F-B20C-148B-44D5F401A11B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3839069C-68FA-B910-C93D-32FE2E079C38}"/>
              </a:ext>
            </a:extLst>
          </p:cNvPr>
          <p:cNvSpPr txBox="1">
            <a:spLocks/>
          </p:cNvSpPr>
          <p:nvPr/>
        </p:nvSpPr>
        <p:spPr>
          <a:xfrm>
            <a:off x="817283" y="1870301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4D2721A-7771-55F4-99C0-C6BFF631AAD4}"/>
              </a:ext>
            </a:extLst>
          </p:cNvPr>
          <p:cNvSpPr txBox="1"/>
          <p:nvPr/>
        </p:nvSpPr>
        <p:spPr>
          <a:xfrm>
            <a:off x="943897" y="1761762"/>
            <a:ext cx="162232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Objetivo: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EC04D24-5476-F37A-2E46-227BB703439B}"/>
              </a:ext>
            </a:extLst>
          </p:cNvPr>
          <p:cNvSpPr txBox="1"/>
          <p:nvPr/>
        </p:nvSpPr>
        <p:spPr>
          <a:xfrm>
            <a:off x="943897" y="3249714"/>
            <a:ext cx="162232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Alcance: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4227CAC-F530-C045-BC7E-DB5243871BC9}"/>
              </a:ext>
            </a:extLst>
          </p:cNvPr>
          <p:cNvSpPr txBox="1"/>
          <p:nvPr/>
        </p:nvSpPr>
        <p:spPr>
          <a:xfrm>
            <a:off x="984788" y="5000341"/>
            <a:ext cx="162232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Disparador: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0BC31C4-169B-5B87-B3B5-2A1E6EC2FB3C}"/>
              </a:ext>
            </a:extLst>
          </p:cNvPr>
          <p:cNvSpPr txBox="1"/>
          <p:nvPr/>
        </p:nvSpPr>
        <p:spPr>
          <a:xfrm>
            <a:off x="6570432" y="1768736"/>
            <a:ext cx="1472354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 err="1">
                <a:solidFill>
                  <a:schemeClr val="bg1"/>
                </a:solidFill>
              </a:rPr>
              <a:t>SLAs</a:t>
            </a:r>
            <a:r>
              <a:rPr lang="es-MX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6912978-6197-996C-1AE6-862DBE71FA50}"/>
              </a:ext>
            </a:extLst>
          </p:cNvPr>
          <p:cNvSpPr txBox="1"/>
          <p:nvPr/>
        </p:nvSpPr>
        <p:spPr>
          <a:xfrm>
            <a:off x="6528224" y="3249714"/>
            <a:ext cx="1472355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 err="1">
                <a:solidFill>
                  <a:schemeClr val="bg1"/>
                </a:solidFill>
              </a:rPr>
              <a:t>KPIs</a:t>
            </a:r>
            <a:r>
              <a:rPr lang="es-MX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1197297-23DE-FCD5-1D5E-787B712B946A}"/>
              </a:ext>
            </a:extLst>
          </p:cNvPr>
          <p:cNvSpPr txBox="1"/>
          <p:nvPr/>
        </p:nvSpPr>
        <p:spPr>
          <a:xfrm>
            <a:off x="6528224" y="5022980"/>
            <a:ext cx="327414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Entradas requeridas: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B073204-3245-A50B-D830-96DE85BBA10A}"/>
              </a:ext>
            </a:extLst>
          </p:cNvPr>
          <p:cNvSpPr txBox="1"/>
          <p:nvPr/>
        </p:nvSpPr>
        <p:spPr>
          <a:xfrm>
            <a:off x="859280" y="2296047"/>
            <a:ext cx="4729316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Estandarizar la generación, revisión y entrega de cotizaciones con trazabilidad y márgenes definidos.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7E61492-6986-64C2-C59F-7BFF7D67312C}"/>
              </a:ext>
            </a:extLst>
          </p:cNvPr>
          <p:cNvSpPr txBox="1"/>
          <p:nvPr/>
        </p:nvSpPr>
        <p:spPr>
          <a:xfrm>
            <a:off x="721629" y="3890143"/>
            <a:ext cx="472931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Aplica a </a:t>
            </a:r>
            <a:r>
              <a:rPr lang="es-MX" sz="1650" dirty="0" err="1"/>
              <a:t>Inside</a:t>
            </a:r>
            <a:r>
              <a:rPr lang="es-MX" sz="1650" dirty="0"/>
              <a:t> sales, </a:t>
            </a:r>
            <a:r>
              <a:rPr lang="es-MX" sz="1650" dirty="0" err="1"/>
              <a:t>brand</a:t>
            </a:r>
            <a:r>
              <a:rPr lang="es-MX" sz="1650" dirty="0"/>
              <a:t> leader, PM, dirección, </a:t>
            </a:r>
            <a:r>
              <a:rPr lang="es-MX" sz="1650" dirty="0" err="1"/>
              <a:t>field</a:t>
            </a:r>
            <a:r>
              <a:rPr lang="es-MX" sz="1650" dirty="0"/>
              <a:t> sales y seguridad.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E07BF94-4A56-CC86-544F-8F16139DD51F}"/>
              </a:ext>
            </a:extLst>
          </p:cNvPr>
          <p:cNvSpPr txBox="1"/>
          <p:nvPr/>
        </p:nvSpPr>
        <p:spPr>
          <a:xfrm>
            <a:off x="721629" y="5558877"/>
            <a:ext cx="472931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Solicitud del cliente o identificación de oportunidad por Ventas.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F46B31F-730E-981B-54A1-C7E9E431D6A7}"/>
              </a:ext>
            </a:extLst>
          </p:cNvPr>
          <p:cNvSpPr txBox="1"/>
          <p:nvPr/>
        </p:nvSpPr>
        <p:spPr>
          <a:xfrm>
            <a:off x="6473751" y="2190611"/>
            <a:ext cx="4729316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Cotización estándar: 2 a 3 días hábiles.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Proyecto a medida: 5 a 10 días hábiles (según complejidad).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BF21914-9C4C-D107-71C7-CA46EA79D12C}"/>
              </a:ext>
            </a:extLst>
          </p:cNvPr>
          <p:cNvSpPr txBox="1"/>
          <p:nvPr/>
        </p:nvSpPr>
        <p:spPr>
          <a:xfrm>
            <a:off x="6473751" y="3697561"/>
            <a:ext cx="40361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Tasa de éxito (% won).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Lead time de cotización.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Desviación margen cotizado vs. real.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N.º de iteraciones por oportunidad.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35769A4-8DCB-0302-5BF0-A97A281FAA39}"/>
              </a:ext>
            </a:extLst>
          </p:cNvPr>
          <p:cNvSpPr txBox="1"/>
          <p:nvPr/>
        </p:nvSpPr>
        <p:spPr>
          <a:xfrm>
            <a:off x="6476058" y="5422545"/>
            <a:ext cx="4976167" cy="136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 err="1"/>
              <a:t>Brief</a:t>
            </a:r>
            <a:r>
              <a:rPr lang="es-MX" sz="1650" dirty="0"/>
              <a:t> de oportunidad (</a:t>
            </a:r>
            <a:r>
              <a:rPr lang="es-MX" sz="1650"/>
              <a:t>cliente, alcance</a:t>
            </a:r>
            <a:r>
              <a:rPr lang="es-MX" sz="1650" dirty="0"/>
              <a:t>, fechas).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Lista preliminar de materiales/servicios requeridos.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Precios de lista UR/</a:t>
            </a:r>
            <a:r>
              <a:rPr lang="es-MX" sz="1650" dirty="0" err="1"/>
              <a:t>MiR</a:t>
            </a:r>
            <a:r>
              <a:rPr lang="es-MX" sz="1650" dirty="0"/>
              <a:t>/</a:t>
            </a:r>
            <a:r>
              <a:rPr lang="es-MX" sz="1650" dirty="0" err="1"/>
              <a:t>Robotiq</a:t>
            </a:r>
            <a:r>
              <a:rPr lang="es-MX" sz="1650" dirty="0"/>
              <a:t> y descuentos vigentes.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Costeo interno de horas de ingeniería y SI (tarifario).</a:t>
            </a:r>
          </a:p>
        </p:txBody>
      </p:sp>
    </p:spTree>
    <p:extLst>
      <p:ext uri="{BB962C8B-B14F-4D97-AF65-F5344CB8AC3E}">
        <p14:creationId xmlns:p14="http://schemas.microsoft.com/office/powerpoint/2010/main" val="3831711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381" y="1012271"/>
            <a:ext cx="9682050" cy="938476"/>
          </a:xfrm>
        </p:spPr>
        <p:txBody>
          <a:bodyPr rtlCol="0">
            <a:normAutofit fontScale="90000"/>
          </a:bodyPr>
          <a:lstStyle/>
          <a:p>
            <a:pPr algn="ctr"/>
            <a:r>
              <a:rPr lang="es-MX" dirty="0">
                <a:solidFill>
                  <a:schemeClr val="tx1"/>
                </a:solidFill>
                <a:latin typeface="+mn-lt"/>
              </a:rPr>
              <a:t>SOP 1-COTIZACIONES </a:t>
            </a:r>
            <a:r>
              <a:rPr lang="es-MX" b="1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(distribución, proyectos y componentes)</a:t>
            </a:r>
            <a:br>
              <a:rPr lang="es-MX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5" y="6356350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9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9C4054E-7149-9BAA-C295-641891BEE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017AC109-3CEE-C476-3A35-7E9626E0F8B3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7D9C17E3-1C32-22D1-6787-DE1BA42A4763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B1412656-E69F-B20C-148B-44D5F401A11B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3839069C-68FA-B910-C93D-32FE2E079C38}"/>
              </a:ext>
            </a:extLst>
          </p:cNvPr>
          <p:cNvSpPr txBox="1">
            <a:spLocks/>
          </p:cNvSpPr>
          <p:nvPr/>
        </p:nvSpPr>
        <p:spPr>
          <a:xfrm>
            <a:off x="817283" y="1870301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4D2721A-7771-55F4-99C0-C6BFF631AAD4}"/>
              </a:ext>
            </a:extLst>
          </p:cNvPr>
          <p:cNvSpPr txBox="1"/>
          <p:nvPr/>
        </p:nvSpPr>
        <p:spPr>
          <a:xfrm>
            <a:off x="943896" y="1761762"/>
            <a:ext cx="2497393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Controles y registros: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EC04D24-5476-F37A-2E46-227BB703439B}"/>
              </a:ext>
            </a:extLst>
          </p:cNvPr>
          <p:cNvSpPr txBox="1"/>
          <p:nvPr/>
        </p:nvSpPr>
        <p:spPr>
          <a:xfrm>
            <a:off x="7026528" y="1685635"/>
            <a:ext cx="2782529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Herramientas/formatos: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0BC31C4-169B-5B87-B3B5-2A1E6EC2FB3C}"/>
              </a:ext>
            </a:extLst>
          </p:cNvPr>
          <p:cNvSpPr txBox="1"/>
          <p:nvPr/>
        </p:nvSpPr>
        <p:spPr>
          <a:xfrm>
            <a:off x="5773361" y="3822683"/>
            <a:ext cx="1109803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RACI: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B073204-3245-A50B-D830-96DE85BBA10A}"/>
              </a:ext>
            </a:extLst>
          </p:cNvPr>
          <p:cNvSpPr txBox="1"/>
          <p:nvPr/>
        </p:nvSpPr>
        <p:spPr>
          <a:xfrm>
            <a:off x="859280" y="2296047"/>
            <a:ext cx="472931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Plantillas con control de versiones y firma digital.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Matriz de márgenes por categoría.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7E61492-6986-64C2-C59F-7BFF7D67312C}"/>
              </a:ext>
            </a:extLst>
          </p:cNvPr>
          <p:cNvSpPr txBox="1"/>
          <p:nvPr/>
        </p:nvSpPr>
        <p:spPr>
          <a:xfrm>
            <a:off x="7026528" y="2166588"/>
            <a:ext cx="4729316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ERP/CRM (registro de oportunidad y número).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Matriz de descuentos autorizados.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Repositorio técnico (catálogos, hojas de datos).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A74D7750-0A43-EF14-A20D-15F9E89584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724216"/>
              </p:ext>
            </p:extLst>
          </p:nvPr>
        </p:nvGraphicFramePr>
        <p:xfrm>
          <a:off x="1070463" y="4369744"/>
          <a:ext cx="10515600" cy="1440180"/>
        </p:xfrm>
        <a:graphic>
          <a:graphicData uri="http://schemas.openxmlformats.org/drawingml/2006/table">
            <a:tbl>
              <a:tblPr>
                <a:tableStyleId>{AF606853-7671-496A-8E4F-DF71F8EC918B}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5589176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4259143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42134557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1645977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154922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Actividad principal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/>
                        <a:t>A (Aprueba)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/>
                        <a:t>R (Responsable)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C (Consultado)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I (Informado)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8566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Cotización base / proyectos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-Juan (marca/condiciones)</a:t>
                      </a:r>
                    </a:p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-Xavier (descuentos especiales)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650" dirty="0">
                          <a:solidFill>
                            <a:schemeClr val="tx1"/>
                          </a:solidFill>
                        </a:rPr>
                        <a:t>-Thelma (base)</a:t>
                      </a:r>
                    </a:p>
                    <a:p>
                      <a:pPr algn="just"/>
                      <a:r>
                        <a:rPr lang="pt-BR" sz="1650" dirty="0">
                          <a:solidFill>
                            <a:schemeClr val="tx1"/>
                          </a:solidFill>
                        </a:rPr>
                        <a:t>-Judith / Anahí (comercial)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-Francia (alcance)</a:t>
                      </a:r>
                    </a:p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-Ramón / </a:t>
                      </a:r>
                      <a:r>
                        <a:rPr lang="es-MX" sz="1650" dirty="0" err="1">
                          <a:solidFill>
                            <a:schemeClr val="tx1"/>
                          </a:solidFill>
                        </a:rPr>
                        <a:t>Seferino</a:t>
                      </a:r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 / Miguel (técnico)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s-MX" sz="1650" dirty="0" err="1">
                          <a:solidFill>
                            <a:schemeClr val="tx1"/>
                          </a:solidFill>
                        </a:rPr>
                        <a:t>Karym</a:t>
                      </a:r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 (impacto financiero)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71193"/>
                  </a:ext>
                </a:extLst>
              </a:tr>
            </a:tbl>
          </a:graphicData>
        </a:graphic>
      </p:graphicFrame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966F7B17-62AC-C126-FAF6-FEF42B567C50}"/>
              </a:ext>
            </a:extLst>
          </p:cNvPr>
          <p:cNvSpPr txBox="1">
            <a:spLocks/>
          </p:cNvSpPr>
          <p:nvPr/>
        </p:nvSpPr>
        <p:spPr>
          <a:xfrm>
            <a:off x="442452" y="6356350"/>
            <a:ext cx="3672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s-mx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/>
              <a:t>HTL Electronics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82979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381" y="136525"/>
            <a:ext cx="9682050" cy="1613618"/>
          </a:xfrm>
        </p:spPr>
        <p:txBody>
          <a:bodyPr rtlCol="0">
            <a:normAutofit fontScale="90000"/>
          </a:bodyPr>
          <a:lstStyle/>
          <a:p>
            <a:pPr algn="ctr"/>
            <a:r>
              <a:rPr lang="es-MX" dirty="0">
                <a:solidFill>
                  <a:schemeClr val="tx1"/>
                </a:solidFill>
                <a:latin typeface="+mn-lt"/>
              </a:rPr>
              <a:t>SOP 1-COTIZACIONES </a:t>
            </a:r>
            <a:r>
              <a:rPr lang="es-MX" b="1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(distribución, </a:t>
            </a:r>
            <a:r>
              <a:rPr lang="es-MX" b="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proyectos y </a:t>
            </a:r>
            <a:r>
              <a:rPr lang="es-MX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componentes</a:t>
            </a:r>
            <a:r>
              <a:rPr lang="es-MX" b="1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  <a:br>
              <a:rPr lang="es-MX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5" y="6356350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10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9C4054E-7149-9BAA-C295-641891BEE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017AC109-3CEE-C476-3A35-7E9626E0F8B3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7D9C17E3-1C32-22D1-6787-DE1BA42A4763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B1412656-E69F-B20C-148B-44D5F401A11B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3839069C-68FA-B910-C93D-32FE2E079C38}"/>
              </a:ext>
            </a:extLst>
          </p:cNvPr>
          <p:cNvSpPr txBox="1">
            <a:spLocks/>
          </p:cNvSpPr>
          <p:nvPr/>
        </p:nvSpPr>
        <p:spPr>
          <a:xfrm>
            <a:off x="817283" y="1870301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2" name="Marcador de pie de página 4">
            <a:extLst>
              <a:ext uri="{FF2B5EF4-FFF2-40B4-BE49-F238E27FC236}">
                <a16:creationId xmlns:a16="http://schemas.microsoft.com/office/drawing/2014/main" id="{D4244ECB-AAD5-9450-60CB-A561DBB82841}"/>
              </a:ext>
            </a:extLst>
          </p:cNvPr>
          <p:cNvSpPr txBox="1">
            <a:spLocks/>
          </p:cNvSpPr>
          <p:nvPr/>
        </p:nvSpPr>
        <p:spPr>
          <a:xfrm>
            <a:off x="442452" y="6356350"/>
            <a:ext cx="3672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s-mx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/>
              <a:t>HTL Electronics </a:t>
            </a:r>
            <a:endParaRPr lang="es-MX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2657F13-E79C-CF24-A348-47002D65855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564"/>
          <a:stretch>
            <a:fillRect/>
          </a:stretch>
        </p:blipFill>
        <p:spPr>
          <a:xfrm>
            <a:off x="3713174" y="1273826"/>
            <a:ext cx="4643426" cy="544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83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FE15C-F925-D898-2ED3-9370329CD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>
            <a:extLst>
              <a:ext uri="{FF2B5EF4-FFF2-40B4-BE49-F238E27FC236}">
                <a16:creationId xmlns:a16="http://schemas.microsoft.com/office/drawing/2014/main" id="{27866E15-6F17-F06F-587E-526F4D99D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1381" y="136525"/>
            <a:ext cx="9682050" cy="1613618"/>
          </a:xfrm>
        </p:spPr>
        <p:txBody>
          <a:bodyPr rtlCol="0">
            <a:normAutofit fontScale="90000"/>
          </a:bodyPr>
          <a:lstStyle/>
          <a:p>
            <a:pPr algn="ctr"/>
            <a:r>
              <a:rPr lang="es-MX" dirty="0">
                <a:solidFill>
                  <a:schemeClr val="tx1"/>
                </a:solidFill>
                <a:latin typeface="+mn-lt"/>
              </a:rPr>
              <a:t>SOP 1-COTIZACIONES </a:t>
            </a:r>
            <a:r>
              <a:rPr lang="es-MX" b="1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(</a:t>
            </a:r>
            <a:r>
              <a:rPr lang="es-MX" b="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distribución,</a:t>
            </a:r>
            <a:r>
              <a:rPr lang="es-MX" b="1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s-MX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proyectos</a:t>
            </a:r>
            <a:r>
              <a:rPr lang="es-MX" b="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y componentes</a:t>
            </a:r>
            <a:r>
              <a:rPr lang="es-MX" b="1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)</a:t>
            </a:r>
            <a:br>
              <a:rPr lang="es-MX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A0978929-9CC2-17C7-A67F-67F75D4C38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5" y="6356350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11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989B650F-7A30-6A14-BF59-B8AD08E8C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79F947C5-C80E-88C3-346C-8CA105709B22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9E7D8BF5-0B53-C0FB-E75C-E0D6EE1697CD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B7F175D0-304A-E3CF-F53C-8DB102402280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6CB885BB-B01D-C753-938B-7FFC3AA22542}"/>
              </a:ext>
            </a:extLst>
          </p:cNvPr>
          <p:cNvSpPr txBox="1">
            <a:spLocks/>
          </p:cNvSpPr>
          <p:nvPr/>
        </p:nvSpPr>
        <p:spPr>
          <a:xfrm>
            <a:off x="817283" y="1870301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2" name="Marcador de pie de página 4">
            <a:extLst>
              <a:ext uri="{FF2B5EF4-FFF2-40B4-BE49-F238E27FC236}">
                <a16:creationId xmlns:a16="http://schemas.microsoft.com/office/drawing/2014/main" id="{ECE9D09C-9C7C-1C7F-BE15-89C9AA5FCFB3}"/>
              </a:ext>
            </a:extLst>
          </p:cNvPr>
          <p:cNvSpPr txBox="1">
            <a:spLocks/>
          </p:cNvSpPr>
          <p:nvPr/>
        </p:nvSpPr>
        <p:spPr>
          <a:xfrm>
            <a:off x="442452" y="6356350"/>
            <a:ext cx="3672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s-mx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/>
              <a:t>HTL Electronics </a:t>
            </a:r>
            <a:endParaRPr lang="es-MX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AE65186-605F-25B5-D511-908387E914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1156" y="1297576"/>
            <a:ext cx="7309687" cy="548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60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032" y="332493"/>
            <a:ext cx="9682050" cy="938476"/>
          </a:xfrm>
        </p:spPr>
        <p:txBody>
          <a:bodyPr rtlCol="0">
            <a:normAutofit fontScale="90000"/>
          </a:bodyPr>
          <a:lstStyle/>
          <a:p>
            <a:pPr algn="ctr"/>
            <a:r>
              <a:rPr lang="es-MX" dirty="0">
                <a:solidFill>
                  <a:schemeClr val="tx1"/>
                </a:solidFill>
                <a:latin typeface="+mn-lt"/>
              </a:rPr>
              <a:t>SOP 2-REQUISICIONES (canal único)</a:t>
            </a:r>
            <a:br>
              <a:rPr lang="es-MX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sp>
        <p:nvSpPr>
          <p:cNvPr id="20" name="Marcador de pie de página 4">
            <a:extLst>
              <a:ext uri="{FF2B5EF4-FFF2-40B4-BE49-F238E27FC236}">
                <a16:creationId xmlns:a16="http://schemas.microsoft.com/office/drawing/2014/main" id="{391D3201-20F9-4DD7-B4EB-F41AF17CA42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42452" y="6356350"/>
            <a:ext cx="3672348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l"/>
            <a:r>
              <a:rPr lang="es-MX" dirty="0"/>
              <a:t>HTL Electronics </a:t>
            </a:r>
          </a:p>
        </p:txBody>
      </p:sp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5" y="6356350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12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9C4054E-7149-9BAA-C295-641891BEE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017AC109-3CEE-C476-3A35-7E9626E0F8B3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7D9C17E3-1C32-22D1-6787-DE1BA42A4763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B1412656-E69F-B20C-148B-44D5F401A11B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3839069C-68FA-B910-C93D-32FE2E079C38}"/>
              </a:ext>
            </a:extLst>
          </p:cNvPr>
          <p:cNvSpPr txBox="1">
            <a:spLocks/>
          </p:cNvSpPr>
          <p:nvPr/>
        </p:nvSpPr>
        <p:spPr>
          <a:xfrm>
            <a:off x="817283" y="1870301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4D2721A-7771-55F4-99C0-C6BFF631AAD4}"/>
              </a:ext>
            </a:extLst>
          </p:cNvPr>
          <p:cNvSpPr txBox="1"/>
          <p:nvPr/>
        </p:nvSpPr>
        <p:spPr>
          <a:xfrm>
            <a:off x="943897" y="1356997"/>
            <a:ext cx="162232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Objetivo: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EC04D24-5476-F37A-2E46-227BB703439B}"/>
              </a:ext>
            </a:extLst>
          </p:cNvPr>
          <p:cNvSpPr txBox="1"/>
          <p:nvPr/>
        </p:nvSpPr>
        <p:spPr>
          <a:xfrm>
            <a:off x="943897" y="2844949"/>
            <a:ext cx="162232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Alcance: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4227CAC-F530-C045-BC7E-DB5243871BC9}"/>
              </a:ext>
            </a:extLst>
          </p:cNvPr>
          <p:cNvSpPr txBox="1"/>
          <p:nvPr/>
        </p:nvSpPr>
        <p:spPr>
          <a:xfrm>
            <a:off x="984788" y="4595576"/>
            <a:ext cx="162232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Disparador: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0BC31C4-169B-5B87-B3B5-2A1E6EC2FB3C}"/>
              </a:ext>
            </a:extLst>
          </p:cNvPr>
          <p:cNvSpPr txBox="1"/>
          <p:nvPr/>
        </p:nvSpPr>
        <p:spPr>
          <a:xfrm>
            <a:off x="6570432" y="1363971"/>
            <a:ext cx="1472354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 err="1">
                <a:solidFill>
                  <a:schemeClr val="bg1"/>
                </a:solidFill>
              </a:rPr>
              <a:t>SLAs</a:t>
            </a:r>
            <a:r>
              <a:rPr lang="es-MX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6912978-6197-996C-1AE6-862DBE71FA50}"/>
              </a:ext>
            </a:extLst>
          </p:cNvPr>
          <p:cNvSpPr txBox="1"/>
          <p:nvPr/>
        </p:nvSpPr>
        <p:spPr>
          <a:xfrm>
            <a:off x="6528224" y="2844949"/>
            <a:ext cx="1472355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 err="1">
                <a:solidFill>
                  <a:schemeClr val="bg1"/>
                </a:solidFill>
              </a:rPr>
              <a:t>KPIs</a:t>
            </a:r>
            <a:r>
              <a:rPr lang="es-MX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1197297-23DE-FCD5-1D5E-787B712B946A}"/>
              </a:ext>
            </a:extLst>
          </p:cNvPr>
          <p:cNvSpPr txBox="1"/>
          <p:nvPr/>
        </p:nvSpPr>
        <p:spPr>
          <a:xfrm>
            <a:off x="6528224" y="4618215"/>
            <a:ext cx="327414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Entradas requeridas: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AA5CA33-9018-1689-873D-126A77813ECE}"/>
              </a:ext>
            </a:extLst>
          </p:cNvPr>
          <p:cNvSpPr txBox="1"/>
          <p:nvPr/>
        </p:nvSpPr>
        <p:spPr>
          <a:xfrm>
            <a:off x="817283" y="1870301"/>
            <a:ext cx="4729316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Unificar la entrada de requerimientos de materiales/servicios a través de un canal controlado para compras.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137B603-0CA1-1545-FD5A-6467456982B8}"/>
              </a:ext>
            </a:extLst>
          </p:cNvPr>
          <p:cNvSpPr txBox="1"/>
          <p:nvPr/>
        </p:nvSpPr>
        <p:spPr>
          <a:xfrm>
            <a:off x="817283" y="3436462"/>
            <a:ext cx="472931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Aplica a PM, Ingeniería, SI, Almacén, Compras USA y Administración MX.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AF54577-2B24-68B2-BD85-AB22C6395324}"/>
              </a:ext>
            </a:extLst>
          </p:cNvPr>
          <p:cNvSpPr txBox="1"/>
          <p:nvPr/>
        </p:nvSpPr>
        <p:spPr>
          <a:xfrm>
            <a:off x="817283" y="5124696"/>
            <a:ext cx="472931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Aprobación de cotización/PO del cliente o hito de proyecto que dispare compra.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3978E94-FE0A-429E-9C2C-970C0063C1A2}"/>
              </a:ext>
            </a:extLst>
          </p:cNvPr>
          <p:cNvSpPr txBox="1"/>
          <p:nvPr/>
        </p:nvSpPr>
        <p:spPr>
          <a:xfrm>
            <a:off x="6328263" y="1879107"/>
            <a:ext cx="472931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Aprobación estándar: ≤ 48 h.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Urgencias: ≤ 24 h.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C8098E5-0D7B-B1FA-1AAC-7EEE43AB0ECE}"/>
              </a:ext>
            </a:extLst>
          </p:cNvPr>
          <p:cNvSpPr txBox="1"/>
          <p:nvPr/>
        </p:nvSpPr>
        <p:spPr>
          <a:xfrm>
            <a:off x="6328263" y="3436462"/>
            <a:ext cx="47293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00" dirty="0"/>
              <a:t>% requisiciones completas (sin retrabajo).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00" dirty="0"/>
              <a:t>Tiempo de ciclo </a:t>
            </a:r>
            <a:r>
              <a:rPr lang="es-MX" sz="1600" dirty="0" err="1"/>
              <a:t>requisición→PO</a:t>
            </a:r>
            <a:r>
              <a:rPr lang="es-MX" sz="1600" dirty="0"/>
              <a:t>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00" dirty="0"/>
              <a:t>% de consumo de stock existente</a:t>
            </a:r>
            <a:endParaRPr lang="es-MX" sz="165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9887E9A6-8B05-E82C-D079-147417EEF5C3}"/>
              </a:ext>
            </a:extLst>
          </p:cNvPr>
          <p:cNvSpPr txBox="1"/>
          <p:nvPr/>
        </p:nvSpPr>
        <p:spPr>
          <a:xfrm>
            <a:off x="6328263" y="5124696"/>
            <a:ext cx="4729316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BOM/Lista de materiales (con versiones).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Plan maestro de proyecto (fechas).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Especificaciones técnicas y </a:t>
            </a:r>
            <a:r>
              <a:rPr lang="es-MX" sz="1650" dirty="0" err="1"/>
              <a:t>drawings</a:t>
            </a:r>
            <a:r>
              <a:rPr lang="es-MX" sz="1650" dirty="0"/>
              <a:t> liberados.</a:t>
            </a:r>
          </a:p>
        </p:txBody>
      </p:sp>
    </p:spTree>
    <p:extLst>
      <p:ext uri="{BB962C8B-B14F-4D97-AF65-F5344CB8AC3E}">
        <p14:creationId xmlns:p14="http://schemas.microsoft.com/office/powerpoint/2010/main" val="3966985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5" y="6356350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13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9C4054E-7149-9BAA-C295-641891BEE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017AC109-3CEE-C476-3A35-7E9626E0F8B3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7D9C17E3-1C32-22D1-6787-DE1BA42A4763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B1412656-E69F-B20C-148B-44D5F401A11B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3839069C-68FA-B910-C93D-32FE2E079C38}"/>
              </a:ext>
            </a:extLst>
          </p:cNvPr>
          <p:cNvSpPr txBox="1">
            <a:spLocks/>
          </p:cNvSpPr>
          <p:nvPr/>
        </p:nvSpPr>
        <p:spPr>
          <a:xfrm>
            <a:off x="817283" y="1870301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4D2721A-7771-55F4-99C0-C6BFF631AAD4}"/>
              </a:ext>
            </a:extLst>
          </p:cNvPr>
          <p:cNvSpPr txBox="1"/>
          <p:nvPr/>
        </p:nvSpPr>
        <p:spPr>
          <a:xfrm>
            <a:off x="1011274" y="1682704"/>
            <a:ext cx="2497393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Controles y registros: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EC04D24-5476-F37A-2E46-227BB703439B}"/>
              </a:ext>
            </a:extLst>
          </p:cNvPr>
          <p:cNvSpPr txBox="1"/>
          <p:nvPr/>
        </p:nvSpPr>
        <p:spPr>
          <a:xfrm>
            <a:off x="7026528" y="1685635"/>
            <a:ext cx="2782529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Herramientas/formatos: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0BC31C4-169B-5B87-B3B5-2A1E6EC2FB3C}"/>
              </a:ext>
            </a:extLst>
          </p:cNvPr>
          <p:cNvSpPr txBox="1"/>
          <p:nvPr/>
        </p:nvSpPr>
        <p:spPr>
          <a:xfrm>
            <a:off x="5773361" y="3822683"/>
            <a:ext cx="1109803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RACI: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B073204-3245-A50B-D830-96DE85BBA10A}"/>
              </a:ext>
            </a:extLst>
          </p:cNvPr>
          <p:cNvSpPr txBox="1"/>
          <p:nvPr/>
        </p:nvSpPr>
        <p:spPr>
          <a:xfrm>
            <a:off x="859280" y="2187646"/>
            <a:ext cx="4729316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Numeración única por requisición.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Anexos técnicos versionados.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Bitácora de aprobaciones y cambios.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7E61492-6986-64C2-C59F-7BFF7D67312C}"/>
              </a:ext>
            </a:extLst>
          </p:cNvPr>
          <p:cNvSpPr txBox="1"/>
          <p:nvPr/>
        </p:nvSpPr>
        <p:spPr>
          <a:xfrm>
            <a:off x="6957063" y="2185295"/>
            <a:ext cx="503765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Portal único de requisiciones (ERP/SharePoint/</a:t>
            </a:r>
            <a:r>
              <a:rPr lang="es-MX" sz="1650" dirty="0" err="1"/>
              <a:t>Forms</a:t>
            </a:r>
            <a:r>
              <a:rPr lang="es-MX" sz="1650" dirty="0"/>
              <a:t>) con numeración.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 err="1"/>
              <a:t>Workflow</a:t>
            </a:r>
            <a:r>
              <a:rPr lang="es-MX" sz="1650" dirty="0"/>
              <a:t> de aprobación (montos/urgencia).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Tablero de visibilidad (</a:t>
            </a:r>
            <a:r>
              <a:rPr lang="es-MX" sz="1650" dirty="0" err="1"/>
              <a:t>Power</a:t>
            </a:r>
            <a:r>
              <a:rPr lang="es-MX" sz="1650" dirty="0"/>
              <a:t> BI/Excel compartido).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A74D7750-0A43-EF14-A20D-15F9E89584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145286"/>
              </p:ext>
            </p:extLst>
          </p:nvPr>
        </p:nvGraphicFramePr>
        <p:xfrm>
          <a:off x="1070463" y="4369744"/>
          <a:ext cx="10515600" cy="1691640"/>
        </p:xfrm>
        <a:graphic>
          <a:graphicData uri="http://schemas.openxmlformats.org/drawingml/2006/table">
            <a:tbl>
              <a:tblPr>
                <a:tableStyleId>{AF606853-7671-496A-8E4F-DF71F8EC918B}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5589176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4259143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42134557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1645977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154922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Actividad principal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/>
                        <a:t>A (Aprueba)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/>
                        <a:t>R (Responsable)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C (Consultado)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I (Informado)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8566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Requisiciones (canal único)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-Harvey (estratégicas)</a:t>
                      </a:r>
                    </a:p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s-MX" sz="1650" dirty="0" err="1">
                          <a:solidFill>
                            <a:schemeClr val="tx1"/>
                          </a:solidFill>
                        </a:rPr>
                        <a:t>Karym</a:t>
                      </a:r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 (operativas locales, menor cuantía)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650" dirty="0">
                          <a:solidFill>
                            <a:schemeClr val="tx1"/>
                          </a:solidFill>
                        </a:rPr>
                        <a:t>-Francia (consolidación y envío)</a:t>
                      </a:r>
                    </a:p>
                    <a:p>
                      <a:pPr algn="just"/>
                      <a:r>
                        <a:rPr lang="pt-BR" sz="1650" dirty="0">
                          <a:solidFill>
                            <a:schemeClr val="tx1"/>
                          </a:solidFill>
                        </a:rPr>
                        <a:t>-Ramón/Seferino (inputs técnicos)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-Pavel (inventario/fechas)</a:t>
                      </a:r>
                    </a:p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-Itzel (embarque USA)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Xavier/Juan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71193"/>
                  </a:ext>
                </a:extLst>
              </a:tr>
            </a:tbl>
          </a:graphicData>
        </a:graphic>
      </p:graphicFrame>
      <p:pic>
        <p:nvPicPr>
          <p:cNvPr id="10" name="Imagen 9">
            <a:extLst>
              <a:ext uri="{FF2B5EF4-FFF2-40B4-BE49-F238E27FC236}">
                <a16:creationId xmlns:a16="http://schemas.microsoft.com/office/drawing/2014/main" id="{D835626F-73F8-2544-9027-358084A07F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795" y="123212"/>
            <a:ext cx="9681287" cy="1304657"/>
          </a:xfrm>
          <a:prstGeom prst="rect">
            <a:avLst/>
          </a:prstGeom>
        </p:spPr>
      </p:pic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9FE810F2-753B-A817-8386-66F7ADC5EC87}"/>
              </a:ext>
            </a:extLst>
          </p:cNvPr>
          <p:cNvSpPr txBox="1">
            <a:spLocks/>
          </p:cNvSpPr>
          <p:nvPr/>
        </p:nvSpPr>
        <p:spPr>
          <a:xfrm>
            <a:off x="467852" y="6356350"/>
            <a:ext cx="3672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s-mx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 dirty="0"/>
              <a:t>HTL </a:t>
            </a:r>
            <a:r>
              <a:rPr lang="es-MX" dirty="0" err="1"/>
              <a:t>Electronics</a:t>
            </a:r>
            <a:r>
              <a:rPr lang="es-MX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90655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5" y="6356350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14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9C4054E-7149-9BAA-C295-641891BEE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017AC109-3CEE-C476-3A35-7E9626E0F8B3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7D9C17E3-1C32-22D1-6787-DE1BA42A4763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B1412656-E69F-B20C-148B-44D5F401A11B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3839069C-68FA-B910-C93D-32FE2E079C38}"/>
              </a:ext>
            </a:extLst>
          </p:cNvPr>
          <p:cNvSpPr txBox="1">
            <a:spLocks/>
          </p:cNvSpPr>
          <p:nvPr/>
        </p:nvSpPr>
        <p:spPr>
          <a:xfrm>
            <a:off x="817283" y="1870301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835626F-73F8-2544-9027-358084A07F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795" y="123212"/>
            <a:ext cx="9681287" cy="1304657"/>
          </a:xfrm>
          <a:prstGeom prst="rect">
            <a:avLst/>
          </a:prstGeom>
        </p:spPr>
      </p:pic>
      <p:sp>
        <p:nvSpPr>
          <p:cNvPr id="2" name="Marcador de pie de página 4">
            <a:extLst>
              <a:ext uri="{FF2B5EF4-FFF2-40B4-BE49-F238E27FC236}">
                <a16:creationId xmlns:a16="http://schemas.microsoft.com/office/drawing/2014/main" id="{230D82FD-EBE9-57A0-53F2-5337EABD7EE7}"/>
              </a:ext>
            </a:extLst>
          </p:cNvPr>
          <p:cNvSpPr txBox="1">
            <a:spLocks/>
          </p:cNvSpPr>
          <p:nvPr/>
        </p:nvSpPr>
        <p:spPr>
          <a:xfrm>
            <a:off x="442452" y="6356350"/>
            <a:ext cx="3672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s-mx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/>
              <a:t>HTL Electronics </a:t>
            </a:r>
            <a:endParaRPr lang="es-MX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360758A-9542-208C-126F-C7421F0D7D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7173" y="1161652"/>
            <a:ext cx="7177654" cy="536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578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032" y="784682"/>
            <a:ext cx="9682050" cy="938476"/>
          </a:xfrm>
        </p:spPr>
        <p:txBody>
          <a:bodyPr rtlCol="0">
            <a:normAutofit fontScale="90000"/>
          </a:bodyPr>
          <a:lstStyle/>
          <a:p>
            <a:pPr algn="ctr"/>
            <a:r>
              <a:rPr lang="es-MX" dirty="0">
                <a:solidFill>
                  <a:schemeClr val="tx1"/>
                </a:solidFill>
                <a:latin typeface="+mn-lt"/>
              </a:rPr>
              <a:t>SOP 3-CONTROL DE MATERIALES PARA PROYECTO (descarga a costo)</a:t>
            </a:r>
            <a:br>
              <a:rPr lang="es-MX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sp>
        <p:nvSpPr>
          <p:cNvPr id="20" name="Marcador de pie de página 4">
            <a:extLst>
              <a:ext uri="{FF2B5EF4-FFF2-40B4-BE49-F238E27FC236}">
                <a16:creationId xmlns:a16="http://schemas.microsoft.com/office/drawing/2014/main" id="{391D3201-20F9-4DD7-B4EB-F41AF17CA42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42452" y="6356350"/>
            <a:ext cx="3672348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l"/>
            <a:r>
              <a:rPr lang="es-MX" dirty="0"/>
              <a:t>HTL Electronics </a:t>
            </a:r>
          </a:p>
        </p:txBody>
      </p:sp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5" y="6356350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15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9C4054E-7149-9BAA-C295-641891BEE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017AC109-3CEE-C476-3A35-7E9626E0F8B3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7D9C17E3-1C32-22D1-6787-DE1BA42A4763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B1412656-E69F-B20C-148B-44D5F401A11B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3839069C-68FA-B910-C93D-32FE2E079C38}"/>
              </a:ext>
            </a:extLst>
          </p:cNvPr>
          <p:cNvSpPr txBox="1">
            <a:spLocks/>
          </p:cNvSpPr>
          <p:nvPr/>
        </p:nvSpPr>
        <p:spPr>
          <a:xfrm>
            <a:off x="817283" y="1870301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4D2721A-7771-55F4-99C0-C6BFF631AAD4}"/>
              </a:ext>
            </a:extLst>
          </p:cNvPr>
          <p:cNvSpPr txBox="1"/>
          <p:nvPr/>
        </p:nvSpPr>
        <p:spPr>
          <a:xfrm>
            <a:off x="943897" y="1356997"/>
            <a:ext cx="162232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Objetivo: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EC04D24-5476-F37A-2E46-227BB703439B}"/>
              </a:ext>
            </a:extLst>
          </p:cNvPr>
          <p:cNvSpPr txBox="1"/>
          <p:nvPr/>
        </p:nvSpPr>
        <p:spPr>
          <a:xfrm>
            <a:off x="943897" y="2844949"/>
            <a:ext cx="162232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Alcance: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4227CAC-F530-C045-BC7E-DB5243871BC9}"/>
              </a:ext>
            </a:extLst>
          </p:cNvPr>
          <p:cNvSpPr txBox="1"/>
          <p:nvPr/>
        </p:nvSpPr>
        <p:spPr>
          <a:xfrm>
            <a:off x="984788" y="4595576"/>
            <a:ext cx="162232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Disparador: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0BC31C4-169B-5B87-B3B5-2A1E6EC2FB3C}"/>
              </a:ext>
            </a:extLst>
          </p:cNvPr>
          <p:cNvSpPr txBox="1"/>
          <p:nvPr/>
        </p:nvSpPr>
        <p:spPr>
          <a:xfrm>
            <a:off x="6570432" y="1363971"/>
            <a:ext cx="1472354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 err="1">
                <a:solidFill>
                  <a:schemeClr val="bg1"/>
                </a:solidFill>
              </a:rPr>
              <a:t>SLAs</a:t>
            </a:r>
            <a:r>
              <a:rPr lang="es-MX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6912978-6197-996C-1AE6-862DBE71FA50}"/>
              </a:ext>
            </a:extLst>
          </p:cNvPr>
          <p:cNvSpPr txBox="1"/>
          <p:nvPr/>
        </p:nvSpPr>
        <p:spPr>
          <a:xfrm>
            <a:off x="6528224" y="2844949"/>
            <a:ext cx="1472355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 err="1">
                <a:solidFill>
                  <a:schemeClr val="bg1"/>
                </a:solidFill>
              </a:rPr>
              <a:t>KPIs</a:t>
            </a:r>
            <a:r>
              <a:rPr lang="es-MX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1197297-23DE-FCD5-1D5E-787B712B946A}"/>
              </a:ext>
            </a:extLst>
          </p:cNvPr>
          <p:cNvSpPr txBox="1"/>
          <p:nvPr/>
        </p:nvSpPr>
        <p:spPr>
          <a:xfrm>
            <a:off x="6528224" y="4618215"/>
            <a:ext cx="327414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Entradas requeridas: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AA5CA33-9018-1689-873D-126A77813ECE}"/>
              </a:ext>
            </a:extLst>
          </p:cNvPr>
          <p:cNvSpPr txBox="1"/>
          <p:nvPr/>
        </p:nvSpPr>
        <p:spPr>
          <a:xfrm>
            <a:off x="817283" y="1870301"/>
            <a:ext cx="4729316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Asegurar que todo material retirado de almacén se impute al proyecto correspondiente para reflejar costo real.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137B603-0CA1-1545-FD5A-6467456982B8}"/>
              </a:ext>
            </a:extLst>
          </p:cNvPr>
          <p:cNvSpPr txBox="1"/>
          <p:nvPr/>
        </p:nvSpPr>
        <p:spPr>
          <a:xfrm>
            <a:off x="817283" y="3436462"/>
            <a:ext cx="472931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/>
              <a:t>Aplica a SI, Ingeniería, PM, Almacén y Administración.</a:t>
            </a:r>
            <a:endParaRPr lang="es-MX" sz="165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AF54577-2B24-68B2-BD85-AB22C6395324}"/>
              </a:ext>
            </a:extLst>
          </p:cNvPr>
          <p:cNvSpPr txBox="1"/>
          <p:nvPr/>
        </p:nvSpPr>
        <p:spPr>
          <a:xfrm>
            <a:off x="817283" y="5124696"/>
            <a:ext cx="472931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Solicitud de material por parte de integración /ingeniería para un proyecto activo.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3978E94-FE0A-429E-9C2C-970C0063C1A2}"/>
              </a:ext>
            </a:extLst>
          </p:cNvPr>
          <p:cNvSpPr txBox="1"/>
          <p:nvPr/>
        </p:nvSpPr>
        <p:spPr>
          <a:xfrm>
            <a:off x="6328263" y="1879107"/>
            <a:ext cx="4729316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Atención de solicitud: ≤ 24 h.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Conciliación mensual completada en ≤ 5 días hábiles.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C8098E5-0D7B-B1FA-1AAC-7EEE43AB0ECE}"/>
              </a:ext>
            </a:extLst>
          </p:cNvPr>
          <p:cNvSpPr txBox="1"/>
          <p:nvPr/>
        </p:nvSpPr>
        <p:spPr>
          <a:xfrm>
            <a:off x="6328263" y="3436462"/>
            <a:ext cx="4729316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% material con imputación correcta a proyecto.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Desviación de costo plan vs. real.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N.º de salidas sin ID (debe ser 0).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9887E9A6-8B05-E82C-D079-147417EEF5C3}"/>
              </a:ext>
            </a:extLst>
          </p:cNvPr>
          <p:cNvSpPr txBox="1"/>
          <p:nvPr/>
        </p:nvSpPr>
        <p:spPr>
          <a:xfrm>
            <a:off x="6328263" y="5124696"/>
            <a:ext cx="4729316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Orden/ID de proyecto en ERP.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Requisición aprobada o reserva de inventario.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 err="1"/>
              <a:t>Picking</a:t>
            </a:r>
            <a:r>
              <a:rPr lang="es-MX" sz="1650" dirty="0"/>
              <a:t> </a:t>
            </a:r>
            <a:r>
              <a:rPr lang="es-MX" sz="1650" dirty="0" err="1"/>
              <a:t>list</a:t>
            </a:r>
            <a:r>
              <a:rPr lang="es-MX" sz="1650" dirty="0"/>
              <a:t>/Kanban de </a:t>
            </a:r>
            <a:r>
              <a:rPr lang="es-MX" sz="1650" dirty="0" err="1"/>
              <a:t>kitting</a:t>
            </a:r>
            <a:r>
              <a:rPr lang="es-MX" sz="16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67423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5" y="6356350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16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9C4054E-7149-9BAA-C295-641891BEE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017AC109-3CEE-C476-3A35-7E9626E0F8B3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7D9C17E3-1C32-22D1-6787-DE1BA42A4763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B1412656-E69F-B20C-148B-44D5F401A11B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3839069C-68FA-B910-C93D-32FE2E079C38}"/>
              </a:ext>
            </a:extLst>
          </p:cNvPr>
          <p:cNvSpPr txBox="1">
            <a:spLocks/>
          </p:cNvSpPr>
          <p:nvPr/>
        </p:nvSpPr>
        <p:spPr>
          <a:xfrm>
            <a:off x="817283" y="1870301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4D2721A-7771-55F4-99C0-C6BFF631AAD4}"/>
              </a:ext>
            </a:extLst>
          </p:cNvPr>
          <p:cNvSpPr txBox="1"/>
          <p:nvPr/>
        </p:nvSpPr>
        <p:spPr>
          <a:xfrm>
            <a:off x="1011274" y="1682704"/>
            <a:ext cx="2497393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Controles y registros: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EC04D24-5476-F37A-2E46-227BB703439B}"/>
              </a:ext>
            </a:extLst>
          </p:cNvPr>
          <p:cNvSpPr txBox="1"/>
          <p:nvPr/>
        </p:nvSpPr>
        <p:spPr>
          <a:xfrm>
            <a:off x="7026528" y="1685635"/>
            <a:ext cx="2782529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Herramientas/formatos: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0BC31C4-169B-5B87-B3B5-2A1E6EC2FB3C}"/>
              </a:ext>
            </a:extLst>
          </p:cNvPr>
          <p:cNvSpPr txBox="1"/>
          <p:nvPr/>
        </p:nvSpPr>
        <p:spPr>
          <a:xfrm>
            <a:off x="5773361" y="3822683"/>
            <a:ext cx="1109803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RACI: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B073204-3245-A50B-D830-96DE85BBA10A}"/>
              </a:ext>
            </a:extLst>
          </p:cNvPr>
          <p:cNvSpPr txBox="1"/>
          <p:nvPr/>
        </p:nvSpPr>
        <p:spPr>
          <a:xfrm>
            <a:off x="859280" y="2187646"/>
            <a:ext cx="4729316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Archivo digital de F-SAP firmado.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Conciliación mensual consumo vs. presupuesto.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Bloqueo de salida sin ID de proyecto.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7E61492-6986-64C2-C59F-7BFF7D67312C}"/>
              </a:ext>
            </a:extLst>
          </p:cNvPr>
          <p:cNvSpPr txBox="1"/>
          <p:nvPr/>
        </p:nvSpPr>
        <p:spPr>
          <a:xfrm>
            <a:off x="6957064" y="2185295"/>
            <a:ext cx="4629000" cy="136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Formato de salida a proyecto (F-SAP) con ID de proyecto.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ERP con movimientos de inventario por proyecto (</a:t>
            </a:r>
            <a:r>
              <a:rPr lang="es-MX" sz="1650" dirty="0" err="1"/>
              <a:t>issue</a:t>
            </a:r>
            <a:r>
              <a:rPr lang="es-MX" sz="1650" dirty="0"/>
              <a:t>/consume).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Etiquetas de kit y </a:t>
            </a:r>
            <a:r>
              <a:rPr lang="es-MX" sz="1650" dirty="0" err="1"/>
              <a:t>traveler</a:t>
            </a:r>
            <a:r>
              <a:rPr lang="es-MX" sz="1650" dirty="0"/>
              <a:t> de proyecto.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A74D7750-0A43-EF14-A20D-15F9E89584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122510"/>
              </p:ext>
            </p:extLst>
          </p:nvPr>
        </p:nvGraphicFramePr>
        <p:xfrm>
          <a:off x="1070463" y="4369744"/>
          <a:ext cx="10515600" cy="1188720"/>
        </p:xfrm>
        <a:graphic>
          <a:graphicData uri="http://schemas.openxmlformats.org/drawingml/2006/table">
            <a:tbl>
              <a:tblPr>
                <a:tableStyleId>{AF606853-7671-496A-8E4F-DF71F8EC918B}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5589176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4259143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42134557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1645977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154922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Actividad principal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/>
                        <a:t>A (Aprueba)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/>
                        <a:t>R (Responsable)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C (Consultado)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I (Informado)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8566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Control de materiales para proyecto (descarga a costo)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-Francia (consumo contra presupuesto)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650" dirty="0">
                          <a:solidFill>
                            <a:schemeClr val="tx1"/>
                          </a:solidFill>
                        </a:rPr>
                        <a:t>-Pavel (movimiento y control)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-Ramón/</a:t>
                      </a:r>
                      <a:r>
                        <a:rPr lang="es-MX" sz="1650" dirty="0" err="1">
                          <a:solidFill>
                            <a:schemeClr val="tx1"/>
                          </a:solidFill>
                        </a:rPr>
                        <a:t>Seferino</a:t>
                      </a:r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 (necesidad técnica)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s-MX" sz="1650" dirty="0" err="1">
                          <a:solidFill>
                            <a:schemeClr val="tx1"/>
                          </a:solidFill>
                        </a:rPr>
                        <a:t>Karym</a:t>
                      </a:r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 (contable)</a:t>
                      </a:r>
                    </a:p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-Harvey (visión global)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71193"/>
                  </a:ext>
                </a:extLst>
              </a:tr>
            </a:tbl>
          </a:graphicData>
        </a:graphic>
      </p:graphicFrame>
      <p:sp>
        <p:nvSpPr>
          <p:cNvPr id="6" name="Título 13">
            <a:extLst>
              <a:ext uri="{FF2B5EF4-FFF2-40B4-BE49-F238E27FC236}">
                <a16:creationId xmlns:a16="http://schemas.microsoft.com/office/drawing/2014/main" id="{3BF0B24F-6C39-5C63-2C19-26F904931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032" y="784682"/>
            <a:ext cx="9682050" cy="938476"/>
          </a:xfrm>
        </p:spPr>
        <p:txBody>
          <a:bodyPr rtlCol="0">
            <a:normAutofit fontScale="90000"/>
          </a:bodyPr>
          <a:lstStyle/>
          <a:p>
            <a:pPr algn="ctr"/>
            <a:r>
              <a:rPr lang="es-MX" dirty="0">
                <a:solidFill>
                  <a:schemeClr val="tx1"/>
                </a:solidFill>
                <a:latin typeface="+mn-lt"/>
              </a:rPr>
              <a:t>SOP 3-CONTROL DE MATERIALES PARA PROYECTO (descarga a costo)</a:t>
            </a:r>
            <a:br>
              <a:rPr lang="es-MX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sp>
        <p:nvSpPr>
          <p:cNvPr id="7" name="Marcador de pie de página 4">
            <a:extLst>
              <a:ext uri="{FF2B5EF4-FFF2-40B4-BE49-F238E27FC236}">
                <a16:creationId xmlns:a16="http://schemas.microsoft.com/office/drawing/2014/main" id="{9536FC46-B0C9-B58D-7AEA-A691D2E4DC62}"/>
              </a:ext>
            </a:extLst>
          </p:cNvPr>
          <p:cNvSpPr txBox="1">
            <a:spLocks/>
          </p:cNvSpPr>
          <p:nvPr/>
        </p:nvSpPr>
        <p:spPr>
          <a:xfrm>
            <a:off x="442452" y="6356350"/>
            <a:ext cx="3672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s-mx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/>
              <a:t>HTL Electronics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918692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5" y="6356350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17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9C4054E-7149-9BAA-C295-641891BEE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017AC109-3CEE-C476-3A35-7E9626E0F8B3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7D9C17E3-1C32-22D1-6787-DE1BA42A4763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B1412656-E69F-B20C-148B-44D5F401A11B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3839069C-68FA-B910-C93D-32FE2E079C38}"/>
              </a:ext>
            </a:extLst>
          </p:cNvPr>
          <p:cNvSpPr txBox="1">
            <a:spLocks/>
          </p:cNvSpPr>
          <p:nvPr/>
        </p:nvSpPr>
        <p:spPr>
          <a:xfrm>
            <a:off x="800152" y="1879548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2" name="Título 13">
            <a:extLst>
              <a:ext uri="{FF2B5EF4-FFF2-40B4-BE49-F238E27FC236}">
                <a16:creationId xmlns:a16="http://schemas.microsoft.com/office/drawing/2014/main" id="{CBA36D2E-E48F-DBF3-5574-1E037B33E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032" y="784682"/>
            <a:ext cx="9682050" cy="938476"/>
          </a:xfrm>
        </p:spPr>
        <p:txBody>
          <a:bodyPr rtlCol="0">
            <a:normAutofit fontScale="90000"/>
          </a:bodyPr>
          <a:lstStyle/>
          <a:p>
            <a:pPr algn="ctr"/>
            <a:r>
              <a:rPr lang="es-MX" dirty="0">
                <a:solidFill>
                  <a:schemeClr val="tx1"/>
                </a:solidFill>
                <a:latin typeface="+mn-lt"/>
              </a:rPr>
              <a:t>SOP 3-CONTROL DE MATERIALES PARA PROYECTO (descarga a costo)</a:t>
            </a:r>
            <a:br>
              <a:rPr lang="es-MX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72C29194-54AC-F35F-C807-FD5F225C237D}"/>
              </a:ext>
            </a:extLst>
          </p:cNvPr>
          <p:cNvSpPr txBox="1">
            <a:spLocks/>
          </p:cNvSpPr>
          <p:nvPr/>
        </p:nvSpPr>
        <p:spPr>
          <a:xfrm>
            <a:off x="442452" y="6356350"/>
            <a:ext cx="3672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s-mx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/>
              <a:t>HTL Electronics </a:t>
            </a:r>
            <a:endParaRPr lang="es-MX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5DC8EF9-9338-1AFB-84DE-48775962BA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788" y="1239399"/>
            <a:ext cx="4948423" cy="5482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7050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1446" y="794827"/>
            <a:ext cx="8389107" cy="938476"/>
          </a:xfrm>
        </p:spPr>
        <p:txBody>
          <a:bodyPr rtlCol="0">
            <a:normAutofit fontScale="90000"/>
          </a:bodyPr>
          <a:lstStyle/>
          <a:p>
            <a:pPr algn="ctr"/>
            <a:r>
              <a:rPr lang="es-MX" dirty="0">
                <a:solidFill>
                  <a:schemeClr val="tx1"/>
                </a:solidFill>
                <a:latin typeface="+mn-lt"/>
              </a:rPr>
              <a:t>SOP 4-PRÉSTAMO DE EQUIPOS DEMO (</a:t>
            </a:r>
            <a:r>
              <a:rPr lang="de-DE" dirty="0">
                <a:solidFill>
                  <a:schemeClr val="tx1"/>
                </a:solidFill>
                <a:latin typeface="+mn-lt"/>
              </a:rPr>
              <a:t>4 UR5e, 1 MiR250 Shelf, 1 MiR100</a:t>
            </a:r>
            <a:r>
              <a:rPr lang="es-MX" dirty="0">
                <a:solidFill>
                  <a:schemeClr val="tx1"/>
                </a:solidFill>
                <a:latin typeface="+mn-lt"/>
              </a:rPr>
              <a:t>)</a:t>
            </a:r>
            <a:br>
              <a:rPr lang="es-MX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sp>
        <p:nvSpPr>
          <p:cNvPr id="20" name="Marcador de pie de página 4">
            <a:extLst>
              <a:ext uri="{FF2B5EF4-FFF2-40B4-BE49-F238E27FC236}">
                <a16:creationId xmlns:a16="http://schemas.microsoft.com/office/drawing/2014/main" id="{391D3201-20F9-4DD7-B4EB-F41AF17CA42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42452" y="6356350"/>
            <a:ext cx="3672348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l"/>
            <a:r>
              <a:rPr lang="es-MX" dirty="0"/>
              <a:t>HTL Electronics </a:t>
            </a:r>
          </a:p>
        </p:txBody>
      </p:sp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5" y="6356350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18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9C4054E-7149-9BAA-C295-641891BEE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017AC109-3CEE-C476-3A35-7E9626E0F8B3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7D9C17E3-1C32-22D1-6787-DE1BA42A4763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B1412656-E69F-B20C-148B-44D5F401A11B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3839069C-68FA-B910-C93D-32FE2E079C38}"/>
              </a:ext>
            </a:extLst>
          </p:cNvPr>
          <p:cNvSpPr txBox="1">
            <a:spLocks/>
          </p:cNvSpPr>
          <p:nvPr/>
        </p:nvSpPr>
        <p:spPr>
          <a:xfrm>
            <a:off x="817283" y="1870301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4D2721A-7771-55F4-99C0-C6BFF631AAD4}"/>
              </a:ext>
            </a:extLst>
          </p:cNvPr>
          <p:cNvSpPr txBox="1"/>
          <p:nvPr/>
        </p:nvSpPr>
        <p:spPr>
          <a:xfrm>
            <a:off x="943897" y="1356997"/>
            <a:ext cx="162232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Objetivo: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EC04D24-5476-F37A-2E46-227BB703439B}"/>
              </a:ext>
            </a:extLst>
          </p:cNvPr>
          <p:cNvSpPr txBox="1"/>
          <p:nvPr/>
        </p:nvSpPr>
        <p:spPr>
          <a:xfrm>
            <a:off x="943897" y="2844949"/>
            <a:ext cx="162232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Alcance: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4227CAC-F530-C045-BC7E-DB5243871BC9}"/>
              </a:ext>
            </a:extLst>
          </p:cNvPr>
          <p:cNvSpPr txBox="1"/>
          <p:nvPr/>
        </p:nvSpPr>
        <p:spPr>
          <a:xfrm>
            <a:off x="984788" y="4595576"/>
            <a:ext cx="162232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Disparador: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0BC31C4-169B-5B87-B3B5-2A1E6EC2FB3C}"/>
              </a:ext>
            </a:extLst>
          </p:cNvPr>
          <p:cNvSpPr txBox="1"/>
          <p:nvPr/>
        </p:nvSpPr>
        <p:spPr>
          <a:xfrm>
            <a:off x="6570432" y="1363971"/>
            <a:ext cx="1472354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 err="1">
                <a:solidFill>
                  <a:schemeClr val="bg1"/>
                </a:solidFill>
              </a:rPr>
              <a:t>SLAs</a:t>
            </a:r>
            <a:r>
              <a:rPr lang="es-MX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6912978-6197-996C-1AE6-862DBE71FA50}"/>
              </a:ext>
            </a:extLst>
          </p:cNvPr>
          <p:cNvSpPr txBox="1"/>
          <p:nvPr/>
        </p:nvSpPr>
        <p:spPr>
          <a:xfrm>
            <a:off x="6528224" y="2844949"/>
            <a:ext cx="1472355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 err="1">
                <a:solidFill>
                  <a:schemeClr val="bg1"/>
                </a:solidFill>
              </a:rPr>
              <a:t>KPIs</a:t>
            </a:r>
            <a:r>
              <a:rPr lang="es-MX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1197297-23DE-FCD5-1D5E-787B712B946A}"/>
              </a:ext>
            </a:extLst>
          </p:cNvPr>
          <p:cNvSpPr txBox="1"/>
          <p:nvPr/>
        </p:nvSpPr>
        <p:spPr>
          <a:xfrm>
            <a:off x="6528224" y="4618215"/>
            <a:ext cx="327414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Entradas requeridas: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AA5CA33-9018-1689-873D-126A77813ECE}"/>
              </a:ext>
            </a:extLst>
          </p:cNvPr>
          <p:cNvSpPr txBox="1"/>
          <p:nvPr/>
        </p:nvSpPr>
        <p:spPr>
          <a:xfrm>
            <a:off x="817283" y="1870301"/>
            <a:ext cx="4729316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/>
              <a:t>Controlar la disponibilidad, estado y responsabilidad de los equipos demo para clientes y demos internos</a:t>
            </a:r>
            <a:endParaRPr lang="es-MX" sz="165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137B603-0CA1-1545-FD5A-6467456982B8}"/>
              </a:ext>
            </a:extLst>
          </p:cNvPr>
          <p:cNvSpPr txBox="1"/>
          <p:nvPr/>
        </p:nvSpPr>
        <p:spPr>
          <a:xfrm>
            <a:off x="817283" y="3436462"/>
            <a:ext cx="472931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/>
              <a:t>Aplica a Ventas, Brand Leader, Ingeniería y Almacén.</a:t>
            </a:r>
            <a:endParaRPr lang="es-MX" sz="165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AF54577-2B24-68B2-BD85-AB22C6395324}"/>
              </a:ext>
            </a:extLst>
          </p:cNvPr>
          <p:cNvSpPr txBox="1"/>
          <p:nvPr/>
        </p:nvSpPr>
        <p:spPr>
          <a:xfrm>
            <a:off x="817283" y="5124696"/>
            <a:ext cx="472931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/>
              <a:t>Solicitud de demo por vendedor o por cliente.</a:t>
            </a:r>
            <a:endParaRPr lang="es-MX" sz="1650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3978E94-FE0A-429E-9C2C-970C0063C1A2}"/>
              </a:ext>
            </a:extLst>
          </p:cNvPr>
          <p:cNvSpPr txBox="1"/>
          <p:nvPr/>
        </p:nvSpPr>
        <p:spPr>
          <a:xfrm>
            <a:off x="6328263" y="1879107"/>
            <a:ext cx="472931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Aprobación estándar: ≤ 48 h.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Entrega/recibo: según calendario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C8098E5-0D7B-B1FA-1AAC-7EEE43AB0ECE}"/>
              </a:ext>
            </a:extLst>
          </p:cNvPr>
          <p:cNvSpPr txBox="1"/>
          <p:nvPr/>
        </p:nvSpPr>
        <p:spPr>
          <a:xfrm>
            <a:off x="6328263" y="3436462"/>
            <a:ext cx="4729316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% puntualidad en devoluciones.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N.º incidentes por demo/mes.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Utilización (%) por equipo demo.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9887E9A6-8B05-E82C-D079-147417EEF5C3}"/>
              </a:ext>
            </a:extLst>
          </p:cNvPr>
          <p:cNvSpPr txBox="1"/>
          <p:nvPr/>
        </p:nvSpPr>
        <p:spPr>
          <a:xfrm>
            <a:off x="6328263" y="5124696"/>
            <a:ext cx="472931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Formulario de préstamo con datos del cliente/proyecto.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Checklist de estado (antes/después).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Calendario de disponibilidad.</a:t>
            </a:r>
          </a:p>
        </p:txBody>
      </p:sp>
    </p:spTree>
    <p:extLst>
      <p:ext uri="{BB962C8B-B14F-4D97-AF65-F5344CB8AC3E}">
        <p14:creationId xmlns:p14="http://schemas.microsoft.com/office/powerpoint/2010/main" val="14118857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5" y="6356350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19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9C4054E-7149-9BAA-C295-641891BEE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017AC109-3CEE-C476-3A35-7E9626E0F8B3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7D9C17E3-1C32-22D1-6787-DE1BA42A4763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B1412656-E69F-B20C-148B-44D5F401A11B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3839069C-68FA-B910-C93D-32FE2E079C38}"/>
              </a:ext>
            </a:extLst>
          </p:cNvPr>
          <p:cNvSpPr txBox="1">
            <a:spLocks/>
          </p:cNvSpPr>
          <p:nvPr/>
        </p:nvSpPr>
        <p:spPr>
          <a:xfrm>
            <a:off x="817283" y="1870301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4D2721A-7771-55F4-99C0-C6BFF631AAD4}"/>
              </a:ext>
            </a:extLst>
          </p:cNvPr>
          <p:cNvSpPr txBox="1"/>
          <p:nvPr/>
        </p:nvSpPr>
        <p:spPr>
          <a:xfrm>
            <a:off x="1011274" y="1682704"/>
            <a:ext cx="2497393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Controles y registros: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EC04D24-5476-F37A-2E46-227BB703439B}"/>
              </a:ext>
            </a:extLst>
          </p:cNvPr>
          <p:cNvSpPr txBox="1"/>
          <p:nvPr/>
        </p:nvSpPr>
        <p:spPr>
          <a:xfrm>
            <a:off x="7026528" y="1685635"/>
            <a:ext cx="2782529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Herramientas/formatos: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0BC31C4-169B-5B87-B3B5-2A1E6EC2FB3C}"/>
              </a:ext>
            </a:extLst>
          </p:cNvPr>
          <p:cNvSpPr txBox="1"/>
          <p:nvPr/>
        </p:nvSpPr>
        <p:spPr>
          <a:xfrm>
            <a:off x="5539435" y="3775485"/>
            <a:ext cx="1109803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RACI: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B073204-3245-A50B-D830-96DE85BBA10A}"/>
              </a:ext>
            </a:extLst>
          </p:cNvPr>
          <p:cNvSpPr txBox="1"/>
          <p:nvPr/>
        </p:nvSpPr>
        <p:spPr>
          <a:xfrm>
            <a:off x="859280" y="2187646"/>
            <a:ext cx="472931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Expediente de cada demo (historial de préstamos).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-Checklist de estado y firmware (software).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-Seguro/transporte según valor y riesgo.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7E61492-6986-64C2-C59F-7BFF7D67312C}"/>
              </a:ext>
            </a:extLst>
          </p:cNvPr>
          <p:cNvSpPr txBox="1"/>
          <p:nvPr/>
        </p:nvSpPr>
        <p:spPr>
          <a:xfrm>
            <a:off x="6957064" y="2185295"/>
            <a:ext cx="4629000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Formato F-DEM con fechas y responsable.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Calendario compartido (ERP/SharePoint).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Registro fotográfico de condición.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A74D7750-0A43-EF14-A20D-15F9E89584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87446"/>
              </p:ext>
            </p:extLst>
          </p:nvPr>
        </p:nvGraphicFramePr>
        <p:xfrm>
          <a:off x="1070463" y="4369744"/>
          <a:ext cx="10600427" cy="1440180"/>
        </p:xfrm>
        <a:graphic>
          <a:graphicData uri="http://schemas.openxmlformats.org/drawingml/2006/table">
            <a:tbl>
              <a:tblPr>
                <a:tableStyleId>{AF606853-7671-496A-8E4F-DF71F8EC918B}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5589176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42591431"/>
                    </a:ext>
                  </a:extLst>
                </a:gridCol>
                <a:gridCol w="1999168">
                  <a:extLst>
                    <a:ext uri="{9D8B030D-6E8A-4147-A177-3AD203B41FA5}">
                      <a16:colId xmlns:a16="http://schemas.microsoft.com/office/drawing/2014/main" val="3421345571"/>
                    </a:ext>
                  </a:extLst>
                </a:gridCol>
                <a:gridCol w="2290916">
                  <a:extLst>
                    <a:ext uri="{9D8B030D-6E8A-4147-A177-3AD203B41FA5}">
                      <a16:colId xmlns:a16="http://schemas.microsoft.com/office/drawing/2014/main" val="3116459775"/>
                    </a:ext>
                  </a:extLst>
                </a:gridCol>
                <a:gridCol w="2104103">
                  <a:extLst>
                    <a:ext uri="{9D8B030D-6E8A-4147-A177-3AD203B41FA5}">
                      <a16:colId xmlns:a16="http://schemas.microsoft.com/office/drawing/2014/main" val="19154922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Actividad principal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/>
                        <a:t>A (Aprueba)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/>
                        <a:t>R (Responsable)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C (Consultado)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I (Informado)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8566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>
                          <a:solidFill>
                            <a:schemeClr val="tx1"/>
                          </a:solidFill>
                          <a:latin typeface="+mn-lt"/>
                        </a:rPr>
                        <a:t>Préstamo de equipos demo (4UR5e, 1 Mir250 </a:t>
                      </a:r>
                      <a:r>
                        <a:rPr lang="es-MX" sz="1600" dirty="0" err="1">
                          <a:solidFill>
                            <a:schemeClr val="tx1"/>
                          </a:solidFill>
                          <a:latin typeface="+mn-lt"/>
                        </a:rPr>
                        <a:t>shelf</a:t>
                      </a:r>
                      <a:r>
                        <a:rPr lang="es-MX" sz="1600" dirty="0">
                          <a:solidFill>
                            <a:schemeClr val="tx1"/>
                          </a:solidFill>
                          <a:latin typeface="+mn-lt"/>
                        </a:rPr>
                        <a:t>, 1 MIR100)</a:t>
                      </a:r>
                      <a:endParaRPr lang="es-MX" sz="16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-Xavier (solo demos fuera de políticas)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-Juan (aprobación y priorización)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-Pavel (movimiento y embalaje)</a:t>
                      </a:r>
                    </a:p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-Ramón/Ian/Iván (</a:t>
                      </a:r>
                      <a:r>
                        <a:rPr lang="es-MX" sz="1650" dirty="0" err="1">
                          <a:solidFill>
                            <a:schemeClr val="tx1"/>
                          </a:solidFill>
                        </a:rPr>
                        <a:t>setup</a:t>
                      </a:r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/firmware/safety)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s-MX" sz="1650" dirty="0" err="1">
                          <a:solidFill>
                            <a:schemeClr val="tx1"/>
                          </a:solidFill>
                        </a:rPr>
                        <a:t>Karym</a:t>
                      </a:r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 (valor contable/seguro)</a:t>
                      </a:r>
                    </a:p>
                    <a:p>
                      <a:pPr algn="just"/>
                      <a:endParaRPr lang="es-MX" sz="16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71193"/>
                  </a:ext>
                </a:extLst>
              </a:tr>
            </a:tbl>
          </a:graphicData>
        </a:graphic>
      </p:graphicFrame>
      <p:sp>
        <p:nvSpPr>
          <p:cNvPr id="12" name="Título 13">
            <a:extLst>
              <a:ext uri="{FF2B5EF4-FFF2-40B4-BE49-F238E27FC236}">
                <a16:creationId xmlns:a16="http://schemas.microsoft.com/office/drawing/2014/main" id="{435B7BE6-EBAE-07A3-5AB9-8481D78DC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017" y="654733"/>
            <a:ext cx="10834687" cy="1147763"/>
          </a:xfrm>
        </p:spPr>
        <p:txBody>
          <a:bodyPr rtlCol="0">
            <a:normAutofit fontScale="90000"/>
          </a:bodyPr>
          <a:lstStyle/>
          <a:p>
            <a:pPr algn="ctr"/>
            <a:r>
              <a:rPr lang="es-MX" dirty="0">
                <a:solidFill>
                  <a:schemeClr val="tx1"/>
                </a:solidFill>
                <a:latin typeface="+mn-lt"/>
              </a:rPr>
              <a:t>SOP 4-PRÉSTAMO DE EQUIPOS DEMO (</a:t>
            </a:r>
            <a:r>
              <a:rPr lang="de-DE" dirty="0">
                <a:solidFill>
                  <a:schemeClr val="tx1"/>
                </a:solidFill>
                <a:latin typeface="+mn-lt"/>
              </a:rPr>
              <a:t>4 UR5e, 1 MiR250 Shelf, 1 MiR100</a:t>
            </a:r>
            <a:r>
              <a:rPr lang="es-MX" dirty="0">
                <a:solidFill>
                  <a:schemeClr val="tx1"/>
                </a:solidFill>
                <a:latin typeface="+mn-lt"/>
              </a:rPr>
              <a:t>)</a:t>
            </a:r>
            <a:br>
              <a:rPr lang="es-MX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C6CDD983-6A30-4FFC-E0C1-921D011BD8B2}"/>
              </a:ext>
            </a:extLst>
          </p:cNvPr>
          <p:cNvSpPr txBox="1">
            <a:spLocks/>
          </p:cNvSpPr>
          <p:nvPr/>
        </p:nvSpPr>
        <p:spPr>
          <a:xfrm>
            <a:off x="442452" y="6356350"/>
            <a:ext cx="3672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s-mx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/>
              <a:t>HTL Electronics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00618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5" y="6356350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20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9C4054E-7149-9BAA-C295-641891BEE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017AC109-3CEE-C476-3A35-7E9626E0F8B3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7D9C17E3-1C32-22D1-6787-DE1BA42A4763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B1412656-E69F-B20C-148B-44D5F401A11B}"/>
              </a:ext>
            </a:extLst>
          </p:cNvPr>
          <p:cNvSpPr/>
          <p:nvPr/>
        </p:nvSpPr>
        <p:spPr>
          <a:xfrm>
            <a:off x="188818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Título 13">
            <a:extLst>
              <a:ext uri="{FF2B5EF4-FFF2-40B4-BE49-F238E27FC236}">
                <a16:creationId xmlns:a16="http://schemas.microsoft.com/office/drawing/2014/main" id="{1BB7325C-6AE7-153B-6E60-0F0DA8CC6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1446" y="794827"/>
            <a:ext cx="8389107" cy="938476"/>
          </a:xfrm>
        </p:spPr>
        <p:txBody>
          <a:bodyPr rtlCol="0">
            <a:normAutofit fontScale="90000"/>
          </a:bodyPr>
          <a:lstStyle/>
          <a:p>
            <a:pPr algn="ctr"/>
            <a:r>
              <a:rPr lang="es-MX" dirty="0">
                <a:solidFill>
                  <a:schemeClr val="tx1"/>
                </a:solidFill>
                <a:latin typeface="+mn-lt"/>
              </a:rPr>
              <a:t>SOP 4-PRÉSTAMO DE EQUIPOS DEMO (</a:t>
            </a:r>
            <a:r>
              <a:rPr lang="de-DE" dirty="0">
                <a:solidFill>
                  <a:schemeClr val="tx1"/>
                </a:solidFill>
                <a:latin typeface="+mn-lt"/>
              </a:rPr>
              <a:t>4 UR5e, 1 MiR250 Shelf, 1 MiR100</a:t>
            </a:r>
            <a:r>
              <a:rPr lang="es-MX" dirty="0">
                <a:solidFill>
                  <a:schemeClr val="tx1"/>
                </a:solidFill>
                <a:latin typeface="+mn-lt"/>
              </a:rPr>
              <a:t>)</a:t>
            </a:r>
            <a:br>
              <a:rPr lang="es-MX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sp>
        <p:nvSpPr>
          <p:cNvPr id="2" name="Marcador de pie de página 4">
            <a:extLst>
              <a:ext uri="{FF2B5EF4-FFF2-40B4-BE49-F238E27FC236}">
                <a16:creationId xmlns:a16="http://schemas.microsoft.com/office/drawing/2014/main" id="{B13130A5-1024-2D81-4EF8-7A2820FD5AB2}"/>
              </a:ext>
            </a:extLst>
          </p:cNvPr>
          <p:cNvSpPr txBox="1">
            <a:spLocks/>
          </p:cNvSpPr>
          <p:nvPr/>
        </p:nvSpPr>
        <p:spPr>
          <a:xfrm>
            <a:off x="442452" y="6356350"/>
            <a:ext cx="3672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s-mx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/>
              <a:t>HTL Electronics </a:t>
            </a:r>
            <a:endParaRPr lang="es-MX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0766FF2-A1DD-B1F3-D749-CA270E7383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1975" y="1239844"/>
            <a:ext cx="7206326" cy="540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9345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365" y="794827"/>
            <a:ext cx="9473270" cy="938476"/>
          </a:xfrm>
        </p:spPr>
        <p:txBody>
          <a:bodyPr rtlCol="0">
            <a:normAutofit fontScale="90000"/>
          </a:bodyPr>
          <a:lstStyle/>
          <a:p>
            <a:pPr algn="ctr"/>
            <a:r>
              <a:rPr lang="es-MX" dirty="0">
                <a:solidFill>
                  <a:schemeClr val="tx1"/>
                </a:solidFill>
                <a:latin typeface="+mn-lt"/>
              </a:rPr>
              <a:t>SOP 5-SOPORTE Y SERVICIOS (preventa, postventa y mantenimientos</a:t>
            </a:r>
            <a:br>
              <a:rPr lang="es-MX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sp>
        <p:nvSpPr>
          <p:cNvPr id="20" name="Marcador de pie de página 4">
            <a:extLst>
              <a:ext uri="{FF2B5EF4-FFF2-40B4-BE49-F238E27FC236}">
                <a16:creationId xmlns:a16="http://schemas.microsoft.com/office/drawing/2014/main" id="{391D3201-20F9-4DD7-B4EB-F41AF17CA42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42452" y="6356350"/>
            <a:ext cx="3672348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l"/>
            <a:r>
              <a:rPr lang="es-MX" dirty="0"/>
              <a:t>HTL Electronics </a:t>
            </a:r>
          </a:p>
        </p:txBody>
      </p:sp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5" y="6356350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21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9C4054E-7149-9BAA-C295-641891BEE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017AC109-3CEE-C476-3A35-7E9626E0F8B3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7D9C17E3-1C32-22D1-6787-DE1BA42A4763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B1412656-E69F-B20C-148B-44D5F401A11B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3839069C-68FA-B910-C93D-32FE2E079C38}"/>
              </a:ext>
            </a:extLst>
          </p:cNvPr>
          <p:cNvSpPr txBox="1">
            <a:spLocks/>
          </p:cNvSpPr>
          <p:nvPr/>
        </p:nvSpPr>
        <p:spPr>
          <a:xfrm>
            <a:off x="817283" y="1870301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4D2721A-7771-55F4-99C0-C6BFF631AAD4}"/>
              </a:ext>
            </a:extLst>
          </p:cNvPr>
          <p:cNvSpPr txBox="1"/>
          <p:nvPr/>
        </p:nvSpPr>
        <p:spPr>
          <a:xfrm>
            <a:off x="943897" y="1356997"/>
            <a:ext cx="162232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Objetivo: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EC04D24-5476-F37A-2E46-227BB703439B}"/>
              </a:ext>
            </a:extLst>
          </p:cNvPr>
          <p:cNvSpPr txBox="1"/>
          <p:nvPr/>
        </p:nvSpPr>
        <p:spPr>
          <a:xfrm>
            <a:off x="943897" y="2844949"/>
            <a:ext cx="162232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Alcance: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4227CAC-F530-C045-BC7E-DB5243871BC9}"/>
              </a:ext>
            </a:extLst>
          </p:cNvPr>
          <p:cNvSpPr txBox="1"/>
          <p:nvPr/>
        </p:nvSpPr>
        <p:spPr>
          <a:xfrm>
            <a:off x="984788" y="4595576"/>
            <a:ext cx="162232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Disparador: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0BC31C4-169B-5B87-B3B5-2A1E6EC2FB3C}"/>
              </a:ext>
            </a:extLst>
          </p:cNvPr>
          <p:cNvSpPr txBox="1"/>
          <p:nvPr/>
        </p:nvSpPr>
        <p:spPr>
          <a:xfrm>
            <a:off x="6570432" y="1363971"/>
            <a:ext cx="1472354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 err="1">
                <a:solidFill>
                  <a:schemeClr val="bg1"/>
                </a:solidFill>
              </a:rPr>
              <a:t>SLAs</a:t>
            </a:r>
            <a:r>
              <a:rPr lang="es-MX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6912978-6197-996C-1AE6-862DBE71FA50}"/>
              </a:ext>
            </a:extLst>
          </p:cNvPr>
          <p:cNvSpPr txBox="1"/>
          <p:nvPr/>
        </p:nvSpPr>
        <p:spPr>
          <a:xfrm>
            <a:off x="6528224" y="2844949"/>
            <a:ext cx="1472355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 err="1">
                <a:solidFill>
                  <a:schemeClr val="bg1"/>
                </a:solidFill>
              </a:rPr>
              <a:t>KPIs</a:t>
            </a:r>
            <a:r>
              <a:rPr lang="es-MX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1197297-23DE-FCD5-1D5E-787B712B946A}"/>
              </a:ext>
            </a:extLst>
          </p:cNvPr>
          <p:cNvSpPr txBox="1"/>
          <p:nvPr/>
        </p:nvSpPr>
        <p:spPr>
          <a:xfrm>
            <a:off x="6528224" y="4618215"/>
            <a:ext cx="327414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Entradas requeridas: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AA5CA33-9018-1689-873D-126A77813ECE}"/>
              </a:ext>
            </a:extLst>
          </p:cNvPr>
          <p:cNvSpPr txBox="1"/>
          <p:nvPr/>
        </p:nvSpPr>
        <p:spPr>
          <a:xfrm>
            <a:off x="817283" y="1870301"/>
            <a:ext cx="472931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Estandarizar la recepción, priorización y atención de servicios técnicos internos y de clientes.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137B603-0CA1-1545-FD5A-6467456982B8}"/>
              </a:ext>
            </a:extLst>
          </p:cNvPr>
          <p:cNvSpPr txBox="1"/>
          <p:nvPr/>
        </p:nvSpPr>
        <p:spPr>
          <a:xfrm>
            <a:off x="817283" y="3436462"/>
            <a:ext cx="472931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/>
              <a:t>Aplica a Soporte (Iván/Ian/Fidencio), Ingeniería, Ventas y PM.</a:t>
            </a:r>
            <a:endParaRPr lang="es-MX" sz="165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AF54577-2B24-68B2-BD85-AB22C6395324}"/>
              </a:ext>
            </a:extLst>
          </p:cNvPr>
          <p:cNvSpPr txBox="1"/>
          <p:nvPr/>
        </p:nvSpPr>
        <p:spPr>
          <a:xfrm>
            <a:off x="817283" y="5152650"/>
            <a:ext cx="472931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Ingreso de ticket.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3978E94-FE0A-429E-9C2C-970C0063C1A2}"/>
              </a:ext>
            </a:extLst>
          </p:cNvPr>
          <p:cNvSpPr txBox="1"/>
          <p:nvPr/>
        </p:nvSpPr>
        <p:spPr>
          <a:xfrm>
            <a:off x="6239486" y="1885226"/>
            <a:ext cx="575523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Agendar cita en ≤ 72 horas desde el levantamiento del caso.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pt-BR" sz="1650" dirty="0"/>
              <a:t> S1: respuesta ≤ 2 h, onsite ≤ 24–48 h, S2: ≤ 8 h, S3: ≤ 24–48 h.</a:t>
            </a:r>
            <a:endParaRPr lang="es-MX" sz="165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C8098E5-0D7B-B1FA-1AAC-7EEE43AB0ECE}"/>
              </a:ext>
            </a:extLst>
          </p:cNvPr>
          <p:cNvSpPr txBox="1"/>
          <p:nvPr/>
        </p:nvSpPr>
        <p:spPr>
          <a:xfrm>
            <a:off x="6328263" y="3436462"/>
            <a:ext cx="4729316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SLA cumplimiento por severidad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CSAT </a:t>
            </a:r>
            <a:r>
              <a:rPr lang="es-MX" sz="1650" dirty="0" err="1"/>
              <a:t>post-servicio</a:t>
            </a:r>
            <a:r>
              <a:rPr lang="es-MX" sz="1650" dirty="0"/>
              <a:t>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Tasa de repetición de falla en 30 días.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9887E9A6-8B05-E82C-D079-147417EEF5C3}"/>
              </a:ext>
            </a:extLst>
          </p:cNvPr>
          <p:cNvSpPr txBox="1"/>
          <p:nvPr/>
        </p:nvSpPr>
        <p:spPr>
          <a:xfrm>
            <a:off x="6328263" y="5124696"/>
            <a:ext cx="4729316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Formulario F-SRV con severidad (S1–S3), cliente, equipo, serie.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Disponibilidad del cliente y ventana de servicio.</a:t>
            </a:r>
          </a:p>
        </p:txBody>
      </p:sp>
    </p:spTree>
    <p:extLst>
      <p:ext uri="{BB962C8B-B14F-4D97-AF65-F5344CB8AC3E}">
        <p14:creationId xmlns:p14="http://schemas.microsoft.com/office/powerpoint/2010/main" val="25613305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5" y="6356350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22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9C4054E-7149-9BAA-C295-641891BEE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017AC109-3CEE-C476-3A35-7E9626E0F8B3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7D9C17E3-1C32-22D1-6787-DE1BA42A4763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B1412656-E69F-B20C-148B-44D5F401A11B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3839069C-68FA-B910-C93D-32FE2E079C38}"/>
              </a:ext>
            </a:extLst>
          </p:cNvPr>
          <p:cNvSpPr txBox="1">
            <a:spLocks/>
          </p:cNvSpPr>
          <p:nvPr/>
        </p:nvSpPr>
        <p:spPr>
          <a:xfrm>
            <a:off x="817283" y="1870301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4D2721A-7771-55F4-99C0-C6BFF631AAD4}"/>
              </a:ext>
            </a:extLst>
          </p:cNvPr>
          <p:cNvSpPr txBox="1"/>
          <p:nvPr/>
        </p:nvSpPr>
        <p:spPr>
          <a:xfrm>
            <a:off x="1011274" y="1682704"/>
            <a:ext cx="2497393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Controles y registros: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EC04D24-5476-F37A-2E46-227BB703439B}"/>
              </a:ext>
            </a:extLst>
          </p:cNvPr>
          <p:cNvSpPr txBox="1"/>
          <p:nvPr/>
        </p:nvSpPr>
        <p:spPr>
          <a:xfrm>
            <a:off x="7026528" y="1685635"/>
            <a:ext cx="2782529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Herramientas/formatos: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0BC31C4-169B-5B87-B3B5-2A1E6EC2FB3C}"/>
              </a:ext>
            </a:extLst>
          </p:cNvPr>
          <p:cNvSpPr txBox="1"/>
          <p:nvPr/>
        </p:nvSpPr>
        <p:spPr>
          <a:xfrm>
            <a:off x="5773361" y="3822683"/>
            <a:ext cx="1109803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RACI: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B073204-3245-A50B-D830-96DE85BBA10A}"/>
              </a:ext>
            </a:extLst>
          </p:cNvPr>
          <p:cNvSpPr txBox="1"/>
          <p:nvPr/>
        </p:nvSpPr>
        <p:spPr>
          <a:xfrm>
            <a:off x="859280" y="2187646"/>
            <a:ext cx="472931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Historial por cliente/equipo.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Reporte técnico de servicio con firmas.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Encuesta de satisfacción.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Checklist de mantenimiento / servicio.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7E61492-6986-64C2-C59F-7BFF7D67312C}"/>
              </a:ext>
            </a:extLst>
          </p:cNvPr>
          <p:cNvSpPr txBox="1"/>
          <p:nvPr/>
        </p:nvSpPr>
        <p:spPr>
          <a:xfrm>
            <a:off x="6957064" y="2185295"/>
            <a:ext cx="4629000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Mesa de ayuda (correo/</a:t>
            </a:r>
            <a:r>
              <a:rPr lang="es-MX" sz="1650" dirty="0" err="1"/>
              <a:t>ticketing</a:t>
            </a:r>
            <a:r>
              <a:rPr lang="es-MX" sz="1650" dirty="0"/>
              <a:t>), portales UR/</a:t>
            </a:r>
            <a:r>
              <a:rPr lang="es-MX" sz="1650" dirty="0" err="1"/>
              <a:t>MiR</a:t>
            </a:r>
            <a:r>
              <a:rPr lang="es-MX" sz="1650" dirty="0"/>
              <a:t> (Iván/Ian).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-Base de conocimiento y manuales.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A74D7750-0A43-EF14-A20D-15F9E89584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516340"/>
              </p:ext>
            </p:extLst>
          </p:nvPr>
        </p:nvGraphicFramePr>
        <p:xfrm>
          <a:off x="1070463" y="4369744"/>
          <a:ext cx="10600427" cy="1691640"/>
        </p:xfrm>
        <a:graphic>
          <a:graphicData uri="http://schemas.openxmlformats.org/drawingml/2006/table">
            <a:tbl>
              <a:tblPr>
                <a:tableStyleId>{AF606853-7671-496A-8E4F-DF71F8EC918B}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5589176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42591431"/>
                    </a:ext>
                  </a:extLst>
                </a:gridCol>
                <a:gridCol w="1999168">
                  <a:extLst>
                    <a:ext uri="{9D8B030D-6E8A-4147-A177-3AD203B41FA5}">
                      <a16:colId xmlns:a16="http://schemas.microsoft.com/office/drawing/2014/main" val="3421345571"/>
                    </a:ext>
                  </a:extLst>
                </a:gridCol>
                <a:gridCol w="2290916">
                  <a:extLst>
                    <a:ext uri="{9D8B030D-6E8A-4147-A177-3AD203B41FA5}">
                      <a16:colId xmlns:a16="http://schemas.microsoft.com/office/drawing/2014/main" val="3116459775"/>
                    </a:ext>
                  </a:extLst>
                </a:gridCol>
                <a:gridCol w="2104103">
                  <a:extLst>
                    <a:ext uri="{9D8B030D-6E8A-4147-A177-3AD203B41FA5}">
                      <a16:colId xmlns:a16="http://schemas.microsoft.com/office/drawing/2014/main" val="19154922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Actividad principal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/>
                        <a:t>A (Aprueba)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/>
                        <a:t>R (Responsable)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C (Consultado)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I (Informado)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8566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Soporte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-Iván (control de portales)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-Ramón (asignación de recursos).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s-MX" sz="1650" b="0" dirty="0">
                          <a:solidFill>
                            <a:schemeClr val="tx1"/>
                          </a:solidFill>
                        </a:rPr>
                        <a:t>Fidencio </a:t>
                      </a:r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(UR).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-Ian (</a:t>
                      </a:r>
                      <a:r>
                        <a:rPr lang="es-MX" sz="1650" dirty="0" err="1">
                          <a:solidFill>
                            <a:schemeClr val="tx1"/>
                          </a:solidFill>
                        </a:rPr>
                        <a:t>MiR</a:t>
                      </a:r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).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-Iván (MIR/UR)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-Francia (si está ligado a proyecto en garantía). </a:t>
                      </a:r>
                    </a:p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-Juan (alineación de marca).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-Xavier/</a:t>
                      </a:r>
                      <a:r>
                        <a:rPr lang="es-MX" sz="1650" dirty="0" err="1">
                          <a:solidFill>
                            <a:schemeClr val="tx1"/>
                          </a:solidFill>
                        </a:rPr>
                        <a:t>Karym</a:t>
                      </a:r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 (costos) si es fuera de garantía.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71193"/>
                  </a:ext>
                </a:extLst>
              </a:tr>
            </a:tbl>
          </a:graphicData>
        </a:graphic>
      </p:graphicFrame>
      <p:sp>
        <p:nvSpPr>
          <p:cNvPr id="16" name="Título 13">
            <a:extLst>
              <a:ext uri="{FF2B5EF4-FFF2-40B4-BE49-F238E27FC236}">
                <a16:creationId xmlns:a16="http://schemas.microsoft.com/office/drawing/2014/main" id="{99E1D872-6A4A-54DC-C5AF-CB1684679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365" y="794827"/>
            <a:ext cx="9473270" cy="938476"/>
          </a:xfrm>
        </p:spPr>
        <p:txBody>
          <a:bodyPr rtlCol="0">
            <a:normAutofit fontScale="90000"/>
          </a:bodyPr>
          <a:lstStyle/>
          <a:p>
            <a:pPr algn="ctr"/>
            <a:r>
              <a:rPr lang="es-MX" dirty="0">
                <a:solidFill>
                  <a:schemeClr val="tx1"/>
                </a:solidFill>
                <a:latin typeface="+mn-lt"/>
              </a:rPr>
              <a:t>SOP 5-SOPORTE Y SERVICIOS (postventa y mantenimientos</a:t>
            </a:r>
            <a:br>
              <a:rPr lang="es-MX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47D1F7CE-F585-66F6-8D91-8DAE3304854B}"/>
              </a:ext>
            </a:extLst>
          </p:cNvPr>
          <p:cNvSpPr txBox="1">
            <a:spLocks/>
          </p:cNvSpPr>
          <p:nvPr/>
        </p:nvSpPr>
        <p:spPr>
          <a:xfrm>
            <a:off x="442452" y="6356350"/>
            <a:ext cx="3672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s-mx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/>
              <a:t>HTL Electronics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649785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5" y="6356350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23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9C4054E-7149-9BAA-C295-641891BEE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017AC109-3CEE-C476-3A35-7E9626E0F8B3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7D9C17E3-1C32-22D1-6787-DE1BA42A4763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B1412656-E69F-B20C-148B-44D5F401A11B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3839069C-68FA-B910-C93D-32FE2E079C38}"/>
              </a:ext>
            </a:extLst>
          </p:cNvPr>
          <p:cNvSpPr txBox="1">
            <a:spLocks/>
          </p:cNvSpPr>
          <p:nvPr/>
        </p:nvSpPr>
        <p:spPr>
          <a:xfrm>
            <a:off x="817283" y="1870301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16" name="Título 13">
            <a:extLst>
              <a:ext uri="{FF2B5EF4-FFF2-40B4-BE49-F238E27FC236}">
                <a16:creationId xmlns:a16="http://schemas.microsoft.com/office/drawing/2014/main" id="{99E1D872-6A4A-54DC-C5AF-CB1684679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365" y="794827"/>
            <a:ext cx="9473270" cy="938476"/>
          </a:xfrm>
        </p:spPr>
        <p:txBody>
          <a:bodyPr rtlCol="0">
            <a:normAutofit fontScale="90000"/>
          </a:bodyPr>
          <a:lstStyle/>
          <a:p>
            <a:pPr algn="ctr"/>
            <a:r>
              <a:rPr lang="es-MX" dirty="0">
                <a:solidFill>
                  <a:schemeClr val="tx1"/>
                </a:solidFill>
                <a:latin typeface="+mn-lt"/>
              </a:rPr>
              <a:t>SOP 5-SOPORTE Y SERVICIOS (postventa y mantenimientos</a:t>
            </a:r>
            <a:br>
              <a:rPr lang="es-MX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sp>
        <p:nvSpPr>
          <p:cNvPr id="2" name="Marcador de pie de página 4">
            <a:extLst>
              <a:ext uri="{FF2B5EF4-FFF2-40B4-BE49-F238E27FC236}">
                <a16:creationId xmlns:a16="http://schemas.microsoft.com/office/drawing/2014/main" id="{5F75401C-80DA-A908-1274-3C8A13D51FD6}"/>
              </a:ext>
            </a:extLst>
          </p:cNvPr>
          <p:cNvSpPr txBox="1">
            <a:spLocks/>
          </p:cNvSpPr>
          <p:nvPr/>
        </p:nvSpPr>
        <p:spPr>
          <a:xfrm>
            <a:off x="442452" y="6356350"/>
            <a:ext cx="3672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s-mx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/>
              <a:t>HTL Electronics </a:t>
            </a:r>
            <a:endParaRPr lang="es-MX" dirty="0"/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4F11E270-43F2-BA7A-28D1-F22E883626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7261" y="1264065"/>
            <a:ext cx="7282003" cy="547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14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9516" y="360218"/>
            <a:ext cx="9473270" cy="938476"/>
          </a:xfrm>
        </p:spPr>
        <p:txBody>
          <a:bodyPr rtlCol="0">
            <a:normAutofit fontScale="90000"/>
          </a:bodyPr>
          <a:lstStyle/>
          <a:p>
            <a:pPr algn="ctr"/>
            <a:r>
              <a:rPr lang="es-MX" dirty="0">
                <a:solidFill>
                  <a:schemeClr val="tx1"/>
                </a:solidFill>
                <a:latin typeface="+mn-lt"/>
              </a:rPr>
              <a:t>SOP 6-CICLO DE PROYECTOS (</a:t>
            </a:r>
            <a:r>
              <a:rPr lang="es-MX" dirty="0" err="1">
                <a:solidFill>
                  <a:schemeClr val="tx1"/>
                </a:solidFill>
                <a:latin typeface="+mn-lt"/>
              </a:rPr>
              <a:t>stage</a:t>
            </a:r>
            <a:r>
              <a:rPr lang="es-MX" dirty="0">
                <a:solidFill>
                  <a:schemeClr val="tx1"/>
                </a:solidFill>
                <a:latin typeface="+mn-lt"/>
              </a:rPr>
              <a:t>-gate)</a:t>
            </a:r>
            <a:br>
              <a:rPr lang="es-MX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sp>
        <p:nvSpPr>
          <p:cNvPr id="20" name="Marcador de pie de página 4">
            <a:extLst>
              <a:ext uri="{FF2B5EF4-FFF2-40B4-BE49-F238E27FC236}">
                <a16:creationId xmlns:a16="http://schemas.microsoft.com/office/drawing/2014/main" id="{391D3201-20F9-4DD7-B4EB-F41AF17CA42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42452" y="6356350"/>
            <a:ext cx="3672348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l"/>
            <a:r>
              <a:rPr lang="es-MX" dirty="0"/>
              <a:t>HTL Electronics </a:t>
            </a:r>
          </a:p>
        </p:txBody>
      </p:sp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5" y="6356350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24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9C4054E-7149-9BAA-C295-641891BEE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017AC109-3CEE-C476-3A35-7E9626E0F8B3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7D9C17E3-1C32-22D1-6787-DE1BA42A4763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B1412656-E69F-B20C-148B-44D5F401A11B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3839069C-68FA-B910-C93D-32FE2E079C38}"/>
              </a:ext>
            </a:extLst>
          </p:cNvPr>
          <p:cNvSpPr txBox="1">
            <a:spLocks/>
          </p:cNvSpPr>
          <p:nvPr/>
        </p:nvSpPr>
        <p:spPr>
          <a:xfrm>
            <a:off x="817283" y="1870301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4D2721A-7771-55F4-99C0-C6BFF631AAD4}"/>
              </a:ext>
            </a:extLst>
          </p:cNvPr>
          <p:cNvSpPr txBox="1"/>
          <p:nvPr/>
        </p:nvSpPr>
        <p:spPr>
          <a:xfrm>
            <a:off x="943897" y="1356997"/>
            <a:ext cx="162232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Objetivo: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EC04D24-5476-F37A-2E46-227BB703439B}"/>
              </a:ext>
            </a:extLst>
          </p:cNvPr>
          <p:cNvSpPr txBox="1"/>
          <p:nvPr/>
        </p:nvSpPr>
        <p:spPr>
          <a:xfrm>
            <a:off x="943897" y="2844949"/>
            <a:ext cx="162232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Alcance: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4227CAC-F530-C045-BC7E-DB5243871BC9}"/>
              </a:ext>
            </a:extLst>
          </p:cNvPr>
          <p:cNvSpPr txBox="1"/>
          <p:nvPr/>
        </p:nvSpPr>
        <p:spPr>
          <a:xfrm>
            <a:off x="984788" y="4595576"/>
            <a:ext cx="162232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Disparador: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0BC31C4-169B-5B87-B3B5-2A1E6EC2FB3C}"/>
              </a:ext>
            </a:extLst>
          </p:cNvPr>
          <p:cNvSpPr txBox="1"/>
          <p:nvPr/>
        </p:nvSpPr>
        <p:spPr>
          <a:xfrm>
            <a:off x="6570432" y="1363971"/>
            <a:ext cx="1472354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 err="1">
                <a:solidFill>
                  <a:schemeClr val="bg1"/>
                </a:solidFill>
              </a:rPr>
              <a:t>SLAs</a:t>
            </a:r>
            <a:r>
              <a:rPr lang="es-MX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6912978-6197-996C-1AE6-862DBE71FA50}"/>
              </a:ext>
            </a:extLst>
          </p:cNvPr>
          <p:cNvSpPr txBox="1"/>
          <p:nvPr/>
        </p:nvSpPr>
        <p:spPr>
          <a:xfrm>
            <a:off x="6528224" y="2844949"/>
            <a:ext cx="1472355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 err="1">
                <a:solidFill>
                  <a:schemeClr val="bg1"/>
                </a:solidFill>
              </a:rPr>
              <a:t>KPIs</a:t>
            </a:r>
            <a:r>
              <a:rPr lang="es-MX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1197297-23DE-FCD5-1D5E-787B712B946A}"/>
              </a:ext>
            </a:extLst>
          </p:cNvPr>
          <p:cNvSpPr txBox="1"/>
          <p:nvPr/>
        </p:nvSpPr>
        <p:spPr>
          <a:xfrm>
            <a:off x="6528224" y="4618215"/>
            <a:ext cx="327414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Entradas requeridas: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AA5CA33-9018-1689-873D-126A77813ECE}"/>
              </a:ext>
            </a:extLst>
          </p:cNvPr>
          <p:cNvSpPr txBox="1"/>
          <p:nvPr/>
        </p:nvSpPr>
        <p:spPr>
          <a:xfrm>
            <a:off x="817283" y="1870301"/>
            <a:ext cx="472931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/>
              <a:t>Definir un ciclo estándar desde preventa hasta cierre, con hitos y control de cambios.</a:t>
            </a:r>
            <a:endParaRPr lang="es-MX" sz="165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137B603-0CA1-1545-FD5A-6467456982B8}"/>
              </a:ext>
            </a:extLst>
          </p:cNvPr>
          <p:cNvSpPr txBox="1"/>
          <p:nvPr/>
        </p:nvSpPr>
        <p:spPr>
          <a:xfrm>
            <a:off x="817283" y="3436462"/>
            <a:ext cx="472931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/>
              <a:t>Aplica a Ventas, PM, Ingeniería, SI, Diseño, Almacén y Administración.</a:t>
            </a:r>
            <a:endParaRPr lang="es-MX" sz="165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AF54577-2B24-68B2-BD85-AB22C6395324}"/>
              </a:ext>
            </a:extLst>
          </p:cNvPr>
          <p:cNvSpPr txBox="1"/>
          <p:nvPr/>
        </p:nvSpPr>
        <p:spPr>
          <a:xfrm>
            <a:off x="817283" y="5124696"/>
            <a:ext cx="472931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Cierre de oportunidad y emisión de PO del cliente.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3978E94-FE0A-429E-9C2C-970C0063C1A2}"/>
              </a:ext>
            </a:extLst>
          </p:cNvPr>
          <p:cNvSpPr txBox="1"/>
          <p:nvPr/>
        </p:nvSpPr>
        <p:spPr>
          <a:xfrm>
            <a:off x="6328263" y="1879107"/>
            <a:ext cx="4729316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pt-BR" sz="1650" dirty="0"/>
              <a:t>Kickoff ≤ 5 días hábiles post-PO.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pt-BR" sz="1650" dirty="0"/>
              <a:t>FAT/SAT según plan; cierres administrativos ≤ 10 días post-SAT.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C8098E5-0D7B-B1FA-1AAC-7EEE43AB0ECE}"/>
              </a:ext>
            </a:extLst>
          </p:cNvPr>
          <p:cNvSpPr txBox="1"/>
          <p:nvPr/>
        </p:nvSpPr>
        <p:spPr>
          <a:xfrm>
            <a:off x="6328263" y="3436462"/>
            <a:ext cx="4729316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Cumplimiento de hitos (% </a:t>
            </a:r>
            <a:r>
              <a:rPr lang="es-MX" sz="1650" dirty="0" err="1"/>
              <a:t>on</a:t>
            </a:r>
            <a:r>
              <a:rPr lang="es-MX" sz="1650" dirty="0"/>
              <a:t>-time).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Desviación de costo vs. presupuesto.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 N.º y monto de </a:t>
            </a:r>
            <a:r>
              <a:rPr lang="es-MX" sz="1650" dirty="0" err="1"/>
              <a:t>change</a:t>
            </a:r>
            <a:r>
              <a:rPr lang="es-MX" sz="1650" dirty="0"/>
              <a:t> </a:t>
            </a:r>
            <a:r>
              <a:rPr lang="es-MX" sz="1650" dirty="0" err="1"/>
              <a:t>orders</a:t>
            </a:r>
            <a:r>
              <a:rPr lang="es-MX" sz="1650" dirty="0"/>
              <a:t>.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9887E9A6-8B05-E82C-D079-147417EEF5C3}"/>
              </a:ext>
            </a:extLst>
          </p:cNvPr>
          <p:cNvSpPr txBox="1"/>
          <p:nvPr/>
        </p:nvSpPr>
        <p:spPr>
          <a:xfrm>
            <a:off x="6328263" y="5124696"/>
            <a:ext cx="4729316" cy="136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SOW/alcance firmado, cronograma, presupuesto, matriz de riesgos.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Plan de calidad y seguridad; lista de entregables FAT/SAT.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Plan de entrenamiento (Iván UR-MIR / Ian </a:t>
            </a:r>
            <a:r>
              <a:rPr lang="es-MX" sz="1650" dirty="0" err="1"/>
              <a:t>MiR</a:t>
            </a:r>
            <a:r>
              <a:rPr lang="es-MX" sz="165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492793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5" y="6356350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25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9C4054E-7149-9BAA-C295-641891BEE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017AC109-3CEE-C476-3A35-7E9626E0F8B3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7D9C17E3-1C32-22D1-6787-DE1BA42A4763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B1412656-E69F-B20C-148B-44D5F401A11B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3839069C-68FA-B910-C93D-32FE2E079C38}"/>
              </a:ext>
            </a:extLst>
          </p:cNvPr>
          <p:cNvSpPr txBox="1">
            <a:spLocks/>
          </p:cNvSpPr>
          <p:nvPr/>
        </p:nvSpPr>
        <p:spPr>
          <a:xfrm>
            <a:off x="817283" y="1870301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4D2721A-7771-55F4-99C0-C6BFF631AAD4}"/>
              </a:ext>
            </a:extLst>
          </p:cNvPr>
          <p:cNvSpPr txBox="1"/>
          <p:nvPr/>
        </p:nvSpPr>
        <p:spPr>
          <a:xfrm>
            <a:off x="1011274" y="1682704"/>
            <a:ext cx="2497393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Controles y registros: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EC04D24-5476-F37A-2E46-227BB703439B}"/>
              </a:ext>
            </a:extLst>
          </p:cNvPr>
          <p:cNvSpPr txBox="1"/>
          <p:nvPr/>
        </p:nvSpPr>
        <p:spPr>
          <a:xfrm>
            <a:off x="7026528" y="1685635"/>
            <a:ext cx="2782529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Herramientas/formatos: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0BC31C4-169B-5B87-B3B5-2A1E6EC2FB3C}"/>
              </a:ext>
            </a:extLst>
          </p:cNvPr>
          <p:cNvSpPr txBox="1"/>
          <p:nvPr/>
        </p:nvSpPr>
        <p:spPr>
          <a:xfrm>
            <a:off x="5773361" y="3822683"/>
            <a:ext cx="1109803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RACI: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B073204-3245-A50B-D830-96DE85BBA10A}"/>
              </a:ext>
            </a:extLst>
          </p:cNvPr>
          <p:cNvSpPr txBox="1"/>
          <p:nvPr/>
        </p:nvSpPr>
        <p:spPr>
          <a:xfrm>
            <a:off x="859280" y="2187646"/>
            <a:ext cx="472931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Actas de cambios (CCR) con impacto en costo/tiempo.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Checklist FAT/SAT con criterios objetivos.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Minutas quincenales con estatus y riesgos.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7E61492-6986-64C2-C59F-7BFF7D67312C}"/>
              </a:ext>
            </a:extLst>
          </p:cNvPr>
          <p:cNvSpPr txBox="1"/>
          <p:nvPr/>
        </p:nvSpPr>
        <p:spPr>
          <a:xfrm>
            <a:off x="6957064" y="2185295"/>
            <a:ext cx="4629000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Plantilla de Plan de Proyecto (Gantt).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Acta de </a:t>
            </a:r>
            <a:r>
              <a:rPr lang="es-MX" sz="1650" dirty="0" err="1"/>
              <a:t>Kickoff</a:t>
            </a:r>
            <a:r>
              <a:rPr lang="es-MX" sz="1650" dirty="0"/>
              <a:t>; registro de cambios (CCR).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Tablero de hitos (</a:t>
            </a:r>
            <a:r>
              <a:rPr lang="es-MX" sz="1650" dirty="0" err="1"/>
              <a:t>Power</a:t>
            </a:r>
            <a:r>
              <a:rPr lang="es-MX" sz="1650" dirty="0"/>
              <a:t> BI/ERP).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A74D7750-0A43-EF14-A20D-15F9E89584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443171"/>
              </p:ext>
            </p:extLst>
          </p:nvPr>
        </p:nvGraphicFramePr>
        <p:xfrm>
          <a:off x="1070463" y="4369744"/>
          <a:ext cx="10600427" cy="1440180"/>
        </p:xfrm>
        <a:graphic>
          <a:graphicData uri="http://schemas.openxmlformats.org/drawingml/2006/table">
            <a:tbl>
              <a:tblPr>
                <a:tableStyleId>{AF606853-7671-496A-8E4F-DF71F8EC918B}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5589176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42591431"/>
                    </a:ext>
                  </a:extLst>
                </a:gridCol>
                <a:gridCol w="1999168">
                  <a:extLst>
                    <a:ext uri="{9D8B030D-6E8A-4147-A177-3AD203B41FA5}">
                      <a16:colId xmlns:a16="http://schemas.microsoft.com/office/drawing/2014/main" val="3421345571"/>
                    </a:ext>
                  </a:extLst>
                </a:gridCol>
                <a:gridCol w="2290916">
                  <a:extLst>
                    <a:ext uri="{9D8B030D-6E8A-4147-A177-3AD203B41FA5}">
                      <a16:colId xmlns:a16="http://schemas.microsoft.com/office/drawing/2014/main" val="3116459775"/>
                    </a:ext>
                  </a:extLst>
                </a:gridCol>
                <a:gridCol w="2104103">
                  <a:extLst>
                    <a:ext uri="{9D8B030D-6E8A-4147-A177-3AD203B41FA5}">
                      <a16:colId xmlns:a16="http://schemas.microsoft.com/office/drawing/2014/main" val="19154922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Actividad principal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/>
                        <a:t>A (Aprueba)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/>
                        <a:t>R (Responsable)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C (Consultado)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I (Informado)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8566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Ciclo de proyectos (</a:t>
                      </a:r>
                      <a:r>
                        <a:rPr lang="es-MX" sz="1650" dirty="0" err="1">
                          <a:solidFill>
                            <a:schemeClr val="tx1"/>
                          </a:solidFill>
                        </a:rPr>
                        <a:t>stage</a:t>
                      </a:r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-gate)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-Xavier (aprobación inicial)</a:t>
                      </a:r>
                    </a:p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 -Cambios mayores comité.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-Francia (dueña del proyecto)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-Ramón/</a:t>
                      </a:r>
                      <a:r>
                        <a:rPr lang="es-MX" sz="1650" dirty="0" err="1">
                          <a:solidFill>
                            <a:schemeClr val="tx1"/>
                          </a:solidFill>
                        </a:rPr>
                        <a:t>Seferino</a:t>
                      </a:r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/</a:t>
                      </a:r>
                    </a:p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Miguel/Juan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s-MX" sz="1650" dirty="0" err="1">
                          <a:solidFill>
                            <a:schemeClr val="tx1"/>
                          </a:solidFill>
                        </a:rPr>
                        <a:t>Karym</a:t>
                      </a:r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/Pavel/Harvey.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71193"/>
                  </a:ext>
                </a:extLst>
              </a:tr>
            </a:tbl>
          </a:graphicData>
        </a:graphic>
      </p:graphicFrame>
      <p:sp>
        <p:nvSpPr>
          <p:cNvPr id="10" name="Título 13">
            <a:extLst>
              <a:ext uri="{FF2B5EF4-FFF2-40B4-BE49-F238E27FC236}">
                <a16:creationId xmlns:a16="http://schemas.microsoft.com/office/drawing/2014/main" id="{4180D09D-28DC-C337-D50D-2781970A4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9516" y="360218"/>
            <a:ext cx="9473270" cy="938476"/>
          </a:xfrm>
        </p:spPr>
        <p:txBody>
          <a:bodyPr rtlCol="0">
            <a:normAutofit fontScale="90000"/>
          </a:bodyPr>
          <a:lstStyle/>
          <a:p>
            <a:pPr algn="ctr"/>
            <a:r>
              <a:rPr lang="es-MX" dirty="0">
                <a:solidFill>
                  <a:schemeClr val="tx1"/>
                </a:solidFill>
                <a:latin typeface="+mn-lt"/>
              </a:rPr>
              <a:t>SOP 6-CICLO DE PROYECTOS (</a:t>
            </a:r>
            <a:r>
              <a:rPr lang="es-MX" dirty="0" err="1">
                <a:solidFill>
                  <a:schemeClr val="tx1"/>
                </a:solidFill>
                <a:latin typeface="+mn-lt"/>
              </a:rPr>
              <a:t>stage</a:t>
            </a:r>
            <a:r>
              <a:rPr lang="es-MX" dirty="0">
                <a:solidFill>
                  <a:schemeClr val="tx1"/>
                </a:solidFill>
                <a:latin typeface="+mn-lt"/>
              </a:rPr>
              <a:t>-gate)</a:t>
            </a:r>
            <a:br>
              <a:rPr lang="es-MX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C30252D6-0F27-B4CA-A88D-42686D8EBD64}"/>
              </a:ext>
            </a:extLst>
          </p:cNvPr>
          <p:cNvSpPr txBox="1">
            <a:spLocks/>
          </p:cNvSpPr>
          <p:nvPr/>
        </p:nvSpPr>
        <p:spPr>
          <a:xfrm>
            <a:off x="442452" y="6356350"/>
            <a:ext cx="3672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s-mx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/>
              <a:t>HTL Electronics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374766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5" y="6356350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26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9C4054E-7149-9BAA-C295-641891BEE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017AC109-3CEE-C476-3A35-7E9626E0F8B3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7D9C17E3-1C32-22D1-6787-DE1BA42A4763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B1412656-E69F-B20C-148B-44D5F401A11B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Título 13">
            <a:extLst>
              <a:ext uri="{FF2B5EF4-FFF2-40B4-BE49-F238E27FC236}">
                <a16:creationId xmlns:a16="http://schemas.microsoft.com/office/drawing/2014/main" id="{4180D09D-28DC-C337-D50D-2781970A4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9516" y="360218"/>
            <a:ext cx="9473270" cy="938476"/>
          </a:xfrm>
        </p:spPr>
        <p:txBody>
          <a:bodyPr rtlCol="0">
            <a:normAutofit fontScale="90000"/>
          </a:bodyPr>
          <a:lstStyle/>
          <a:p>
            <a:pPr algn="ctr"/>
            <a:r>
              <a:rPr lang="es-MX" dirty="0">
                <a:solidFill>
                  <a:schemeClr val="tx1"/>
                </a:solidFill>
                <a:latin typeface="+mn-lt"/>
              </a:rPr>
              <a:t>SOP 6-CICLO DE PROYECTOS (</a:t>
            </a:r>
            <a:r>
              <a:rPr lang="es-MX" dirty="0" err="1">
                <a:solidFill>
                  <a:schemeClr val="tx1"/>
                </a:solidFill>
                <a:latin typeface="+mn-lt"/>
              </a:rPr>
              <a:t>stage</a:t>
            </a:r>
            <a:r>
              <a:rPr lang="es-MX" dirty="0">
                <a:solidFill>
                  <a:schemeClr val="tx1"/>
                </a:solidFill>
                <a:latin typeface="+mn-lt"/>
              </a:rPr>
              <a:t>-gate)</a:t>
            </a:r>
            <a:br>
              <a:rPr lang="es-MX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sp>
        <p:nvSpPr>
          <p:cNvPr id="2" name="Marcador de pie de página 4">
            <a:extLst>
              <a:ext uri="{FF2B5EF4-FFF2-40B4-BE49-F238E27FC236}">
                <a16:creationId xmlns:a16="http://schemas.microsoft.com/office/drawing/2014/main" id="{52B20580-B668-E982-C26C-0ACCC448DFE1}"/>
              </a:ext>
            </a:extLst>
          </p:cNvPr>
          <p:cNvSpPr txBox="1">
            <a:spLocks/>
          </p:cNvSpPr>
          <p:nvPr/>
        </p:nvSpPr>
        <p:spPr>
          <a:xfrm>
            <a:off x="442452" y="6356350"/>
            <a:ext cx="3672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s-mx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/>
              <a:t>HTL Electronics </a:t>
            </a:r>
            <a:endParaRPr lang="es-MX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119DD37-2AE4-11B4-568B-7DB5F138DA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2847" y="857566"/>
            <a:ext cx="7706306" cy="579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0967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365" y="826408"/>
            <a:ext cx="9473270" cy="938476"/>
          </a:xfrm>
        </p:spPr>
        <p:txBody>
          <a:bodyPr rtlCol="0">
            <a:normAutofit fontScale="90000"/>
          </a:bodyPr>
          <a:lstStyle/>
          <a:p>
            <a:pPr algn="ctr"/>
            <a:r>
              <a:rPr lang="es-MX" dirty="0">
                <a:solidFill>
                  <a:schemeClr val="tx1"/>
                </a:solidFill>
                <a:latin typeface="+mn-lt"/>
              </a:rPr>
              <a:t>SOP 7-FABRICACIÓN DE PARTES CON PROVEEDORES</a:t>
            </a:r>
            <a:br>
              <a:rPr lang="es-MX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sp>
        <p:nvSpPr>
          <p:cNvPr id="20" name="Marcador de pie de página 4">
            <a:extLst>
              <a:ext uri="{FF2B5EF4-FFF2-40B4-BE49-F238E27FC236}">
                <a16:creationId xmlns:a16="http://schemas.microsoft.com/office/drawing/2014/main" id="{391D3201-20F9-4DD7-B4EB-F41AF17CA42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42452" y="6356350"/>
            <a:ext cx="3672348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l"/>
            <a:r>
              <a:rPr lang="es-MX" dirty="0"/>
              <a:t>HTL Electronics </a:t>
            </a:r>
          </a:p>
        </p:txBody>
      </p:sp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5" y="6356350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27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9C4054E-7149-9BAA-C295-641891BEE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017AC109-3CEE-C476-3A35-7E9626E0F8B3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7D9C17E3-1C32-22D1-6787-DE1BA42A4763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B1412656-E69F-B20C-148B-44D5F401A11B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3839069C-68FA-B910-C93D-32FE2E079C38}"/>
              </a:ext>
            </a:extLst>
          </p:cNvPr>
          <p:cNvSpPr txBox="1">
            <a:spLocks/>
          </p:cNvSpPr>
          <p:nvPr/>
        </p:nvSpPr>
        <p:spPr>
          <a:xfrm>
            <a:off x="817283" y="1860086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4D2721A-7771-55F4-99C0-C6BFF631AAD4}"/>
              </a:ext>
            </a:extLst>
          </p:cNvPr>
          <p:cNvSpPr txBox="1"/>
          <p:nvPr/>
        </p:nvSpPr>
        <p:spPr>
          <a:xfrm>
            <a:off x="943897" y="1356997"/>
            <a:ext cx="162232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Objetivo: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EC04D24-5476-F37A-2E46-227BB703439B}"/>
              </a:ext>
            </a:extLst>
          </p:cNvPr>
          <p:cNvSpPr txBox="1"/>
          <p:nvPr/>
        </p:nvSpPr>
        <p:spPr>
          <a:xfrm>
            <a:off x="943897" y="2844949"/>
            <a:ext cx="162232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Alcance: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4227CAC-F530-C045-BC7E-DB5243871BC9}"/>
              </a:ext>
            </a:extLst>
          </p:cNvPr>
          <p:cNvSpPr txBox="1"/>
          <p:nvPr/>
        </p:nvSpPr>
        <p:spPr>
          <a:xfrm>
            <a:off x="984788" y="4595576"/>
            <a:ext cx="162232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Disparador: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0BC31C4-169B-5B87-B3B5-2A1E6EC2FB3C}"/>
              </a:ext>
            </a:extLst>
          </p:cNvPr>
          <p:cNvSpPr txBox="1"/>
          <p:nvPr/>
        </p:nvSpPr>
        <p:spPr>
          <a:xfrm>
            <a:off x="6570432" y="1363971"/>
            <a:ext cx="1472354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 err="1">
                <a:solidFill>
                  <a:schemeClr val="bg1"/>
                </a:solidFill>
              </a:rPr>
              <a:t>SLAs</a:t>
            </a:r>
            <a:r>
              <a:rPr lang="es-MX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6912978-6197-996C-1AE6-862DBE71FA50}"/>
              </a:ext>
            </a:extLst>
          </p:cNvPr>
          <p:cNvSpPr txBox="1"/>
          <p:nvPr/>
        </p:nvSpPr>
        <p:spPr>
          <a:xfrm>
            <a:off x="6528224" y="2844949"/>
            <a:ext cx="1472355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 err="1">
                <a:solidFill>
                  <a:schemeClr val="bg1"/>
                </a:solidFill>
              </a:rPr>
              <a:t>KPIs</a:t>
            </a:r>
            <a:r>
              <a:rPr lang="es-MX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1197297-23DE-FCD5-1D5E-787B712B946A}"/>
              </a:ext>
            </a:extLst>
          </p:cNvPr>
          <p:cNvSpPr txBox="1"/>
          <p:nvPr/>
        </p:nvSpPr>
        <p:spPr>
          <a:xfrm>
            <a:off x="6528224" y="4618215"/>
            <a:ext cx="327414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Entradas requeridas: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AA5CA33-9018-1689-873D-126A77813ECE}"/>
              </a:ext>
            </a:extLst>
          </p:cNvPr>
          <p:cNvSpPr txBox="1"/>
          <p:nvPr/>
        </p:nvSpPr>
        <p:spPr>
          <a:xfrm>
            <a:off x="817283" y="1870301"/>
            <a:ext cx="472931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/>
              <a:t>Asegurar calidad, costo y plazo en la subcontratación de partes mecánicas/eléctricas.</a:t>
            </a:r>
            <a:endParaRPr lang="es-MX" sz="165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137B603-0CA1-1545-FD5A-6467456982B8}"/>
              </a:ext>
            </a:extLst>
          </p:cNvPr>
          <p:cNvSpPr txBox="1"/>
          <p:nvPr/>
        </p:nvSpPr>
        <p:spPr>
          <a:xfrm>
            <a:off x="817283" y="3436462"/>
            <a:ext cx="472931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/>
              <a:t>Aplica a Diseño, SI, Compras y Calidad.</a:t>
            </a:r>
            <a:endParaRPr lang="es-MX" sz="165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AF54577-2B24-68B2-BD85-AB22C6395324}"/>
              </a:ext>
            </a:extLst>
          </p:cNvPr>
          <p:cNvSpPr txBox="1"/>
          <p:nvPr/>
        </p:nvSpPr>
        <p:spPr>
          <a:xfrm>
            <a:off x="817283" y="5124696"/>
            <a:ext cx="472931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/>
              <a:t>Liberación de drawing por Diseño/Ingeniería</a:t>
            </a:r>
            <a:endParaRPr lang="es-MX" sz="1650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3978E94-FE0A-429E-9C2C-970C0063C1A2}"/>
              </a:ext>
            </a:extLst>
          </p:cNvPr>
          <p:cNvSpPr txBox="1"/>
          <p:nvPr/>
        </p:nvSpPr>
        <p:spPr>
          <a:xfrm>
            <a:off x="6328263" y="1879107"/>
            <a:ext cx="472931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RFQ→PO ≤ 5 días; lead time según categoría.</a:t>
            </a:r>
            <a:endParaRPr lang="pt-BR" sz="165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C8098E5-0D7B-B1FA-1AAC-7EEE43AB0ECE}"/>
              </a:ext>
            </a:extLst>
          </p:cNvPr>
          <p:cNvSpPr txBox="1"/>
          <p:nvPr/>
        </p:nvSpPr>
        <p:spPr>
          <a:xfrm>
            <a:off x="6328263" y="3436462"/>
            <a:ext cx="4729316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OTD proveedor (%).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Tasa de NCR (%).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Cumplimiento de costo objetivo.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9887E9A6-8B05-E82C-D079-147417EEF5C3}"/>
              </a:ext>
            </a:extLst>
          </p:cNvPr>
          <p:cNvSpPr txBox="1"/>
          <p:nvPr/>
        </p:nvSpPr>
        <p:spPr>
          <a:xfrm>
            <a:off x="6328263" y="5124696"/>
            <a:ext cx="4729316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 err="1"/>
              <a:t>Drawing</a:t>
            </a:r>
            <a:r>
              <a:rPr lang="es-MX" sz="1650" dirty="0"/>
              <a:t>/DXF/STP liberados, tolerancias y materiales.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Requisitos de acabado, montaje y pruebas.</a:t>
            </a:r>
          </a:p>
        </p:txBody>
      </p:sp>
    </p:spTree>
    <p:extLst>
      <p:ext uri="{BB962C8B-B14F-4D97-AF65-F5344CB8AC3E}">
        <p14:creationId xmlns:p14="http://schemas.microsoft.com/office/powerpoint/2010/main" val="32137688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5" y="6356350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28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9C4054E-7149-9BAA-C295-641891BEE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017AC109-3CEE-C476-3A35-7E9626E0F8B3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7D9C17E3-1C32-22D1-6787-DE1BA42A4763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B1412656-E69F-B20C-148B-44D5F401A11B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3839069C-68FA-B910-C93D-32FE2E079C38}"/>
              </a:ext>
            </a:extLst>
          </p:cNvPr>
          <p:cNvSpPr txBox="1">
            <a:spLocks/>
          </p:cNvSpPr>
          <p:nvPr/>
        </p:nvSpPr>
        <p:spPr>
          <a:xfrm>
            <a:off x="817283" y="1870301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4D2721A-7771-55F4-99C0-C6BFF631AAD4}"/>
              </a:ext>
            </a:extLst>
          </p:cNvPr>
          <p:cNvSpPr txBox="1"/>
          <p:nvPr/>
        </p:nvSpPr>
        <p:spPr>
          <a:xfrm>
            <a:off x="1011274" y="1682704"/>
            <a:ext cx="2497393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Controles y registros: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EC04D24-5476-F37A-2E46-227BB703439B}"/>
              </a:ext>
            </a:extLst>
          </p:cNvPr>
          <p:cNvSpPr txBox="1"/>
          <p:nvPr/>
        </p:nvSpPr>
        <p:spPr>
          <a:xfrm>
            <a:off x="7026528" y="1685635"/>
            <a:ext cx="2782529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Herramientas/formatos: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0BC31C4-169B-5B87-B3B5-2A1E6EC2FB3C}"/>
              </a:ext>
            </a:extLst>
          </p:cNvPr>
          <p:cNvSpPr txBox="1"/>
          <p:nvPr/>
        </p:nvSpPr>
        <p:spPr>
          <a:xfrm>
            <a:off x="5773361" y="3822683"/>
            <a:ext cx="1109803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RACI: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B073204-3245-A50B-D830-96DE85BBA10A}"/>
              </a:ext>
            </a:extLst>
          </p:cNvPr>
          <p:cNvSpPr txBox="1"/>
          <p:nvPr/>
        </p:nvSpPr>
        <p:spPr>
          <a:xfrm>
            <a:off x="859280" y="2187646"/>
            <a:ext cx="472931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Registro de no conformidades (NCR) y acciones correctivas.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 err="1"/>
              <a:t>Scorecard</a:t>
            </a:r>
            <a:r>
              <a:rPr lang="es-MX" sz="1650" dirty="0"/>
              <a:t> trimestral de proveedores (OTD, calidad, costo).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7E61492-6986-64C2-C59F-7BFF7D67312C}"/>
              </a:ext>
            </a:extLst>
          </p:cNvPr>
          <p:cNvSpPr txBox="1"/>
          <p:nvPr/>
        </p:nvSpPr>
        <p:spPr>
          <a:xfrm>
            <a:off x="6957064" y="2185295"/>
            <a:ext cx="4629000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Lista de proveedores homologados.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Formato de RFQ y PO; NDA si aplica.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Plan de inspección (IQC).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A74D7750-0A43-EF14-A20D-15F9E89584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644383"/>
              </p:ext>
            </p:extLst>
          </p:nvPr>
        </p:nvGraphicFramePr>
        <p:xfrm>
          <a:off x="1070463" y="4369744"/>
          <a:ext cx="10600427" cy="1691640"/>
        </p:xfrm>
        <a:graphic>
          <a:graphicData uri="http://schemas.openxmlformats.org/drawingml/2006/table">
            <a:tbl>
              <a:tblPr>
                <a:tableStyleId>{AF606853-7671-496A-8E4F-DF71F8EC918B}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5589176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42591431"/>
                    </a:ext>
                  </a:extLst>
                </a:gridCol>
                <a:gridCol w="1999168">
                  <a:extLst>
                    <a:ext uri="{9D8B030D-6E8A-4147-A177-3AD203B41FA5}">
                      <a16:colId xmlns:a16="http://schemas.microsoft.com/office/drawing/2014/main" val="3421345571"/>
                    </a:ext>
                  </a:extLst>
                </a:gridCol>
                <a:gridCol w="2290916">
                  <a:extLst>
                    <a:ext uri="{9D8B030D-6E8A-4147-A177-3AD203B41FA5}">
                      <a16:colId xmlns:a16="http://schemas.microsoft.com/office/drawing/2014/main" val="3116459775"/>
                    </a:ext>
                  </a:extLst>
                </a:gridCol>
                <a:gridCol w="2104103">
                  <a:extLst>
                    <a:ext uri="{9D8B030D-6E8A-4147-A177-3AD203B41FA5}">
                      <a16:colId xmlns:a16="http://schemas.microsoft.com/office/drawing/2014/main" val="19154922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Actividad principal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/>
                        <a:t>A (Aprueba)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/>
                        <a:t>R (Responsable)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C (Consultado)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I (Informado)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8566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Fabricación de partes con proveedores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it-IT" sz="1650" dirty="0">
                          <a:solidFill>
                            <a:schemeClr val="tx1"/>
                          </a:solidFill>
                        </a:rPr>
                        <a:t>Karym (PO local)</a:t>
                      </a:r>
                    </a:p>
                    <a:p>
                      <a:pPr algn="just"/>
                      <a:r>
                        <a:rPr lang="it-IT" sz="1650" dirty="0">
                          <a:solidFill>
                            <a:schemeClr val="tx1"/>
                          </a:solidFill>
                        </a:rPr>
                        <a:t>-Harvey (PO USA si procede)</a:t>
                      </a:r>
                      <a:endParaRPr lang="es-MX" sz="16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-Miguel (especificación técnica)</a:t>
                      </a:r>
                    </a:p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-Francia (RFQ/PO por proyecto)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s-MX" sz="1650" dirty="0" err="1">
                          <a:solidFill>
                            <a:schemeClr val="tx1"/>
                          </a:solidFill>
                        </a:rPr>
                        <a:t>Seferino</a:t>
                      </a:r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 (ensamble)</a:t>
                      </a:r>
                    </a:p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-Arturo (calidad/proceso)</a:t>
                      </a:r>
                    </a:p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-Ramón (aporte técnico)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-Pavel (recepción)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71193"/>
                  </a:ext>
                </a:extLst>
              </a:tr>
            </a:tbl>
          </a:graphicData>
        </a:graphic>
      </p:graphicFrame>
      <p:sp>
        <p:nvSpPr>
          <p:cNvPr id="12" name="Título 13">
            <a:extLst>
              <a:ext uri="{FF2B5EF4-FFF2-40B4-BE49-F238E27FC236}">
                <a16:creationId xmlns:a16="http://schemas.microsoft.com/office/drawing/2014/main" id="{C0F9BC5B-25C2-8116-BFF4-E73B7F5A3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365" y="826408"/>
            <a:ext cx="9473270" cy="938476"/>
          </a:xfrm>
        </p:spPr>
        <p:txBody>
          <a:bodyPr rtlCol="0">
            <a:normAutofit fontScale="90000"/>
          </a:bodyPr>
          <a:lstStyle/>
          <a:p>
            <a:pPr algn="ctr"/>
            <a:r>
              <a:rPr lang="es-MX" dirty="0">
                <a:solidFill>
                  <a:schemeClr val="tx1"/>
                </a:solidFill>
                <a:latin typeface="+mn-lt"/>
              </a:rPr>
              <a:t>SOP 7-FABRICACIÓN DE PARTES CON PROVEEDORES</a:t>
            </a:r>
            <a:br>
              <a:rPr lang="es-MX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06112ACB-0FA9-4F64-E6FD-2E03870B3596}"/>
              </a:ext>
            </a:extLst>
          </p:cNvPr>
          <p:cNvSpPr txBox="1">
            <a:spLocks/>
          </p:cNvSpPr>
          <p:nvPr/>
        </p:nvSpPr>
        <p:spPr>
          <a:xfrm>
            <a:off x="442452" y="6356350"/>
            <a:ext cx="3672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s-mx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/>
              <a:t>HTL Electronics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585364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5" y="6356350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29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9C4054E-7149-9BAA-C295-641891BEE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017AC109-3CEE-C476-3A35-7E9626E0F8B3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7D9C17E3-1C32-22D1-6787-DE1BA42A4763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B1412656-E69F-B20C-148B-44D5F401A11B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3839069C-68FA-B910-C93D-32FE2E079C38}"/>
              </a:ext>
            </a:extLst>
          </p:cNvPr>
          <p:cNvSpPr txBox="1">
            <a:spLocks/>
          </p:cNvSpPr>
          <p:nvPr/>
        </p:nvSpPr>
        <p:spPr>
          <a:xfrm>
            <a:off x="817283" y="1870301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12" name="Título 13">
            <a:extLst>
              <a:ext uri="{FF2B5EF4-FFF2-40B4-BE49-F238E27FC236}">
                <a16:creationId xmlns:a16="http://schemas.microsoft.com/office/drawing/2014/main" id="{C0F9BC5B-25C2-8116-BFF4-E73B7F5A3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365" y="826408"/>
            <a:ext cx="9473270" cy="938476"/>
          </a:xfrm>
        </p:spPr>
        <p:txBody>
          <a:bodyPr rtlCol="0">
            <a:normAutofit fontScale="90000"/>
          </a:bodyPr>
          <a:lstStyle/>
          <a:p>
            <a:pPr algn="ctr"/>
            <a:r>
              <a:rPr lang="es-MX" dirty="0">
                <a:solidFill>
                  <a:schemeClr val="tx1"/>
                </a:solidFill>
                <a:latin typeface="+mn-lt"/>
              </a:rPr>
              <a:t>SOP 7-FABRICACIÓN DE PARTES CON PROVEEDORES</a:t>
            </a:r>
            <a:br>
              <a:rPr lang="es-MX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sp>
        <p:nvSpPr>
          <p:cNvPr id="2" name="Marcador de pie de página 4">
            <a:extLst>
              <a:ext uri="{FF2B5EF4-FFF2-40B4-BE49-F238E27FC236}">
                <a16:creationId xmlns:a16="http://schemas.microsoft.com/office/drawing/2014/main" id="{86B0AE0F-5611-F9B3-17AE-E44A0166DED6}"/>
              </a:ext>
            </a:extLst>
          </p:cNvPr>
          <p:cNvSpPr txBox="1">
            <a:spLocks/>
          </p:cNvSpPr>
          <p:nvPr/>
        </p:nvSpPr>
        <p:spPr>
          <a:xfrm>
            <a:off x="442452" y="6356350"/>
            <a:ext cx="3672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s-mx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/>
              <a:t>HTL Electronics </a:t>
            </a:r>
            <a:endParaRPr lang="es-MX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ED37070-8E56-04B9-BA43-D70AB1A370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186" y="1272407"/>
            <a:ext cx="7239627" cy="545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495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365" y="826408"/>
            <a:ext cx="9473270" cy="938476"/>
          </a:xfrm>
        </p:spPr>
        <p:txBody>
          <a:bodyPr rtlCol="0">
            <a:normAutofit fontScale="90000"/>
          </a:bodyPr>
          <a:lstStyle/>
          <a:p>
            <a:pPr algn="ctr"/>
            <a:r>
              <a:rPr lang="es-MX" dirty="0">
                <a:solidFill>
                  <a:schemeClr val="tx1"/>
                </a:solidFill>
                <a:latin typeface="+mn-lt"/>
              </a:rPr>
              <a:t>SOP 8-ENSAMBLE EN SYSTEMS INTEGRATION (SI)</a:t>
            </a:r>
            <a:br>
              <a:rPr lang="es-MX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sp>
        <p:nvSpPr>
          <p:cNvPr id="20" name="Marcador de pie de página 4">
            <a:extLst>
              <a:ext uri="{FF2B5EF4-FFF2-40B4-BE49-F238E27FC236}">
                <a16:creationId xmlns:a16="http://schemas.microsoft.com/office/drawing/2014/main" id="{391D3201-20F9-4DD7-B4EB-F41AF17CA42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42452" y="6356350"/>
            <a:ext cx="3672348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l"/>
            <a:r>
              <a:rPr lang="es-MX" dirty="0"/>
              <a:t>HTL Electronics </a:t>
            </a:r>
          </a:p>
        </p:txBody>
      </p:sp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5" y="6356350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30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9C4054E-7149-9BAA-C295-641891BEE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017AC109-3CEE-C476-3A35-7E9626E0F8B3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7D9C17E3-1C32-22D1-6787-DE1BA42A4763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B1412656-E69F-B20C-148B-44D5F401A11B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3839069C-68FA-B910-C93D-32FE2E079C38}"/>
              </a:ext>
            </a:extLst>
          </p:cNvPr>
          <p:cNvSpPr txBox="1">
            <a:spLocks/>
          </p:cNvSpPr>
          <p:nvPr/>
        </p:nvSpPr>
        <p:spPr>
          <a:xfrm>
            <a:off x="817283" y="1860086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4D2721A-7771-55F4-99C0-C6BFF631AAD4}"/>
              </a:ext>
            </a:extLst>
          </p:cNvPr>
          <p:cNvSpPr txBox="1"/>
          <p:nvPr/>
        </p:nvSpPr>
        <p:spPr>
          <a:xfrm>
            <a:off x="943897" y="1356997"/>
            <a:ext cx="162232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Objetivo: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EC04D24-5476-F37A-2E46-227BB703439B}"/>
              </a:ext>
            </a:extLst>
          </p:cNvPr>
          <p:cNvSpPr txBox="1"/>
          <p:nvPr/>
        </p:nvSpPr>
        <p:spPr>
          <a:xfrm>
            <a:off x="943897" y="2844949"/>
            <a:ext cx="162232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Alcance: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4227CAC-F530-C045-BC7E-DB5243871BC9}"/>
              </a:ext>
            </a:extLst>
          </p:cNvPr>
          <p:cNvSpPr txBox="1"/>
          <p:nvPr/>
        </p:nvSpPr>
        <p:spPr>
          <a:xfrm>
            <a:off x="984788" y="4595576"/>
            <a:ext cx="162232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Disparador: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0BC31C4-169B-5B87-B3B5-2A1E6EC2FB3C}"/>
              </a:ext>
            </a:extLst>
          </p:cNvPr>
          <p:cNvSpPr txBox="1"/>
          <p:nvPr/>
        </p:nvSpPr>
        <p:spPr>
          <a:xfrm>
            <a:off x="6570432" y="1363971"/>
            <a:ext cx="1472354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 err="1">
                <a:solidFill>
                  <a:schemeClr val="bg1"/>
                </a:solidFill>
              </a:rPr>
              <a:t>SLAs</a:t>
            </a:r>
            <a:r>
              <a:rPr lang="es-MX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6912978-6197-996C-1AE6-862DBE71FA50}"/>
              </a:ext>
            </a:extLst>
          </p:cNvPr>
          <p:cNvSpPr txBox="1"/>
          <p:nvPr/>
        </p:nvSpPr>
        <p:spPr>
          <a:xfrm>
            <a:off x="6528224" y="2844949"/>
            <a:ext cx="1472355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 err="1">
                <a:solidFill>
                  <a:schemeClr val="bg1"/>
                </a:solidFill>
              </a:rPr>
              <a:t>KPIs</a:t>
            </a:r>
            <a:r>
              <a:rPr lang="es-MX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1197297-23DE-FCD5-1D5E-787B712B946A}"/>
              </a:ext>
            </a:extLst>
          </p:cNvPr>
          <p:cNvSpPr txBox="1"/>
          <p:nvPr/>
        </p:nvSpPr>
        <p:spPr>
          <a:xfrm>
            <a:off x="6528224" y="4618215"/>
            <a:ext cx="327414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Entradas requeridas: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AA5CA33-9018-1689-873D-126A77813ECE}"/>
              </a:ext>
            </a:extLst>
          </p:cNvPr>
          <p:cNvSpPr txBox="1"/>
          <p:nvPr/>
        </p:nvSpPr>
        <p:spPr>
          <a:xfrm>
            <a:off x="817283" y="1870301"/>
            <a:ext cx="472931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/>
              <a:t>Estandarizar el armado de estaciones con controles de calidad y seguridad.</a:t>
            </a:r>
            <a:endParaRPr lang="es-MX" sz="165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137B603-0CA1-1545-FD5A-6467456982B8}"/>
              </a:ext>
            </a:extLst>
          </p:cNvPr>
          <p:cNvSpPr txBox="1"/>
          <p:nvPr/>
        </p:nvSpPr>
        <p:spPr>
          <a:xfrm>
            <a:off x="817283" y="3436462"/>
            <a:ext cx="472931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/>
              <a:t>Aplica a SI, Ingeniería, Diseño, Calidad y Seguridad.</a:t>
            </a:r>
            <a:endParaRPr lang="es-MX" sz="165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AF54577-2B24-68B2-BD85-AB22C6395324}"/>
              </a:ext>
            </a:extLst>
          </p:cNvPr>
          <p:cNvSpPr txBox="1"/>
          <p:nvPr/>
        </p:nvSpPr>
        <p:spPr>
          <a:xfrm>
            <a:off x="817283" y="5124696"/>
            <a:ext cx="472931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Disponibilidad de kit completo y orden de trabajo liberada.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3978E94-FE0A-429E-9C2C-970C0063C1A2}"/>
              </a:ext>
            </a:extLst>
          </p:cNvPr>
          <p:cNvSpPr txBox="1"/>
          <p:nvPr/>
        </p:nvSpPr>
        <p:spPr>
          <a:xfrm>
            <a:off x="6328263" y="1879107"/>
            <a:ext cx="472931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Tiempo de ensamble según plan ±10%.</a:t>
            </a:r>
            <a:endParaRPr lang="pt-BR" sz="165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C8098E5-0D7B-B1FA-1AAC-7EEE43AB0ECE}"/>
              </a:ext>
            </a:extLst>
          </p:cNvPr>
          <p:cNvSpPr txBox="1"/>
          <p:nvPr/>
        </p:nvSpPr>
        <p:spPr>
          <a:xfrm>
            <a:off x="6328263" y="3355228"/>
            <a:ext cx="472931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% retrabajo en ensamble.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Cumplimiento de gates sin desviaciones.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Incidentes EHS = 0.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% desviación de material por proyecto.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9887E9A6-8B05-E82C-D079-147417EEF5C3}"/>
              </a:ext>
            </a:extLst>
          </p:cNvPr>
          <p:cNvSpPr txBox="1"/>
          <p:nvPr/>
        </p:nvSpPr>
        <p:spPr>
          <a:xfrm>
            <a:off x="6328263" y="5124696"/>
            <a:ext cx="472931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EPP.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Diseño de tablero.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Insumos de integración.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b="1" dirty="0" err="1"/>
              <a:t>Traveler</a:t>
            </a:r>
            <a:r>
              <a:rPr lang="es-MX" sz="1650" b="1" dirty="0"/>
              <a:t> de estación con </a:t>
            </a:r>
            <a:r>
              <a:rPr lang="es-MX" sz="1650" b="1" dirty="0" err="1"/>
              <a:t>checklist</a:t>
            </a:r>
            <a:r>
              <a:rPr lang="es-MX" sz="1650" b="1" dirty="0"/>
              <a:t> por etapa.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Plan de </a:t>
            </a:r>
            <a:r>
              <a:rPr lang="es-MX" sz="1650" dirty="0" err="1"/>
              <a:t>torqueado</a:t>
            </a:r>
            <a:r>
              <a:rPr lang="es-MX" sz="1650" dirty="0"/>
              <a:t>, cableado y neumática.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Evaluación de riesgos (Iván).</a:t>
            </a:r>
          </a:p>
        </p:txBody>
      </p:sp>
    </p:spTree>
    <p:extLst>
      <p:ext uri="{BB962C8B-B14F-4D97-AF65-F5344CB8AC3E}">
        <p14:creationId xmlns:p14="http://schemas.microsoft.com/office/powerpoint/2010/main" val="3786290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5" y="6356350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31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9C4054E-7149-9BAA-C295-641891BEE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017AC109-3CEE-C476-3A35-7E9626E0F8B3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7D9C17E3-1C32-22D1-6787-DE1BA42A4763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B1412656-E69F-B20C-148B-44D5F401A11B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3839069C-68FA-B910-C93D-32FE2E079C38}"/>
              </a:ext>
            </a:extLst>
          </p:cNvPr>
          <p:cNvSpPr txBox="1">
            <a:spLocks/>
          </p:cNvSpPr>
          <p:nvPr/>
        </p:nvSpPr>
        <p:spPr>
          <a:xfrm>
            <a:off x="817283" y="1870301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4D2721A-7771-55F4-99C0-C6BFF631AAD4}"/>
              </a:ext>
            </a:extLst>
          </p:cNvPr>
          <p:cNvSpPr txBox="1"/>
          <p:nvPr/>
        </p:nvSpPr>
        <p:spPr>
          <a:xfrm>
            <a:off x="1011274" y="1682704"/>
            <a:ext cx="2497393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Controles y registros: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EC04D24-5476-F37A-2E46-227BB703439B}"/>
              </a:ext>
            </a:extLst>
          </p:cNvPr>
          <p:cNvSpPr txBox="1"/>
          <p:nvPr/>
        </p:nvSpPr>
        <p:spPr>
          <a:xfrm>
            <a:off x="7026528" y="1685635"/>
            <a:ext cx="2782529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Herramientas/formatos: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0BC31C4-169B-5B87-B3B5-2A1E6EC2FB3C}"/>
              </a:ext>
            </a:extLst>
          </p:cNvPr>
          <p:cNvSpPr txBox="1"/>
          <p:nvPr/>
        </p:nvSpPr>
        <p:spPr>
          <a:xfrm>
            <a:off x="5773361" y="3822683"/>
            <a:ext cx="1109803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RACI: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B073204-3245-A50B-D830-96DE85BBA10A}"/>
              </a:ext>
            </a:extLst>
          </p:cNvPr>
          <p:cNvSpPr txBox="1"/>
          <p:nvPr/>
        </p:nvSpPr>
        <p:spPr>
          <a:xfrm>
            <a:off x="859280" y="2187646"/>
            <a:ext cx="4831306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Registros de inspección por etapa.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00" dirty="0"/>
              <a:t>Control y registro de equipos de medición aplicables que afectan la conformidad del producto.</a:t>
            </a:r>
            <a:endParaRPr lang="es-MX" sz="1650" dirty="0"/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Bitácora de retrabajos.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7E61492-6986-64C2-C59F-7BFF7D67312C}"/>
              </a:ext>
            </a:extLst>
          </p:cNvPr>
          <p:cNvSpPr txBox="1"/>
          <p:nvPr/>
        </p:nvSpPr>
        <p:spPr>
          <a:xfrm>
            <a:off x="6957064" y="2185295"/>
            <a:ext cx="4629000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Herramientas calibradas (solo aplicables), etiquetas, planos de ensamble y numeración.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Checklist EHS y de seguridad funcional y FAT.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A74D7750-0A43-EF14-A20D-15F9E89584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707014"/>
              </p:ext>
            </p:extLst>
          </p:nvPr>
        </p:nvGraphicFramePr>
        <p:xfrm>
          <a:off x="1070463" y="4369744"/>
          <a:ext cx="10600427" cy="1943100"/>
        </p:xfrm>
        <a:graphic>
          <a:graphicData uri="http://schemas.openxmlformats.org/drawingml/2006/table">
            <a:tbl>
              <a:tblPr>
                <a:tableStyleId>{AF606853-7671-496A-8E4F-DF71F8EC918B}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5589176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42591431"/>
                    </a:ext>
                  </a:extLst>
                </a:gridCol>
                <a:gridCol w="1999168">
                  <a:extLst>
                    <a:ext uri="{9D8B030D-6E8A-4147-A177-3AD203B41FA5}">
                      <a16:colId xmlns:a16="http://schemas.microsoft.com/office/drawing/2014/main" val="3421345571"/>
                    </a:ext>
                  </a:extLst>
                </a:gridCol>
                <a:gridCol w="2290916">
                  <a:extLst>
                    <a:ext uri="{9D8B030D-6E8A-4147-A177-3AD203B41FA5}">
                      <a16:colId xmlns:a16="http://schemas.microsoft.com/office/drawing/2014/main" val="3116459775"/>
                    </a:ext>
                  </a:extLst>
                </a:gridCol>
                <a:gridCol w="2104103">
                  <a:extLst>
                    <a:ext uri="{9D8B030D-6E8A-4147-A177-3AD203B41FA5}">
                      <a16:colId xmlns:a16="http://schemas.microsoft.com/office/drawing/2014/main" val="19154922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Actividad principal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/>
                        <a:t>A (Aprueba)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/>
                        <a:t>R (Responsable)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C (Consultado)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I (Informado)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8566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Ensamble en </a:t>
                      </a:r>
                      <a:r>
                        <a:rPr lang="es-MX" sz="1650" dirty="0" err="1">
                          <a:solidFill>
                            <a:schemeClr val="tx1"/>
                          </a:solidFill>
                        </a:rPr>
                        <a:t>systems</a:t>
                      </a:r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s-MX" sz="1650" dirty="0" err="1">
                          <a:solidFill>
                            <a:schemeClr val="tx1"/>
                          </a:solidFill>
                        </a:rPr>
                        <a:t>integration</a:t>
                      </a:r>
                      <a:endParaRPr lang="es-MX" sz="16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-Francia (cumplimiento del plan)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s-MX" sz="1650" dirty="0" err="1">
                          <a:solidFill>
                            <a:schemeClr val="tx1"/>
                          </a:solidFill>
                        </a:rPr>
                        <a:t>Seferino</a:t>
                      </a:r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 (ejecución)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-Miguel (ajustes mecánicos) </a:t>
                      </a:r>
                    </a:p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-Ramón/Ian (requisitos funcionales técnicos).</a:t>
                      </a:r>
                    </a:p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-Iván (seguridad)</a:t>
                      </a:r>
                    </a:p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-Arturo (calidad)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s-MX" sz="1650" dirty="0" err="1">
                          <a:solidFill>
                            <a:schemeClr val="tx1"/>
                          </a:solidFill>
                        </a:rPr>
                        <a:t>Karym</a:t>
                      </a:r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 (costos)</a:t>
                      </a:r>
                    </a:p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-Pavel (materiales)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71193"/>
                  </a:ext>
                </a:extLst>
              </a:tr>
            </a:tbl>
          </a:graphicData>
        </a:graphic>
      </p:graphicFrame>
      <p:sp>
        <p:nvSpPr>
          <p:cNvPr id="10" name="Título 13">
            <a:extLst>
              <a:ext uri="{FF2B5EF4-FFF2-40B4-BE49-F238E27FC236}">
                <a16:creationId xmlns:a16="http://schemas.microsoft.com/office/drawing/2014/main" id="{5CA1D295-62B5-2E6B-C421-2912C25DD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365" y="826408"/>
            <a:ext cx="9473270" cy="938476"/>
          </a:xfrm>
        </p:spPr>
        <p:txBody>
          <a:bodyPr rtlCol="0">
            <a:normAutofit fontScale="90000"/>
          </a:bodyPr>
          <a:lstStyle/>
          <a:p>
            <a:pPr algn="ctr"/>
            <a:r>
              <a:rPr lang="es-MX" dirty="0">
                <a:solidFill>
                  <a:schemeClr val="tx1"/>
                </a:solidFill>
                <a:latin typeface="+mn-lt"/>
              </a:rPr>
              <a:t>SOP 8-ENSAMBLE EN SYSTEMS INTEGRATION (SI)</a:t>
            </a:r>
            <a:br>
              <a:rPr lang="es-MX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32F506FA-441A-3376-919B-6539069BE725}"/>
              </a:ext>
            </a:extLst>
          </p:cNvPr>
          <p:cNvSpPr txBox="1">
            <a:spLocks/>
          </p:cNvSpPr>
          <p:nvPr/>
        </p:nvSpPr>
        <p:spPr>
          <a:xfrm>
            <a:off x="442452" y="6356350"/>
            <a:ext cx="3672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s-mx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/>
              <a:t>HTL Electronics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840454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5" y="6356350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32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9C4054E-7149-9BAA-C295-641891BEE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017AC109-3CEE-C476-3A35-7E9626E0F8B3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7D9C17E3-1C32-22D1-6787-DE1BA42A4763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B1412656-E69F-B20C-148B-44D5F401A11B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Título 13">
            <a:extLst>
              <a:ext uri="{FF2B5EF4-FFF2-40B4-BE49-F238E27FC236}">
                <a16:creationId xmlns:a16="http://schemas.microsoft.com/office/drawing/2014/main" id="{5CA1D295-62B5-2E6B-C421-2912C25DD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365" y="826408"/>
            <a:ext cx="9473270" cy="938476"/>
          </a:xfrm>
        </p:spPr>
        <p:txBody>
          <a:bodyPr rtlCol="0">
            <a:normAutofit fontScale="90000"/>
          </a:bodyPr>
          <a:lstStyle/>
          <a:p>
            <a:pPr algn="ctr"/>
            <a:r>
              <a:rPr lang="es-MX" dirty="0">
                <a:solidFill>
                  <a:schemeClr val="tx1"/>
                </a:solidFill>
                <a:latin typeface="+mn-lt"/>
              </a:rPr>
              <a:t>SOP 8-ENSAMBLE EN SYSTEMS INTEGRATION (SI)</a:t>
            </a:r>
            <a:br>
              <a:rPr lang="es-MX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sp>
        <p:nvSpPr>
          <p:cNvPr id="2" name="Marcador de pie de página 4">
            <a:extLst>
              <a:ext uri="{FF2B5EF4-FFF2-40B4-BE49-F238E27FC236}">
                <a16:creationId xmlns:a16="http://schemas.microsoft.com/office/drawing/2014/main" id="{E938CA3B-6E60-A0FF-500D-52C2155F5BB4}"/>
              </a:ext>
            </a:extLst>
          </p:cNvPr>
          <p:cNvSpPr txBox="1">
            <a:spLocks/>
          </p:cNvSpPr>
          <p:nvPr/>
        </p:nvSpPr>
        <p:spPr>
          <a:xfrm>
            <a:off x="442452" y="6356350"/>
            <a:ext cx="3672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s-mx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/>
              <a:t>HTL Electronics </a:t>
            </a:r>
            <a:endParaRPr lang="es-MX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7E9A8E3-1DFB-FF4C-924A-AD92F4E426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1975" y="1295646"/>
            <a:ext cx="7159661" cy="535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1376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365" y="826408"/>
            <a:ext cx="9473270" cy="938476"/>
          </a:xfrm>
        </p:spPr>
        <p:txBody>
          <a:bodyPr rtlCol="0">
            <a:normAutofit fontScale="90000"/>
          </a:bodyPr>
          <a:lstStyle/>
          <a:p>
            <a:pPr algn="ctr"/>
            <a:r>
              <a:rPr lang="es-MX" dirty="0">
                <a:solidFill>
                  <a:schemeClr val="tx1"/>
                </a:solidFill>
                <a:latin typeface="+mn-lt"/>
              </a:rPr>
              <a:t>SOP 9-PUESTA EN MARCHA (</a:t>
            </a:r>
            <a:r>
              <a:rPr lang="es-MX" dirty="0" err="1">
                <a:solidFill>
                  <a:schemeClr val="tx1"/>
                </a:solidFill>
                <a:latin typeface="+mn-lt"/>
              </a:rPr>
              <a:t>Commissioning</a:t>
            </a:r>
            <a:r>
              <a:rPr lang="es-MX" dirty="0">
                <a:solidFill>
                  <a:schemeClr val="tx1"/>
                </a:solidFill>
                <a:latin typeface="+mn-lt"/>
              </a:rPr>
              <a:t>)</a:t>
            </a:r>
            <a:br>
              <a:rPr lang="es-MX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sp>
        <p:nvSpPr>
          <p:cNvPr id="20" name="Marcador de pie de página 4">
            <a:extLst>
              <a:ext uri="{FF2B5EF4-FFF2-40B4-BE49-F238E27FC236}">
                <a16:creationId xmlns:a16="http://schemas.microsoft.com/office/drawing/2014/main" id="{391D3201-20F9-4DD7-B4EB-F41AF17CA42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42452" y="6356350"/>
            <a:ext cx="3672348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l"/>
            <a:r>
              <a:rPr lang="es-MX" dirty="0"/>
              <a:t>HTL Electronics </a:t>
            </a:r>
          </a:p>
        </p:txBody>
      </p:sp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5" y="6356350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33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9C4054E-7149-9BAA-C295-641891BEE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017AC109-3CEE-C476-3A35-7E9626E0F8B3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7D9C17E3-1C32-22D1-6787-DE1BA42A4763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B1412656-E69F-B20C-148B-44D5F401A11B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3839069C-68FA-B910-C93D-32FE2E079C38}"/>
              </a:ext>
            </a:extLst>
          </p:cNvPr>
          <p:cNvSpPr txBox="1">
            <a:spLocks/>
          </p:cNvSpPr>
          <p:nvPr/>
        </p:nvSpPr>
        <p:spPr>
          <a:xfrm>
            <a:off x="817283" y="1860086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4D2721A-7771-55F4-99C0-C6BFF631AAD4}"/>
              </a:ext>
            </a:extLst>
          </p:cNvPr>
          <p:cNvSpPr txBox="1"/>
          <p:nvPr/>
        </p:nvSpPr>
        <p:spPr>
          <a:xfrm>
            <a:off x="943897" y="1356997"/>
            <a:ext cx="162232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Objetivo: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EC04D24-5476-F37A-2E46-227BB703439B}"/>
              </a:ext>
            </a:extLst>
          </p:cNvPr>
          <p:cNvSpPr txBox="1"/>
          <p:nvPr/>
        </p:nvSpPr>
        <p:spPr>
          <a:xfrm>
            <a:off x="943897" y="2844949"/>
            <a:ext cx="162232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Alcance: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4227CAC-F530-C045-BC7E-DB5243871BC9}"/>
              </a:ext>
            </a:extLst>
          </p:cNvPr>
          <p:cNvSpPr txBox="1"/>
          <p:nvPr/>
        </p:nvSpPr>
        <p:spPr>
          <a:xfrm>
            <a:off x="984788" y="4595576"/>
            <a:ext cx="162232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Disparador: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0BC31C4-169B-5B87-B3B5-2A1E6EC2FB3C}"/>
              </a:ext>
            </a:extLst>
          </p:cNvPr>
          <p:cNvSpPr txBox="1"/>
          <p:nvPr/>
        </p:nvSpPr>
        <p:spPr>
          <a:xfrm>
            <a:off x="6570432" y="1363971"/>
            <a:ext cx="1472354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 err="1">
                <a:solidFill>
                  <a:schemeClr val="bg1"/>
                </a:solidFill>
              </a:rPr>
              <a:t>SLAs</a:t>
            </a:r>
            <a:r>
              <a:rPr lang="es-MX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6912978-6197-996C-1AE6-862DBE71FA50}"/>
              </a:ext>
            </a:extLst>
          </p:cNvPr>
          <p:cNvSpPr txBox="1"/>
          <p:nvPr/>
        </p:nvSpPr>
        <p:spPr>
          <a:xfrm>
            <a:off x="6528224" y="2844949"/>
            <a:ext cx="1472355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 err="1">
                <a:solidFill>
                  <a:schemeClr val="bg1"/>
                </a:solidFill>
              </a:rPr>
              <a:t>KPIs</a:t>
            </a:r>
            <a:r>
              <a:rPr lang="es-MX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1197297-23DE-FCD5-1D5E-787B712B946A}"/>
              </a:ext>
            </a:extLst>
          </p:cNvPr>
          <p:cNvSpPr txBox="1"/>
          <p:nvPr/>
        </p:nvSpPr>
        <p:spPr>
          <a:xfrm>
            <a:off x="6528224" y="4618215"/>
            <a:ext cx="327414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Entradas requeridas: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AA5CA33-9018-1689-873D-126A77813ECE}"/>
              </a:ext>
            </a:extLst>
          </p:cNvPr>
          <p:cNvSpPr txBox="1"/>
          <p:nvPr/>
        </p:nvSpPr>
        <p:spPr>
          <a:xfrm>
            <a:off x="817283" y="1870301"/>
            <a:ext cx="472931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/>
              <a:t>Asegurar arranque controlado, aceptación del cliente y transición a soporte.</a:t>
            </a:r>
            <a:endParaRPr lang="es-MX" sz="165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137B603-0CA1-1545-FD5A-6467456982B8}"/>
              </a:ext>
            </a:extLst>
          </p:cNvPr>
          <p:cNvSpPr txBox="1"/>
          <p:nvPr/>
        </p:nvSpPr>
        <p:spPr>
          <a:xfrm>
            <a:off x="817283" y="3436462"/>
            <a:ext cx="472931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Aplica a Ingeniería, PM, Ventas, Soporte y Calidad.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AF54577-2B24-68B2-BD85-AB22C6395324}"/>
              </a:ext>
            </a:extLst>
          </p:cNvPr>
          <p:cNvSpPr txBox="1"/>
          <p:nvPr/>
        </p:nvSpPr>
        <p:spPr>
          <a:xfrm>
            <a:off x="817283" y="5124696"/>
            <a:ext cx="472931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Finalización de FAT y envío a sitio.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Checklist de </a:t>
            </a:r>
            <a:r>
              <a:rPr lang="es-MX" sz="1650" dirty="0" err="1"/>
              <a:t>readiness</a:t>
            </a:r>
            <a:r>
              <a:rPr lang="es-MX" sz="1650" dirty="0"/>
              <a:t> del cliente (energía, anclajes, </a:t>
            </a:r>
            <a:r>
              <a:rPr lang="es-MX" sz="1650" dirty="0" err="1"/>
              <a:t>layout</a:t>
            </a:r>
            <a:r>
              <a:rPr lang="es-MX" sz="1650" dirty="0"/>
              <a:t>).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endParaRPr lang="es-MX" sz="1650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63978E94-FE0A-429E-9C2C-970C0063C1A2}"/>
              </a:ext>
            </a:extLst>
          </p:cNvPr>
          <p:cNvSpPr txBox="1"/>
          <p:nvPr/>
        </p:nvSpPr>
        <p:spPr>
          <a:xfrm>
            <a:off x="6328263" y="1879107"/>
            <a:ext cx="472931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SAT y  FAT dentro de plazo acordado.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Tiempo de resolución de pendientes ≤ 10 días.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C8098E5-0D7B-B1FA-1AAC-7EEE43AB0ECE}"/>
              </a:ext>
            </a:extLst>
          </p:cNvPr>
          <p:cNvSpPr txBox="1"/>
          <p:nvPr/>
        </p:nvSpPr>
        <p:spPr>
          <a:xfrm>
            <a:off x="6328263" y="3436462"/>
            <a:ext cx="4729316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% SAT y FAT a la primera.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CSAT de puesta en marcha.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Tasa de incidencias en 90 días.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9887E9A6-8B05-E82C-D079-147417EEF5C3}"/>
              </a:ext>
            </a:extLst>
          </p:cNvPr>
          <p:cNvSpPr txBox="1"/>
          <p:nvPr/>
        </p:nvSpPr>
        <p:spPr>
          <a:xfrm>
            <a:off x="6328263" y="5124696"/>
            <a:ext cx="472931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EPP.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 err="1"/>
              <a:t>Backup</a:t>
            </a:r>
            <a:r>
              <a:rPr lang="es-MX" sz="1650" dirty="0"/>
              <a:t> de programas, manuales y planos as-</a:t>
            </a:r>
            <a:r>
              <a:rPr lang="es-MX" sz="1650" dirty="0" err="1"/>
              <a:t>built</a:t>
            </a:r>
            <a:r>
              <a:rPr lang="es-MX" sz="16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36223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4" y="6308957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34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9C4054E-7149-9BAA-C295-641891BEE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017AC109-3CEE-C476-3A35-7E9626E0F8B3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7D9C17E3-1C32-22D1-6787-DE1BA42A4763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B1412656-E69F-B20C-148B-44D5F401A11B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3839069C-68FA-B910-C93D-32FE2E079C38}"/>
              </a:ext>
            </a:extLst>
          </p:cNvPr>
          <p:cNvSpPr txBox="1">
            <a:spLocks/>
          </p:cNvSpPr>
          <p:nvPr/>
        </p:nvSpPr>
        <p:spPr>
          <a:xfrm>
            <a:off x="817283" y="1870301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4D2721A-7771-55F4-99C0-C6BFF631AAD4}"/>
              </a:ext>
            </a:extLst>
          </p:cNvPr>
          <p:cNvSpPr txBox="1"/>
          <p:nvPr/>
        </p:nvSpPr>
        <p:spPr>
          <a:xfrm>
            <a:off x="1011274" y="1682704"/>
            <a:ext cx="2497393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Controles y registros: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EC04D24-5476-F37A-2E46-227BB703439B}"/>
              </a:ext>
            </a:extLst>
          </p:cNvPr>
          <p:cNvSpPr txBox="1"/>
          <p:nvPr/>
        </p:nvSpPr>
        <p:spPr>
          <a:xfrm>
            <a:off x="7026528" y="1685635"/>
            <a:ext cx="2782529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Herramientas/formatos: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0BC31C4-169B-5B87-B3B5-2A1E6EC2FB3C}"/>
              </a:ext>
            </a:extLst>
          </p:cNvPr>
          <p:cNvSpPr txBox="1"/>
          <p:nvPr/>
        </p:nvSpPr>
        <p:spPr>
          <a:xfrm>
            <a:off x="5773361" y="3822683"/>
            <a:ext cx="1109803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RACI: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B073204-3245-A50B-D830-96DE85BBA10A}"/>
              </a:ext>
            </a:extLst>
          </p:cNvPr>
          <p:cNvSpPr txBox="1"/>
          <p:nvPr/>
        </p:nvSpPr>
        <p:spPr>
          <a:xfrm>
            <a:off x="859280" y="2187646"/>
            <a:ext cx="472931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Paquete de entrega completo (as-</a:t>
            </a:r>
            <a:r>
              <a:rPr lang="es-MX" sz="1650" dirty="0" err="1"/>
              <a:t>built</a:t>
            </a:r>
            <a:r>
              <a:rPr lang="es-MX" sz="1650" dirty="0"/>
              <a:t>, </a:t>
            </a:r>
            <a:r>
              <a:rPr lang="es-MX" sz="1650" dirty="0" err="1"/>
              <a:t>backups</a:t>
            </a:r>
            <a:r>
              <a:rPr lang="es-MX" sz="1650" dirty="0"/>
              <a:t>, licencias y manuales).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Registro de tickets durante garantía con SLA.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Lecciones aprendidas </a:t>
            </a:r>
            <a:r>
              <a:rPr lang="es-MX" sz="1650" dirty="0" err="1"/>
              <a:t>post-cierre</a:t>
            </a:r>
            <a:r>
              <a:rPr lang="es-MX" sz="1650" dirty="0"/>
              <a:t>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7E61492-6986-64C2-C59F-7BFF7D67312C}"/>
              </a:ext>
            </a:extLst>
          </p:cNvPr>
          <p:cNvSpPr txBox="1"/>
          <p:nvPr/>
        </p:nvSpPr>
        <p:spPr>
          <a:xfrm>
            <a:off x="6957064" y="2185295"/>
            <a:ext cx="4629000" cy="85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b="1" dirty="0"/>
              <a:t>Plantilla de SAT con criterios objetivos.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b="1" dirty="0"/>
              <a:t>Formato de </a:t>
            </a:r>
            <a:r>
              <a:rPr lang="es-MX" sz="1650" b="1" dirty="0" err="1"/>
              <a:t>Handover</a:t>
            </a:r>
            <a:r>
              <a:rPr lang="es-MX" sz="1650" b="1" dirty="0"/>
              <a:t> a Soporte (garantía).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b="1" dirty="0"/>
              <a:t>Encuesta de aceptación del cliente.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A74D7750-0A43-EF14-A20D-15F9E89584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74184"/>
              </p:ext>
            </p:extLst>
          </p:nvPr>
        </p:nvGraphicFramePr>
        <p:xfrm>
          <a:off x="1070463" y="4369744"/>
          <a:ext cx="10600427" cy="2194560"/>
        </p:xfrm>
        <a:graphic>
          <a:graphicData uri="http://schemas.openxmlformats.org/drawingml/2006/table">
            <a:tbl>
              <a:tblPr>
                <a:tableStyleId>{AF606853-7671-496A-8E4F-DF71F8EC918B}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5589176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42591431"/>
                    </a:ext>
                  </a:extLst>
                </a:gridCol>
                <a:gridCol w="1999168">
                  <a:extLst>
                    <a:ext uri="{9D8B030D-6E8A-4147-A177-3AD203B41FA5}">
                      <a16:colId xmlns:a16="http://schemas.microsoft.com/office/drawing/2014/main" val="3421345571"/>
                    </a:ext>
                  </a:extLst>
                </a:gridCol>
                <a:gridCol w="2290916">
                  <a:extLst>
                    <a:ext uri="{9D8B030D-6E8A-4147-A177-3AD203B41FA5}">
                      <a16:colId xmlns:a16="http://schemas.microsoft.com/office/drawing/2014/main" val="3116459775"/>
                    </a:ext>
                  </a:extLst>
                </a:gridCol>
                <a:gridCol w="2104103">
                  <a:extLst>
                    <a:ext uri="{9D8B030D-6E8A-4147-A177-3AD203B41FA5}">
                      <a16:colId xmlns:a16="http://schemas.microsoft.com/office/drawing/2014/main" val="19154922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Actividad principal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A (Aprueba)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/>
                        <a:t>R (Responsable)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C (Consultado)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I (Informado)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8566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Puesta en marcha (</a:t>
                      </a:r>
                      <a:r>
                        <a:rPr lang="es-MX" sz="1650" dirty="0" err="1">
                          <a:solidFill>
                            <a:schemeClr val="tx1"/>
                          </a:solidFill>
                        </a:rPr>
                        <a:t>commissioning</a:t>
                      </a:r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-Cliente (SAT y FAT)</a:t>
                      </a:r>
                    </a:p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-Xavier en cambios mayores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-Ramón (técnico)</a:t>
                      </a:r>
                    </a:p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-Francia (administrativo).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-Juan (marca)</a:t>
                      </a:r>
                    </a:p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s-MX" sz="1650" dirty="0" err="1">
                          <a:solidFill>
                            <a:schemeClr val="tx1"/>
                          </a:solidFill>
                        </a:rPr>
                        <a:t>Seferino</a:t>
                      </a:r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 (ajustes físicos)</a:t>
                      </a:r>
                    </a:p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-Iván/Ian (training y portales).</a:t>
                      </a:r>
                    </a:p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-Iván (seguridad).</a:t>
                      </a:r>
                    </a:p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-Arturo (calidad).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s-MX" sz="1650" dirty="0" err="1">
                          <a:solidFill>
                            <a:schemeClr val="tx1"/>
                          </a:solidFill>
                        </a:rPr>
                        <a:t>Karym</a:t>
                      </a:r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 (facturación) </a:t>
                      </a:r>
                    </a:p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-Harvey (cuentas futuras).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71193"/>
                  </a:ext>
                </a:extLst>
              </a:tr>
            </a:tbl>
          </a:graphicData>
        </a:graphic>
      </p:graphicFrame>
      <p:sp>
        <p:nvSpPr>
          <p:cNvPr id="11" name="Título 13">
            <a:extLst>
              <a:ext uri="{FF2B5EF4-FFF2-40B4-BE49-F238E27FC236}">
                <a16:creationId xmlns:a16="http://schemas.microsoft.com/office/drawing/2014/main" id="{E69EDBB7-279B-9E63-2D17-151BDAF1A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365" y="826408"/>
            <a:ext cx="9473270" cy="938476"/>
          </a:xfrm>
        </p:spPr>
        <p:txBody>
          <a:bodyPr rtlCol="0">
            <a:normAutofit fontScale="90000"/>
          </a:bodyPr>
          <a:lstStyle/>
          <a:p>
            <a:pPr algn="ctr"/>
            <a:r>
              <a:rPr lang="es-MX" dirty="0">
                <a:solidFill>
                  <a:schemeClr val="tx1"/>
                </a:solidFill>
                <a:latin typeface="+mn-lt"/>
              </a:rPr>
              <a:t>SOP 9-PUESTA EN MARCHA (</a:t>
            </a:r>
            <a:r>
              <a:rPr lang="es-MX" dirty="0" err="1">
                <a:solidFill>
                  <a:schemeClr val="tx1"/>
                </a:solidFill>
                <a:latin typeface="+mn-lt"/>
              </a:rPr>
              <a:t>Commissioning</a:t>
            </a:r>
            <a:r>
              <a:rPr lang="es-MX" dirty="0">
                <a:solidFill>
                  <a:schemeClr val="tx1"/>
                </a:solidFill>
                <a:latin typeface="+mn-lt"/>
              </a:rPr>
              <a:t>)</a:t>
            </a:r>
            <a:br>
              <a:rPr lang="es-MX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sp>
        <p:nvSpPr>
          <p:cNvPr id="7" name="Marcador de pie de página 4">
            <a:extLst>
              <a:ext uri="{FF2B5EF4-FFF2-40B4-BE49-F238E27FC236}">
                <a16:creationId xmlns:a16="http://schemas.microsoft.com/office/drawing/2014/main" id="{D67A44CA-1B17-84A8-737A-844E654A7521}"/>
              </a:ext>
            </a:extLst>
          </p:cNvPr>
          <p:cNvSpPr txBox="1">
            <a:spLocks/>
          </p:cNvSpPr>
          <p:nvPr/>
        </p:nvSpPr>
        <p:spPr>
          <a:xfrm>
            <a:off x="442452" y="6356350"/>
            <a:ext cx="3672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s-mx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/>
              <a:t>HTL Electronics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666940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4" y="6308957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35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F9C4054E-7149-9BAA-C295-641891BEE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017AC109-3CEE-C476-3A35-7E9626E0F8B3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7D9C17E3-1C32-22D1-6787-DE1BA42A4763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B1412656-E69F-B20C-148B-44D5F401A11B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3839069C-68FA-B910-C93D-32FE2E079C38}"/>
              </a:ext>
            </a:extLst>
          </p:cNvPr>
          <p:cNvSpPr txBox="1">
            <a:spLocks/>
          </p:cNvSpPr>
          <p:nvPr/>
        </p:nvSpPr>
        <p:spPr>
          <a:xfrm>
            <a:off x="817283" y="1908539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11" name="Título 13">
            <a:extLst>
              <a:ext uri="{FF2B5EF4-FFF2-40B4-BE49-F238E27FC236}">
                <a16:creationId xmlns:a16="http://schemas.microsoft.com/office/drawing/2014/main" id="{E69EDBB7-279B-9E63-2D17-151BDAF1A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365" y="826408"/>
            <a:ext cx="9473270" cy="938476"/>
          </a:xfrm>
        </p:spPr>
        <p:txBody>
          <a:bodyPr rtlCol="0">
            <a:normAutofit fontScale="90000"/>
          </a:bodyPr>
          <a:lstStyle/>
          <a:p>
            <a:pPr algn="ctr"/>
            <a:r>
              <a:rPr lang="es-MX" dirty="0">
                <a:solidFill>
                  <a:schemeClr val="tx1"/>
                </a:solidFill>
                <a:latin typeface="+mn-lt"/>
              </a:rPr>
              <a:t>SOP 9-PUESTA EN MARCHA (</a:t>
            </a:r>
            <a:r>
              <a:rPr lang="es-MX" dirty="0" err="1">
                <a:solidFill>
                  <a:schemeClr val="tx1"/>
                </a:solidFill>
                <a:latin typeface="+mn-lt"/>
              </a:rPr>
              <a:t>Commissioning</a:t>
            </a:r>
            <a:r>
              <a:rPr lang="es-MX" dirty="0">
                <a:solidFill>
                  <a:schemeClr val="tx1"/>
                </a:solidFill>
                <a:latin typeface="+mn-lt"/>
              </a:rPr>
              <a:t>)</a:t>
            </a:r>
            <a:br>
              <a:rPr lang="es-MX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E5DAC208-2E7F-9C7F-33A3-26E309FEB29F}"/>
              </a:ext>
            </a:extLst>
          </p:cNvPr>
          <p:cNvSpPr txBox="1">
            <a:spLocks/>
          </p:cNvSpPr>
          <p:nvPr/>
        </p:nvSpPr>
        <p:spPr>
          <a:xfrm>
            <a:off x="442452" y="6356350"/>
            <a:ext cx="3672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s-mx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/>
              <a:t>HTL Electronics </a:t>
            </a:r>
            <a:endParaRPr lang="es-MX" dirty="0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12B24ADA-CB4A-C4D2-C9CB-829227340F6B}"/>
              </a:ext>
            </a:extLst>
          </p:cNvPr>
          <p:cNvSpPr txBox="1">
            <a:spLocks/>
          </p:cNvSpPr>
          <p:nvPr/>
        </p:nvSpPr>
        <p:spPr>
          <a:xfrm>
            <a:off x="817283" y="1974376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95FC5161-D60B-D36A-D816-B18B98C1F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9441" y="1309604"/>
            <a:ext cx="7121982" cy="5364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6725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87942-2736-6008-2368-1D5456506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>
            <a:extLst>
              <a:ext uri="{FF2B5EF4-FFF2-40B4-BE49-F238E27FC236}">
                <a16:creationId xmlns:a16="http://schemas.microsoft.com/office/drawing/2014/main" id="{A025A40C-FE72-411D-F58C-CFA95E4B0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365" y="404761"/>
            <a:ext cx="9473270" cy="938476"/>
          </a:xfrm>
        </p:spPr>
        <p:txBody>
          <a:bodyPr rtlCol="0">
            <a:normAutofit fontScale="90000"/>
          </a:bodyPr>
          <a:lstStyle/>
          <a:p>
            <a:pPr algn="ctr"/>
            <a:r>
              <a:rPr lang="es-MX" dirty="0">
                <a:solidFill>
                  <a:schemeClr val="tx1"/>
                </a:solidFill>
                <a:latin typeface="+mn-lt"/>
              </a:rPr>
              <a:t>SOP 10-DISEÑO</a:t>
            </a:r>
            <a:br>
              <a:rPr lang="es-MX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sp>
        <p:nvSpPr>
          <p:cNvPr id="20" name="Marcador de pie de página 4">
            <a:extLst>
              <a:ext uri="{FF2B5EF4-FFF2-40B4-BE49-F238E27FC236}">
                <a16:creationId xmlns:a16="http://schemas.microsoft.com/office/drawing/2014/main" id="{25A08AEE-A26E-C7EC-8EB8-23A6C7B1E14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42452" y="6356350"/>
            <a:ext cx="3672348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l"/>
            <a:r>
              <a:rPr lang="es-MX" dirty="0"/>
              <a:t>HTL Electronics </a:t>
            </a:r>
          </a:p>
        </p:txBody>
      </p:sp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5F3C74E1-3606-A02B-508A-F65F3323D78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5" y="6356350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36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1BC257AC-7396-CC93-6E11-08E229E7D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CEC92B24-2058-A82B-1193-058358456C02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BC120EFC-2A32-9379-E525-8514B77D97D8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7C91C295-FBE4-9590-1C1C-82DEC81C28AA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610AB466-4C4C-15C7-3921-7641A7CA24D2}"/>
              </a:ext>
            </a:extLst>
          </p:cNvPr>
          <p:cNvSpPr txBox="1">
            <a:spLocks/>
          </p:cNvSpPr>
          <p:nvPr/>
        </p:nvSpPr>
        <p:spPr>
          <a:xfrm>
            <a:off x="817283" y="1857809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9C27C9B-D90E-8469-AFA6-4FA28D7B173C}"/>
              </a:ext>
            </a:extLst>
          </p:cNvPr>
          <p:cNvSpPr txBox="1"/>
          <p:nvPr/>
        </p:nvSpPr>
        <p:spPr>
          <a:xfrm>
            <a:off x="943897" y="1356997"/>
            <a:ext cx="162232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Objetivo: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1418D5C-2513-82C6-ED20-7A3857AAEC0A}"/>
              </a:ext>
            </a:extLst>
          </p:cNvPr>
          <p:cNvSpPr txBox="1"/>
          <p:nvPr/>
        </p:nvSpPr>
        <p:spPr>
          <a:xfrm>
            <a:off x="984788" y="3108634"/>
            <a:ext cx="162232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Alcance: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1C8552F-0EA8-395C-6FC2-4B46DD79E9EB}"/>
              </a:ext>
            </a:extLst>
          </p:cNvPr>
          <p:cNvSpPr txBox="1"/>
          <p:nvPr/>
        </p:nvSpPr>
        <p:spPr>
          <a:xfrm>
            <a:off x="984788" y="4964748"/>
            <a:ext cx="162232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Disparador: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8F55F21-6BFC-B5E9-5CFB-3D2050795DEA}"/>
              </a:ext>
            </a:extLst>
          </p:cNvPr>
          <p:cNvSpPr txBox="1"/>
          <p:nvPr/>
        </p:nvSpPr>
        <p:spPr>
          <a:xfrm>
            <a:off x="6570432" y="1363971"/>
            <a:ext cx="1472354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 err="1">
                <a:solidFill>
                  <a:schemeClr val="bg1"/>
                </a:solidFill>
              </a:rPr>
              <a:t>SLAs</a:t>
            </a:r>
            <a:r>
              <a:rPr lang="es-MX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A9B3601-9CCF-C478-E2C6-6975F58597C3}"/>
              </a:ext>
            </a:extLst>
          </p:cNvPr>
          <p:cNvSpPr txBox="1"/>
          <p:nvPr/>
        </p:nvSpPr>
        <p:spPr>
          <a:xfrm>
            <a:off x="6528224" y="3108634"/>
            <a:ext cx="1472355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 err="1">
                <a:solidFill>
                  <a:schemeClr val="bg1"/>
                </a:solidFill>
              </a:rPr>
              <a:t>KPIs</a:t>
            </a:r>
            <a:r>
              <a:rPr lang="es-MX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514605D-CCA4-B4E2-BA93-ABC30844B755}"/>
              </a:ext>
            </a:extLst>
          </p:cNvPr>
          <p:cNvSpPr txBox="1"/>
          <p:nvPr/>
        </p:nvSpPr>
        <p:spPr>
          <a:xfrm>
            <a:off x="6576802" y="4964748"/>
            <a:ext cx="327414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Entradas requeridas: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E1853C6-09AC-DE79-06A4-101951AEAB64}"/>
              </a:ext>
            </a:extLst>
          </p:cNvPr>
          <p:cNvSpPr txBox="1"/>
          <p:nvPr/>
        </p:nvSpPr>
        <p:spPr>
          <a:xfrm>
            <a:off x="817283" y="1870301"/>
            <a:ext cx="472931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Estandarizar la gestión de diseños solicitados por las diferentes áreas de la empresa, asegurando su revisión y aprobación conjunta antes de su liberación para evitar retrabajos.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21903C-6EF5-74CB-5838-9193BA684565}"/>
              </a:ext>
            </a:extLst>
          </p:cNvPr>
          <p:cNvSpPr txBox="1"/>
          <p:nvPr/>
        </p:nvSpPr>
        <p:spPr>
          <a:xfrm>
            <a:off x="817283" y="3575290"/>
            <a:ext cx="47293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00" dirty="0"/>
              <a:t>Aplica al área de Diseño y a la gestión de todos los diseños solicitados por las diferentes áreas de la empresa.</a:t>
            </a:r>
            <a:endParaRPr lang="es-MX" sz="165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4C9F337-309A-3D38-2567-976D89363E39}"/>
              </a:ext>
            </a:extLst>
          </p:cNvPr>
          <p:cNvSpPr txBox="1"/>
          <p:nvPr/>
        </p:nvSpPr>
        <p:spPr>
          <a:xfrm>
            <a:off x="817283" y="5501003"/>
            <a:ext cx="472931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SOW de diseño.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6851123-7E87-17DA-5628-83E2A928E0B2}"/>
              </a:ext>
            </a:extLst>
          </p:cNvPr>
          <p:cNvSpPr txBox="1"/>
          <p:nvPr/>
        </p:nvSpPr>
        <p:spPr>
          <a:xfrm>
            <a:off x="6328262" y="1879107"/>
            <a:ext cx="551098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Recepción y validación del requerimiento </a:t>
            </a:r>
            <a:r>
              <a:rPr lang="es-MX" sz="1600" dirty="0"/>
              <a:t>≤ 1 día hábil.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Convocatoria a validación de información (si aplica) ≤ 1 día hábil.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Convocatoria a revisión y aprobación conjunta </a:t>
            </a:r>
            <a:r>
              <a:rPr lang="es-MX" sz="1600" dirty="0"/>
              <a:t>≤ 1 día hábil.</a:t>
            </a:r>
            <a:endParaRPr lang="es-MX" sz="165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14E862C-F9EE-9B41-5F55-E24A8C3E9147}"/>
              </a:ext>
            </a:extLst>
          </p:cNvPr>
          <p:cNvSpPr txBox="1"/>
          <p:nvPr/>
        </p:nvSpPr>
        <p:spPr>
          <a:xfrm>
            <a:off x="6296711" y="3575290"/>
            <a:ext cx="5698005" cy="1346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% </a:t>
            </a:r>
            <a:r>
              <a:rPr lang="es-MX" sz="1600" dirty="0"/>
              <a:t>de diseños que requieren ajustes adicionales después de la aprobación inicial.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Cantidad de inconsistencias detectadas durante la revisión interna.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00" dirty="0"/>
              <a:t>% de diseños aprobados en la primera revisión conjunta.</a:t>
            </a:r>
            <a:endParaRPr lang="es-MX" sz="165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46C2FA5-AD85-8FF4-45A8-1A6301963AFF}"/>
              </a:ext>
            </a:extLst>
          </p:cNvPr>
          <p:cNvSpPr txBox="1"/>
          <p:nvPr/>
        </p:nvSpPr>
        <p:spPr>
          <a:xfrm>
            <a:off x="6328262" y="5387829"/>
            <a:ext cx="472931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Herramientas (software).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Herramientas de medición calibradas.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Referencias o diseños previos. 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Información visual del proceso a automatizar.</a:t>
            </a:r>
          </a:p>
        </p:txBody>
      </p:sp>
    </p:spTree>
    <p:extLst>
      <p:ext uri="{BB962C8B-B14F-4D97-AF65-F5344CB8AC3E}">
        <p14:creationId xmlns:p14="http://schemas.microsoft.com/office/powerpoint/2010/main" val="31813671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1B5FA-BE7D-7A1E-AD34-DBBA75239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D6038F56-6BAE-0293-0446-12568A58047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4" y="6308957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37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0B335792-B95E-3C68-4045-4C2303FFF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8D8AC8C4-5BAC-BB58-09E0-95232E4BABE9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7884EAA4-8325-A0F4-3593-A2F4FBF82849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595E0218-EE66-DCFD-27B5-C9B8FFEEC746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528E2A0B-673E-F28F-4898-2CCAB3248485}"/>
              </a:ext>
            </a:extLst>
          </p:cNvPr>
          <p:cNvSpPr txBox="1">
            <a:spLocks/>
          </p:cNvSpPr>
          <p:nvPr/>
        </p:nvSpPr>
        <p:spPr>
          <a:xfrm>
            <a:off x="817283" y="1870301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8D659EC-80EE-3724-95CC-D11B218EAD94}"/>
              </a:ext>
            </a:extLst>
          </p:cNvPr>
          <p:cNvSpPr txBox="1"/>
          <p:nvPr/>
        </p:nvSpPr>
        <p:spPr>
          <a:xfrm>
            <a:off x="1011274" y="1682704"/>
            <a:ext cx="2497393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Controles y registros: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858D96D-A210-33BE-DA92-FCAB155D4D93}"/>
              </a:ext>
            </a:extLst>
          </p:cNvPr>
          <p:cNvSpPr txBox="1"/>
          <p:nvPr/>
        </p:nvSpPr>
        <p:spPr>
          <a:xfrm>
            <a:off x="7026528" y="1685635"/>
            <a:ext cx="2782529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Herramientas/formatos: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5BDBEFD-AB98-251D-71ED-B5CE8C81F286}"/>
              </a:ext>
            </a:extLst>
          </p:cNvPr>
          <p:cNvSpPr txBox="1"/>
          <p:nvPr/>
        </p:nvSpPr>
        <p:spPr>
          <a:xfrm>
            <a:off x="5773361" y="3822683"/>
            <a:ext cx="1109803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RACI: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8C10470-B509-56C9-DE28-53E68506A8D2}"/>
              </a:ext>
            </a:extLst>
          </p:cNvPr>
          <p:cNvSpPr txBox="1"/>
          <p:nvPr/>
        </p:nvSpPr>
        <p:spPr>
          <a:xfrm>
            <a:off x="859280" y="2187646"/>
            <a:ext cx="472931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SOW.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Diseños preliminares y finales.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Control de cambios.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Revisiones internas.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D2943CE-1522-8605-28A2-EE6380AAC5F5}"/>
              </a:ext>
            </a:extLst>
          </p:cNvPr>
          <p:cNvSpPr txBox="1"/>
          <p:nvPr/>
        </p:nvSpPr>
        <p:spPr>
          <a:xfrm>
            <a:off x="6957064" y="2185295"/>
            <a:ext cx="4629000" cy="136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Software de diseño.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Repositorio interno ERP.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Herramientas de comunicación interna.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Biblioteca de diseños. 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endParaRPr lang="es-MX" sz="1650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3D299275-C269-A9FD-47C2-2B37ED0015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89950"/>
              </p:ext>
            </p:extLst>
          </p:nvPr>
        </p:nvGraphicFramePr>
        <p:xfrm>
          <a:off x="1070463" y="4369744"/>
          <a:ext cx="10600427" cy="1691640"/>
        </p:xfrm>
        <a:graphic>
          <a:graphicData uri="http://schemas.openxmlformats.org/drawingml/2006/table">
            <a:tbl>
              <a:tblPr>
                <a:tableStyleId>{AF606853-7671-496A-8E4F-DF71F8EC918B}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5589176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42591431"/>
                    </a:ext>
                  </a:extLst>
                </a:gridCol>
                <a:gridCol w="1999168">
                  <a:extLst>
                    <a:ext uri="{9D8B030D-6E8A-4147-A177-3AD203B41FA5}">
                      <a16:colId xmlns:a16="http://schemas.microsoft.com/office/drawing/2014/main" val="3421345571"/>
                    </a:ext>
                  </a:extLst>
                </a:gridCol>
                <a:gridCol w="2290916">
                  <a:extLst>
                    <a:ext uri="{9D8B030D-6E8A-4147-A177-3AD203B41FA5}">
                      <a16:colId xmlns:a16="http://schemas.microsoft.com/office/drawing/2014/main" val="3116459775"/>
                    </a:ext>
                  </a:extLst>
                </a:gridCol>
                <a:gridCol w="2104103">
                  <a:extLst>
                    <a:ext uri="{9D8B030D-6E8A-4147-A177-3AD203B41FA5}">
                      <a16:colId xmlns:a16="http://schemas.microsoft.com/office/drawing/2014/main" val="19154922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Actividad principal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A (Aprueba)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/>
                        <a:t>R (Responsable)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C (Consultado)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I (Informado)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8566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Gestión de diseño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-Revisión conjunta (integración, ingeniería, proyectos y diseño).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-Miguel (Diseño).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-Ramón, Ian y </a:t>
                      </a:r>
                      <a:r>
                        <a:rPr lang="es-MX" sz="1650" dirty="0" err="1">
                          <a:solidFill>
                            <a:schemeClr val="tx1"/>
                          </a:solidFill>
                        </a:rPr>
                        <a:t>Seferino</a:t>
                      </a:r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 (información técnica adicional y validación).</a:t>
                      </a:r>
                    </a:p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-Juan (políticas UR y MIR)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-Francia (seguimiento, tiempos, entregables).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71193"/>
                  </a:ext>
                </a:extLst>
              </a:tr>
            </a:tbl>
          </a:graphicData>
        </a:graphic>
      </p:graphicFrame>
      <p:sp>
        <p:nvSpPr>
          <p:cNvPr id="7" name="Marcador de pie de página 4">
            <a:extLst>
              <a:ext uri="{FF2B5EF4-FFF2-40B4-BE49-F238E27FC236}">
                <a16:creationId xmlns:a16="http://schemas.microsoft.com/office/drawing/2014/main" id="{4F45921F-4642-30DE-F7FA-F59217C26524}"/>
              </a:ext>
            </a:extLst>
          </p:cNvPr>
          <p:cNvSpPr txBox="1">
            <a:spLocks/>
          </p:cNvSpPr>
          <p:nvPr/>
        </p:nvSpPr>
        <p:spPr>
          <a:xfrm>
            <a:off x="442452" y="6356350"/>
            <a:ext cx="3672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s-mx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/>
              <a:t>HTL Electronics </a:t>
            </a:r>
            <a:endParaRPr lang="es-MX" dirty="0"/>
          </a:p>
        </p:txBody>
      </p:sp>
      <p:sp>
        <p:nvSpPr>
          <p:cNvPr id="12" name="Título 13">
            <a:extLst>
              <a:ext uri="{FF2B5EF4-FFF2-40B4-BE49-F238E27FC236}">
                <a16:creationId xmlns:a16="http://schemas.microsoft.com/office/drawing/2014/main" id="{5AC4787B-5206-DCDB-C032-7C140401C7E2}"/>
              </a:ext>
            </a:extLst>
          </p:cNvPr>
          <p:cNvSpPr txBox="1">
            <a:spLocks/>
          </p:cNvSpPr>
          <p:nvPr/>
        </p:nvSpPr>
        <p:spPr>
          <a:xfrm>
            <a:off x="1359365" y="404761"/>
            <a:ext cx="9473270" cy="938476"/>
          </a:xfrm>
          <a:prstGeom prst="rect">
            <a:avLst/>
          </a:prstGeom>
        </p:spPr>
        <p:txBody>
          <a:bodyPr vert="horz" lIns="91440" tIns="45720" rIns="91440" bIns="0" rtlCol="0" anchor="b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dirty="0">
                <a:solidFill>
                  <a:schemeClr val="tx1"/>
                </a:solidFill>
                <a:latin typeface="+mn-lt"/>
              </a:rPr>
              <a:t>SOP 10-DISEÑO</a:t>
            </a:r>
            <a:br>
              <a:rPr lang="es-MX" sz="1800" kern="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226855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E46B9-D7BA-F1D0-1C99-7A2D15BBC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51C889E1-79B1-5702-2BAE-431B90F4F21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4" y="6308957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38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268ABE1C-56D0-356E-6520-52F59698F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B95D3D9E-A8EB-5632-CC84-811934F0FBD8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4D5C9A15-2512-1642-72DB-1610A4B23514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46A6153B-8C1C-ED62-ABDE-4E6350079A11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D537AA15-5BFD-A42C-AF4D-591140C9520C}"/>
              </a:ext>
            </a:extLst>
          </p:cNvPr>
          <p:cNvSpPr txBox="1">
            <a:spLocks/>
          </p:cNvSpPr>
          <p:nvPr/>
        </p:nvSpPr>
        <p:spPr>
          <a:xfrm>
            <a:off x="817283" y="1870301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7" name="Marcador de pie de página 4">
            <a:extLst>
              <a:ext uri="{FF2B5EF4-FFF2-40B4-BE49-F238E27FC236}">
                <a16:creationId xmlns:a16="http://schemas.microsoft.com/office/drawing/2014/main" id="{E137F3F3-A0D6-5245-E450-72E32C634EA4}"/>
              </a:ext>
            </a:extLst>
          </p:cNvPr>
          <p:cNvSpPr txBox="1">
            <a:spLocks/>
          </p:cNvSpPr>
          <p:nvPr/>
        </p:nvSpPr>
        <p:spPr>
          <a:xfrm>
            <a:off x="442452" y="6356350"/>
            <a:ext cx="3672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s-mx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/>
              <a:t>HTL Electronics </a:t>
            </a:r>
            <a:endParaRPr lang="es-MX" dirty="0"/>
          </a:p>
        </p:txBody>
      </p:sp>
      <p:sp>
        <p:nvSpPr>
          <p:cNvPr id="12" name="Título 13">
            <a:extLst>
              <a:ext uri="{FF2B5EF4-FFF2-40B4-BE49-F238E27FC236}">
                <a16:creationId xmlns:a16="http://schemas.microsoft.com/office/drawing/2014/main" id="{F40858BA-1279-D244-A08F-AC7A6C91C40E}"/>
              </a:ext>
            </a:extLst>
          </p:cNvPr>
          <p:cNvSpPr txBox="1">
            <a:spLocks/>
          </p:cNvSpPr>
          <p:nvPr/>
        </p:nvSpPr>
        <p:spPr>
          <a:xfrm>
            <a:off x="1359365" y="404761"/>
            <a:ext cx="9473270" cy="938476"/>
          </a:xfrm>
          <a:prstGeom prst="rect">
            <a:avLst/>
          </a:prstGeom>
        </p:spPr>
        <p:txBody>
          <a:bodyPr vert="horz" lIns="91440" tIns="45720" rIns="91440" bIns="0" rtlCol="0" anchor="b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dirty="0">
                <a:solidFill>
                  <a:schemeClr val="tx1"/>
                </a:solidFill>
                <a:latin typeface="+mn-lt"/>
              </a:rPr>
              <a:t>SOP 10-DISEÑO</a:t>
            </a:r>
            <a:br>
              <a:rPr lang="es-MX" sz="1800" kern="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CDA1840-B0A9-3A2E-A5BE-13625325E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7044" y="982253"/>
            <a:ext cx="6537912" cy="569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5005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FBE74-58B0-7B7A-CF62-23900EDB5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>
            <a:extLst>
              <a:ext uri="{FF2B5EF4-FFF2-40B4-BE49-F238E27FC236}">
                <a16:creationId xmlns:a16="http://schemas.microsoft.com/office/drawing/2014/main" id="{A2EC423B-8C3A-68AE-EBC9-C918643A1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365" y="404761"/>
            <a:ext cx="9473270" cy="938476"/>
          </a:xfrm>
        </p:spPr>
        <p:txBody>
          <a:bodyPr rtlCol="0">
            <a:normAutofit fontScale="90000"/>
          </a:bodyPr>
          <a:lstStyle/>
          <a:p>
            <a:pPr algn="ctr"/>
            <a:r>
              <a:rPr lang="es-MX" dirty="0">
                <a:solidFill>
                  <a:schemeClr val="tx1"/>
                </a:solidFill>
                <a:latin typeface="+mn-lt"/>
              </a:rPr>
              <a:t>SOP 11-VENTAS</a:t>
            </a:r>
            <a:br>
              <a:rPr lang="es-MX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sp>
        <p:nvSpPr>
          <p:cNvPr id="20" name="Marcador de pie de página 4">
            <a:extLst>
              <a:ext uri="{FF2B5EF4-FFF2-40B4-BE49-F238E27FC236}">
                <a16:creationId xmlns:a16="http://schemas.microsoft.com/office/drawing/2014/main" id="{EB5D2152-44DF-5677-E9B3-E8FA0369B35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42452" y="6356350"/>
            <a:ext cx="3672348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l"/>
            <a:r>
              <a:rPr lang="es-MX" dirty="0"/>
              <a:t>HTL Electronics </a:t>
            </a:r>
          </a:p>
        </p:txBody>
      </p:sp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40C42B9C-4830-3B7B-8540-961E358C109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5" y="6356350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39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21B63A99-C711-0F5E-BA60-77844332E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2F5BBE5E-AB80-BB9C-44F6-6A520B111168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227B68EA-3C06-7B3D-5D87-2733E8ED2F92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74BB4858-AFAE-EEBC-CD49-4DB8B3B31BC5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99620C40-7847-DA2B-2FA8-AFBCD5E89231}"/>
              </a:ext>
            </a:extLst>
          </p:cNvPr>
          <p:cNvSpPr txBox="1">
            <a:spLocks/>
          </p:cNvSpPr>
          <p:nvPr/>
        </p:nvSpPr>
        <p:spPr>
          <a:xfrm>
            <a:off x="817283" y="1857809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446BF84-1582-2E97-89EA-9C5596167EB9}"/>
              </a:ext>
            </a:extLst>
          </p:cNvPr>
          <p:cNvSpPr txBox="1"/>
          <p:nvPr/>
        </p:nvSpPr>
        <p:spPr>
          <a:xfrm>
            <a:off x="943897" y="1356997"/>
            <a:ext cx="162232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Objetivo: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B1DDA3B-C793-CF4D-E3D5-2AEAFB8A9BA2}"/>
              </a:ext>
            </a:extLst>
          </p:cNvPr>
          <p:cNvSpPr txBox="1"/>
          <p:nvPr/>
        </p:nvSpPr>
        <p:spPr>
          <a:xfrm>
            <a:off x="1006172" y="3644927"/>
            <a:ext cx="162232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Alcance: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E4E6E87-0DA4-DBC0-BE0E-C5FF1AD5A5C9}"/>
              </a:ext>
            </a:extLst>
          </p:cNvPr>
          <p:cNvSpPr txBox="1"/>
          <p:nvPr/>
        </p:nvSpPr>
        <p:spPr>
          <a:xfrm>
            <a:off x="981602" y="5176707"/>
            <a:ext cx="162232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Disparador: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D5E57F0-7975-62A6-ABA0-02A9A65D2328}"/>
              </a:ext>
            </a:extLst>
          </p:cNvPr>
          <p:cNvSpPr txBox="1"/>
          <p:nvPr/>
        </p:nvSpPr>
        <p:spPr>
          <a:xfrm>
            <a:off x="6570432" y="1363971"/>
            <a:ext cx="1472354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 err="1">
                <a:solidFill>
                  <a:schemeClr val="bg1"/>
                </a:solidFill>
              </a:rPr>
              <a:t>SLAs</a:t>
            </a:r>
            <a:r>
              <a:rPr lang="es-MX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8C088B8-D55E-5476-73B2-EDA9DF60377A}"/>
              </a:ext>
            </a:extLst>
          </p:cNvPr>
          <p:cNvSpPr txBox="1"/>
          <p:nvPr/>
        </p:nvSpPr>
        <p:spPr>
          <a:xfrm>
            <a:off x="6570431" y="3644927"/>
            <a:ext cx="1472355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 err="1">
                <a:solidFill>
                  <a:schemeClr val="bg1"/>
                </a:solidFill>
              </a:rPr>
              <a:t>KPIs</a:t>
            </a:r>
            <a:r>
              <a:rPr lang="es-MX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05B7819-CDE5-1B7C-C0E5-58B8D8CBEA1D}"/>
              </a:ext>
            </a:extLst>
          </p:cNvPr>
          <p:cNvSpPr txBox="1"/>
          <p:nvPr/>
        </p:nvSpPr>
        <p:spPr>
          <a:xfrm>
            <a:off x="6570431" y="5176707"/>
            <a:ext cx="327414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Entradas requeridas: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2BE32BF-6617-29A9-7686-2EE4D4BB9F96}"/>
              </a:ext>
            </a:extLst>
          </p:cNvPr>
          <p:cNvSpPr txBox="1"/>
          <p:nvPr/>
        </p:nvSpPr>
        <p:spPr>
          <a:xfrm>
            <a:off x="817283" y="1857809"/>
            <a:ext cx="47293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00" dirty="0"/>
              <a:t>Asegurar la correcta recepción, registro y transferencia del pedido del cliente a las áreas internas correspondientes, garantizando trazabilidad y continuidad del proyecto.</a:t>
            </a:r>
            <a:endParaRPr lang="es-MX" sz="165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08AD6BD-8783-F2D6-3C7A-4F7B431EC204}"/>
              </a:ext>
            </a:extLst>
          </p:cNvPr>
          <p:cNvSpPr txBox="1"/>
          <p:nvPr/>
        </p:nvSpPr>
        <p:spPr>
          <a:xfrm>
            <a:off x="788860" y="4168264"/>
            <a:ext cx="47293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00" dirty="0"/>
              <a:t>Aplica a </a:t>
            </a:r>
            <a:r>
              <a:rPr lang="es-MX" sz="1600" dirty="0" err="1"/>
              <a:t>inside</a:t>
            </a:r>
            <a:r>
              <a:rPr lang="es-MX" sz="1600" dirty="0"/>
              <a:t> sales, integración, proyectos y compras.</a:t>
            </a:r>
            <a:endParaRPr lang="es-MX" sz="165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854F084-FC80-2AB5-B6B7-E2272BB8AB25}"/>
              </a:ext>
            </a:extLst>
          </p:cNvPr>
          <p:cNvSpPr txBox="1"/>
          <p:nvPr/>
        </p:nvSpPr>
        <p:spPr>
          <a:xfrm>
            <a:off x="817283" y="5747540"/>
            <a:ext cx="472931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Recepción de PO.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4B2A574-FD54-B28D-1324-233CAA490963}"/>
              </a:ext>
            </a:extLst>
          </p:cNvPr>
          <p:cNvSpPr txBox="1"/>
          <p:nvPr/>
        </p:nvSpPr>
        <p:spPr>
          <a:xfrm>
            <a:off x="6244687" y="1864783"/>
            <a:ext cx="5678487" cy="1608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Generar orden de venta ≤ 1 día tras contar con información interna completa.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Liberación de BOM ≤ 24 h posteriores a la recepción de la PO.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Creación de requisición única ≤ 24 h después de la BOM.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00" dirty="0"/>
              <a:t>Ejecución de la compra ≤ 48 h según términos de PO.</a:t>
            </a:r>
            <a:endParaRPr lang="es-MX" sz="165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353FDFD-3733-850F-7B0C-51CC6B447F86}"/>
              </a:ext>
            </a:extLst>
          </p:cNvPr>
          <p:cNvSpPr txBox="1"/>
          <p:nvPr/>
        </p:nvSpPr>
        <p:spPr>
          <a:xfrm>
            <a:off x="6328263" y="4127154"/>
            <a:ext cx="47293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00" dirty="0"/>
              <a:t>Cumplimiento de SLA (%) por etapa del proceso</a:t>
            </a:r>
            <a:endParaRPr lang="es-MX" sz="1650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ABCE229-FF0D-0AAF-4EE5-2824D8942D20}"/>
              </a:ext>
            </a:extLst>
          </p:cNvPr>
          <p:cNvSpPr txBox="1"/>
          <p:nvPr/>
        </p:nvSpPr>
        <p:spPr>
          <a:xfrm>
            <a:off x="6570431" y="5747540"/>
            <a:ext cx="472931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00" dirty="0"/>
              <a:t>PO en condiciones de pago requeridas.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00" dirty="0"/>
              <a:t>Información técnica del pedido/proyecto.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00" dirty="0"/>
              <a:t>Datos del cliente para registro en CRM.</a:t>
            </a:r>
            <a:endParaRPr lang="es-MX" sz="1650" dirty="0"/>
          </a:p>
        </p:txBody>
      </p:sp>
    </p:spTree>
    <p:extLst>
      <p:ext uri="{BB962C8B-B14F-4D97-AF65-F5344CB8AC3E}">
        <p14:creationId xmlns:p14="http://schemas.microsoft.com/office/powerpoint/2010/main" val="17630005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89AB0-69C6-7530-3B5D-B0F2CFDB9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1C3C50E1-6EFD-FA6E-5D71-5965DBF973F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4" y="6308957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40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E07A7FB8-415B-3590-E2E1-515B683EE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A1178E21-C567-01F3-44B4-E760CC5F37C1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6B647C23-8D83-0CF8-328F-2B9D6E98680C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3E6B6A47-1F5A-E2F4-90DF-00CE9FBF8D0E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67AC6A6F-0E76-6D73-3163-EBFEE6A4D040}"/>
              </a:ext>
            </a:extLst>
          </p:cNvPr>
          <p:cNvSpPr txBox="1">
            <a:spLocks/>
          </p:cNvSpPr>
          <p:nvPr/>
        </p:nvSpPr>
        <p:spPr>
          <a:xfrm>
            <a:off x="817283" y="1870301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30C3407-138D-FF00-DEA2-912A6E6774AE}"/>
              </a:ext>
            </a:extLst>
          </p:cNvPr>
          <p:cNvSpPr txBox="1"/>
          <p:nvPr/>
        </p:nvSpPr>
        <p:spPr>
          <a:xfrm>
            <a:off x="1011274" y="1682704"/>
            <a:ext cx="2497393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Controles y registros: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01F1DC4-A3F2-B039-8EC8-3039EA4F3199}"/>
              </a:ext>
            </a:extLst>
          </p:cNvPr>
          <p:cNvSpPr txBox="1"/>
          <p:nvPr/>
        </p:nvSpPr>
        <p:spPr>
          <a:xfrm>
            <a:off x="7026528" y="1685635"/>
            <a:ext cx="2782529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Herramientas/formatos: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A8615FC-764E-34D1-F063-1F7D9DACB20B}"/>
              </a:ext>
            </a:extLst>
          </p:cNvPr>
          <p:cNvSpPr txBox="1"/>
          <p:nvPr/>
        </p:nvSpPr>
        <p:spPr>
          <a:xfrm>
            <a:off x="5773361" y="3822683"/>
            <a:ext cx="1109803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RACI: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124929F-C655-4E45-6268-CAFB750A6258}"/>
              </a:ext>
            </a:extLst>
          </p:cNvPr>
          <p:cNvSpPr txBox="1"/>
          <p:nvPr/>
        </p:nvSpPr>
        <p:spPr>
          <a:xfrm>
            <a:off x="859280" y="2187646"/>
            <a:ext cx="472931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Registro de PO y orden de venta en CRM.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Revisión de condiciones de PO.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00" dirty="0"/>
              <a:t>BOM liberado / requisición única. 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Notificación a </a:t>
            </a:r>
            <a:r>
              <a:rPr lang="es-MX" sz="1650" dirty="0" err="1"/>
              <a:t>inside</a:t>
            </a:r>
            <a:r>
              <a:rPr lang="es-MX" sz="1650" dirty="0"/>
              <a:t> sales posterior a la generación de la orden de venta</a:t>
            </a:r>
            <a:r>
              <a:rPr lang="es-MX" sz="1600" dirty="0"/>
              <a:t>.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32B455CD-718B-DF23-CF95-B8EA9DB88B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665117"/>
              </p:ext>
            </p:extLst>
          </p:nvPr>
        </p:nvGraphicFramePr>
        <p:xfrm>
          <a:off x="1070463" y="4369744"/>
          <a:ext cx="10600427" cy="1188720"/>
        </p:xfrm>
        <a:graphic>
          <a:graphicData uri="http://schemas.openxmlformats.org/drawingml/2006/table">
            <a:tbl>
              <a:tblPr>
                <a:tableStyleId>{AF606853-7671-496A-8E4F-DF71F8EC918B}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5589176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42591431"/>
                    </a:ext>
                  </a:extLst>
                </a:gridCol>
                <a:gridCol w="1999168">
                  <a:extLst>
                    <a:ext uri="{9D8B030D-6E8A-4147-A177-3AD203B41FA5}">
                      <a16:colId xmlns:a16="http://schemas.microsoft.com/office/drawing/2014/main" val="3421345571"/>
                    </a:ext>
                  </a:extLst>
                </a:gridCol>
                <a:gridCol w="2290916">
                  <a:extLst>
                    <a:ext uri="{9D8B030D-6E8A-4147-A177-3AD203B41FA5}">
                      <a16:colId xmlns:a16="http://schemas.microsoft.com/office/drawing/2014/main" val="3116459775"/>
                    </a:ext>
                  </a:extLst>
                </a:gridCol>
                <a:gridCol w="2104103">
                  <a:extLst>
                    <a:ext uri="{9D8B030D-6E8A-4147-A177-3AD203B41FA5}">
                      <a16:colId xmlns:a16="http://schemas.microsoft.com/office/drawing/2014/main" val="19154922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Actividad principal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A (Aprueba)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R (Responsable)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C (Consultado)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I (Informado)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8566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Ventas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-Harvey (compras)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-Pavel (logística, aduana, </a:t>
                      </a:r>
                      <a:r>
                        <a:rPr lang="es-MX" sz="1650" dirty="0" err="1">
                          <a:solidFill>
                            <a:schemeClr val="tx1"/>
                          </a:solidFill>
                        </a:rPr>
                        <a:t>picking</a:t>
                      </a:r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s-MX" sz="1650" dirty="0" err="1">
                          <a:solidFill>
                            <a:schemeClr val="tx1"/>
                          </a:solidFill>
                        </a:rPr>
                        <a:t>Karym</a:t>
                      </a:r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 (gestión administrativa).</a:t>
                      </a:r>
                    </a:p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-Thelma (cotizaciones)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-Francia (seguimiento, tiempos, entregables).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71193"/>
                  </a:ext>
                </a:extLst>
              </a:tr>
            </a:tbl>
          </a:graphicData>
        </a:graphic>
      </p:graphicFrame>
      <p:sp>
        <p:nvSpPr>
          <p:cNvPr id="7" name="Marcador de pie de página 4">
            <a:extLst>
              <a:ext uri="{FF2B5EF4-FFF2-40B4-BE49-F238E27FC236}">
                <a16:creationId xmlns:a16="http://schemas.microsoft.com/office/drawing/2014/main" id="{EC567262-BB70-5015-8BE0-42207323CC54}"/>
              </a:ext>
            </a:extLst>
          </p:cNvPr>
          <p:cNvSpPr txBox="1">
            <a:spLocks/>
          </p:cNvSpPr>
          <p:nvPr/>
        </p:nvSpPr>
        <p:spPr>
          <a:xfrm>
            <a:off x="442452" y="6356350"/>
            <a:ext cx="3672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s-mx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/>
              <a:t>HTL Electronics </a:t>
            </a:r>
            <a:endParaRPr lang="es-MX" dirty="0"/>
          </a:p>
        </p:txBody>
      </p:sp>
      <p:sp>
        <p:nvSpPr>
          <p:cNvPr id="12" name="Título 13">
            <a:extLst>
              <a:ext uri="{FF2B5EF4-FFF2-40B4-BE49-F238E27FC236}">
                <a16:creationId xmlns:a16="http://schemas.microsoft.com/office/drawing/2014/main" id="{5F700DB4-6E1A-FF19-C876-9B1DD9C83BED}"/>
              </a:ext>
            </a:extLst>
          </p:cNvPr>
          <p:cNvSpPr txBox="1">
            <a:spLocks/>
          </p:cNvSpPr>
          <p:nvPr/>
        </p:nvSpPr>
        <p:spPr>
          <a:xfrm>
            <a:off x="1359365" y="404761"/>
            <a:ext cx="9473270" cy="938476"/>
          </a:xfrm>
          <a:prstGeom prst="rect">
            <a:avLst/>
          </a:prstGeom>
        </p:spPr>
        <p:txBody>
          <a:bodyPr vert="horz" lIns="91440" tIns="45720" rIns="91440" bIns="0" rtlCol="0" anchor="b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dirty="0">
                <a:solidFill>
                  <a:schemeClr val="tx1"/>
                </a:solidFill>
                <a:latin typeface="+mn-lt"/>
              </a:rPr>
              <a:t>SOP 11-VENTAS</a:t>
            </a:r>
            <a:br>
              <a:rPr lang="es-MX" sz="1800" kern="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DAC8ED7-3305-769B-323D-11E2425D5D46}"/>
              </a:ext>
            </a:extLst>
          </p:cNvPr>
          <p:cNvSpPr txBox="1"/>
          <p:nvPr/>
        </p:nvSpPr>
        <p:spPr>
          <a:xfrm>
            <a:off x="6941574" y="2187646"/>
            <a:ext cx="4729316" cy="1084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CRM.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00" dirty="0"/>
              <a:t>Correo electrónico corporativo.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00" dirty="0"/>
              <a:t>Formato de liberación de BOM.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00" dirty="0"/>
              <a:t>Formato de requisición única.</a:t>
            </a:r>
          </a:p>
        </p:txBody>
      </p:sp>
    </p:spTree>
    <p:extLst>
      <p:ext uri="{BB962C8B-B14F-4D97-AF65-F5344CB8AC3E}">
        <p14:creationId xmlns:p14="http://schemas.microsoft.com/office/powerpoint/2010/main" val="35153545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91D5F-DED0-8FD4-5709-E910504EC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790EF000-6CF6-12DF-507E-20A4ADCA1CB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5" y="6356350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41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6E866FB4-3198-21D3-907F-A5D3B51E9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583C02BA-60E8-8909-84DE-CC37A06645A8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20872F05-5507-F82E-A565-8F0268FB67F3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EFECAF5A-3275-8F94-686F-93A1B42171CA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C89B7BDC-D6A6-5240-A9DF-B8B26D9FD3F2}"/>
              </a:ext>
            </a:extLst>
          </p:cNvPr>
          <p:cNvSpPr txBox="1">
            <a:spLocks/>
          </p:cNvSpPr>
          <p:nvPr/>
        </p:nvSpPr>
        <p:spPr>
          <a:xfrm>
            <a:off x="817283" y="1870301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2" name="Marcador de pie de página 4">
            <a:extLst>
              <a:ext uri="{FF2B5EF4-FFF2-40B4-BE49-F238E27FC236}">
                <a16:creationId xmlns:a16="http://schemas.microsoft.com/office/drawing/2014/main" id="{3D5D488C-4DE1-3D77-E9A7-419001FD27A1}"/>
              </a:ext>
            </a:extLst>
          </p:cNvPr>
          <p:cNvSpPr txBox="1">
            <a:spLocks/>
          </p:cNvSpPr>
          <p:nvPr/>
        </p:nvSpPr>
        <p:spPr>
          <a:xfrm>
            <a:off x="442452" y="6356350"/>
            <a:ext cx="3672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s-mx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/>
              <a:t>HTL Electronics </a:t>
            </a:r>
            <a:endParaRPr lang="es-MX" dirty="0"/>
          </a:p>
        </p:txBody>
      </p:sp>
      <p:sp>
        <p:nvSpPr>
          <p:cNvPr id="6" name="Título 13">
            <a:extLst>
              <a:ext uri="{FF2B5EF4-FFF2-40B4-BE49-F238E27FC236}">
                <a16:creationId xmlns:a16="http://schemas.microsoft.com/office/drawing/2014/main" id="{B06AB35E-12C1-3DFB-5194-27B35478A242}"/>
              </a:ext>
            </a:extLst>
          </p:cNvPr>
          <p:cNvSpPr txBox="1">
            <a:spLocks/>
          </p:cNvSpPr>
          <p:nvPr/>
        </p:nvSpPr>
        <p:spPr>
          <a:xfrm>
            <a:off x="1359363" y="313775"/>
            <a:ext cx="9473270" cy="938476"/>
          </a:xfrm>
          <a:prstGeom prst="rect">
            <a:avLst/>
          </a:prstGeom>
        </p:spPr>
        <p:txBody>
          <a:bodyPr vert="horz" lIns="91440" tIns="45720" rIns="91440" bIns="0" rtlCol="0" anchor="b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dirty="0">
                <a:solidFill>
                  <a:schemeClr val="tx1"/>
                </a:solidFill>
                <a:latin typeface="+mn-lt"/>
              </a:rPr>
              <a:t>SOP 11-VENTAS</a:t>
            </a:r>
            <a:br>
              <a:rPr lang="es-MX" sz="1800" kern="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03786020-EE6F-7BF2-6336-D2AF90C45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3886" y="993262"/>
            <a:ext cx="7544224" cy="5655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4961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5DC53-E838-A8A7-C882-011C3E1EF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>
            <a:extLst>
              <a:ext uri="{FF2B5EF4-FFF2-40B4-BE49-F238E27FC236}">
                <a16:creationId xmlns:a16="http://schemas.microsoft.com/office/drawing/2014/main" id="{F69D83BC-D944-1AF9-7D3E-9F73F7E8D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365" y="404761"/>
            <a:ext cx="9473270" cy="938476"/>
          </a:xfrm>
        </p:spPr>
        <p:txBody>
          <a:bodyPr rtlCol="0">
            <a:normAutofit fontScale="90000"/>
          </a:bodyPr>
          <a:lstStyle/>
          <a:p>
            <a:pPr algn="ctr"/>
            <a:r>
              <a:rPr lang="es-MX" dirty="0">
                <a:solidFill>
                  <a:schemeClr val="tx1"/>
                </a:solidFill>
                <a:latin typeface="+mn-lt"/>
              </a:rPr>
              <a:t>SOP 12-TRÁFICO Y LOGÍSTICA</a:t>
            </a:r>
            <a:br>
              <a:rPr lang="es-MX" sz="18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sp>
        <p:nvSpPr>
          <p:cNvPr id="20" name="Marcador de pie de página 4">
            <a:extLst>
              <a:ext uri="{FF2B5EF4-FFF2-40B4-BE49-F238E27FC236}">
                <a16:creationId xmlns:a16="http://schemas.microsoft.com/office/drawing/2014/main" id="{FEBF56C5-0A50-39A0-2939-391161488BA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42452" y="6356350"/>
            <a:ext cx="3672348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l"/>
            <a:r>
              <a:rPr lang="es-MX" dirty="0"/>
              <a:t>HTL Electronics </a:t>
            </a:r>
          </a:p>
        </p:txBody>
      </p:sp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02E067DE-28C0-DC5E-62AD-A6687339D70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5" y="6356350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42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843CC946-32BB-3556-4F44-E96E7B25C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A7A6BDAB-CF4E-DCFE-A9E2-22272F3E3BC9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8AF787A8-77C7-2FE8-1CE0-AB453FBAC454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CC637C78-23C4-DC9A-09DF-B77A2BC5E3DA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9F101897-7B11-BCC6-7B8D-8E0DC02057C8}"/>
              </a:ext>
            </a:extLst>
          </p:cNvPr>
          <p:cNvSpPr txBox="1">
            <a:spLocks/>
          </p:cNvSpPr>
          <p:nvPr/>
        </p:nvSpPr>
        <p:spPr>
          <a:xfrm>
            <a:off x="817283" y="1857809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15B3C52-372B-F9DD-E704-1BFDBCF73787}"/>
              </a:ext>
            </a:extLst>
          </p:cNvPr>
          <p:cNvSpPr txBox="1"/>
          <p:nvPr/>
        </p:nvSpPr>
        <p:spPr>
          <a:xfrm>
            <a:off x="943897" y="1356997"/>
            <a:ext cx="162232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Objetivo: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ABDD91C-FF5B-CF4A-F0CD-8A7FE7FFD02F}"/>
              </a:ext>
            </a:extLst>
          </p:cNvPr>
          <p:cNvSpPr txBox="1"/>
          <p:nvPr/>
        </p:nvSpPr>
        <p:spPr>
          <a:xfrm>
            <a:off x="987973" y="3218115"/>
            <a:ext cx="162232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Alcance: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D03C8A7-AE2C-8977-9406-AD3C7AAB2498}"/>
              </a:ext>
            </a:extLst>
          </p:cNvPr>
          <p:cNvSpPr txBox="1"/>
          <p:nvPr/>
        </p:nvSpPr>
        <p:spPr>
          <a:xfrm>
            <a:off x="984788" y="4964748"/>
            <a:ext cx="162232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Disparador: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DAD0530-4FDE-B3B5-EF79-077994F829E6}"/>
              </a:ext>
            </a:extLst>
          </p:cNvPr>
          <p:cNvSpPr txBox="1"/>
          <p:nvPr/>
        </p:nvSpPr>
        <p:spPr>
          <a:xfrm>
            <a:off x="6570432" y="1363971"/>
            <a:ext cx="1472354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 err="1">
                <a:solidFill>
                  <a:schemeClr val="bg1"/>
                </a:solidFill>
              </a:rPr>
              <a:t>SLAs</a:t>
            </a:r>
            <a:r>
              <a:rPr lang="es-MX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FED871F-EF02-1084-B097-35942C90090A}"/>
              </a:ext>
            </a:extLst>
          </p:cNvPr>
          <p:cNvSpPr txBox="1"/>
          <p:nvPr/>
        </p:nvSpPr>
        <p:spPr>
          <a:xfrm>
            <a:off x="6570431" y="3218115"/>
            <a:ext cx="1472355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 err="1">
                <a:solidFill>
                  <a:schemeClr val="bg1"/>
                </a:solidFill>
              </a:rPr>
              <a:t>KPIs</a:t>
            </a:r>
            <a:r>
              <a:rPr lang="es-MX" b="1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510E9F3-FDC0-D2CF-1A18-0B6EADF90834}"/>
              </a:ext>
            </a:extLst>
          </p:cNvPr>
          <p:cNvSpPr txBox="1"/>
          <p:nvPr/>
        </p:nvSpPr>
        <p:spPr>
          <a:xfrm>
            <a:off x="6576802" y="4964748"/>
            <a:ext cx="3274142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Entradas requeridas: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34D2E39-550A-57C8-3873-EB7171F9397E}"/>
              </a:ext>
            </a:extLst>
          </p:cNvPr>
          <p:cNvSpPr txBox="1"/>
          <p:nvPr/>
        </p:nvSpPr>
        <p:spPr>
          <a:xfrm>
            <a:off x="817283" y="1870301"/>
            <a:ext cx="47293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00" dirty="0"/>
              <a:t>Estandarizar la gestión de envíos y logística, asegurando revisión y aprobación antes de su liberación para evitar errores y retrasos.</a:t>
            </a:r>
            <a:endParaRPr lang="es-MX" sz="165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7E500D3-C0D0-1030-EEFF-EBEE1D38E9AB}"/>
              </a:ext>
            </a:extLst>
          </p:cNvPr>
          <p:cNvSpPr txBox="1"/>
          <p:nvPr/>
        </p:nvSpPr>
        <p:spPr>
          <a:xfrm>
            <a:off x="817283" y="3667503"/>
            <a:ext cx="47293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00" dirty="0"/>
              <a:t>Aplica al área de Tráfico y Logística, así como a Almacén, para la gestión de envíos derivados de requisiciones únicas.</a:t>
            </a:r>
            <a:endParaRPr lang="es-MX" sz="165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1AED74A-F1A8-0C0A-A66D-43F7302791C3}"/>
              </a:ext>
            </a:extLst>
          </p:cNvPr>
          <p:cNvSpPr txBox="1"/>
          <p:nvPr/>
        </p:nvSpPr>
        <p:spPr>
          <a:xfrm>
            <a:off x="817283" y="5501003"/>
            <a:ext cx="472931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Colocación de pedido.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1B385BD-290C-28BA-2E87-385AEB2AED4D}"/>
              </a:ext>
            </a:extLst>
          </p:cNvPr>
          <p:cNvSpPr txBox="1"/>
          <p:nvPr/>
        </p:nvSpPr>
        <p:spPr>
          <a:xfrm>
            <a:off x="6252061" y="1862606"/>
            <a:ext cx="5678487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Almacén HTL INC embarca mercancía a aduana ≤ 1día.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Embarque en aduana ≤ 3 días hábiles.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00" dirty="0"/>
              <a:t>Almacén HTL México realiza el </a:t>
            </a:r>
            <a:r>
              <a:rPr lang="es-MX" sz="1600" dirty="0" err="1"/>
              <a:t>picking</a:t>
            </a:r>
            <a:r>
              <a:rPr lang="es-MX" sz="1600" dirty="0"/>
              <a:t> ≤ 1 día hábil.</a:t>
            </a:r>
            <a:endParaRPr lang="es-MX" sz="1650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39F84DD-40F6-DCFE-4F07-0EC5F10D4A80}"/>
              </a:ext>
            </a:extLst>
          </p:cNvPr>
          <p:cNvSpPr txBox="1"/>
          <p:nvPr/>
        </p:nvSpPr>
        <p:spPr>
          <a:xfrm>
            <a:off x="6252061" y="3718927"/>
            <a:ext cx="5678487" cy="1100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00" dirty="0"/>
              <a:t>% de embarques liberados en aduana en ≤ 3 días hábiles.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% de cumplimiento del tiempo de entrega al cliente.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% de envíos al cliente sin incidencias.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Lead Time (tiempo de ciclo del pedido).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0E18D78-DDA8-D27A-A9DE-45DA0DA1293B}"/>
              </a:ext>
            </a:extLst>
          </p:cNvPr>
          <p:cNvSpPr txBox="1"/>
          <p:nvPr/>
        </p:nvSpPr>
        <p:spPr>
          <a:xfrm>
            <a:off x="6328263" y="5398036"/>
            <a:ext cx="56784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00" dirty="0"/>
              <a:t>Pedido colocado en sistema.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00" dirty="0"/>
              <a:t>Embarque recibido.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00" dirty="0"/>
              <a:t>Factura comercial.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00" dirty="0"/>
              <a:t>Información del proveedor / fabricante.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00" dirty="0"/>
              <a:t>Información del cliente (CRM).</a:t>
            </a:r>
          </a:p>
        </p:txBody>
      </p:sp>
    </p:spTree>
    <p:extLst>
      <p:ext uri="{BB962C8B-B14F-4D97-AF65-F5344CB8AC3E}">
        <p14:creationId xmlns:p14="http://schemas.microsoft.com/office/powerpoint/2010/main" val="22245963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DDC53-BA3E-4789-0485-7F3978EB5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D931701D-495A-1EA6-162F-E027A0C7077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4" y="6308957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43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96D637A3-9D46-6F73-A3AF-BB9D226D8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9A9A40E2-51FE-D5CE-07CE-BC51DFD615B3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9D4A9A95-E4B3-D0BB-F3D2-62E0D84C12C8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5F930811-C79A-8FE0-AFB0-8272E4DDA89C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9A8338FC-8C97-676E-6974-5BD3CBB3F1BF}"/>
              </a:ext>
            </a:extLst>
          </p:cNvPr>
          <p:cNvSpPr txBox="1">
            <a:spLocks/>
          </p:cNvSpPr>
          <p:nvPr/>
        </p:nvSpPr>
        <p:spPr>
          <a:xfrm>
            <a:off x="817283" y="1870301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572C60A-C4F6-4C0F-487D-1E464584FBAC}"/>
              </a:ext>
            </a:extLst>
          </p:cNvPr>
          <p:cNvSpPr txBox="1"/>
          <p:nvPr/>
        </p:nvSpPr>
        <p:spPr>
          <a:xfrm>
            <a:off x="1011274" y="1682704"/>
            <a:ext cx="2497393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Controles y registros: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891FE8A-02A3-4130-3354-8520908686C6}"/>
              </a:ext>
            </a:extLst>
          </p:cNvPr>
          <p:cNvSpPr txBox="1"/>
          <p:nvPr/>
        </p:nvSpPr>
        <p:spPr>
          <a:xfrm>
            <a:off x="7026528" y="1685635"/>
            <a:ext cx="2782529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Herramientas/formatos: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0F53F9D-D3A2-5D7C-5173-F33F95DD1F7B}"/>
              </a:ext>
            </a:extLst>
          </p:cNvPr>
          <p:cNvSpPr txBox="1"/>
          <p:nvPr/>
        </p:nvSpPr>
        <p:spPr>
          <a:xfrm>
            <a:off x="5773361" y="3822683"/>
            <a:ext cx="1109803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MX" b="1" dirty="0">
                <a:solidFill>
                  <a:schemeClr val="bg1"/>
                </a:solidFill>
              </a:rPr>
              <a:t>RACI: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98FC504-D198-0337-CBCD-E85C12D8B508}"/>
              </a:ext>
            </a:extLst>
          </p:cNvPr>
          <p:cNvSpPr txBox="1"/>
          <p:nvPr/>
        </p:nvSpPr>
        <p:spPr>
          <a:xfrm>
            <a:off x="859280" y="2187646"/>
            <a:ext cx="472931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endParaRPr lang="es-MX" sz="1650" dirty="0"/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endParaRPr lang="es-MX" sz="165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155840D-3158-3ACB-BD5A-A91F059D8A43}"/>
              </a:ext>
            </a:extLst>
          </p:cNvPr>
          <p:cNvSpPr txBox="1"/>
          <p:nvPr/>
        </p:nvSpPr>
        <p:spPr>
          <a:xfrm>
            <a:off x="6957064" y="2185295"/>
            <a:ext cx="4629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CRM.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Plataforma UPS.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Documentación aduanal.</a:t>
            </a:r>
          </a:p>
          <a:p>
            <a:pPr algn="just">
              <a:buSzPct val="80000"/>
            </a:pPr>
            <a:endParaRPr lang="es-MX" sz="1650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FD0E4237-D43E-D941-4A3C-7686E4003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048679"/>
              </p:ext>
            </p:extLst>
          </p:nvPr>
        </p:nvGraphicFramePr>
        <p:xfrm>
          <a:off x="1070463" y="4369744"/>
          <a:ext cx="10600427" cy="937260"/>
        </p:xfrm>
        <a:graphic>
          <a:graphicData uri="http://schemas.openxmlformats.org/drawingml/2006/table">
            <a:tbl>
              <a:tblPr>
                <a:tableStyleId>{AF606853-7671-496A-8E4F-DF71F8EC918B}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5589176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42591431"/>
                    </a:ext>
                  </a:extLst>
                </a:gridCol>
                <a:gridCol w="1999168">
                  <a:extLst>
                    <a:ext uri="{9D8B030D-6E8A-4147-A177-3AD203B41FA5}">
                      <a16:colId xmlns:a16="http://schemas.microsoft.com/office/drawing/2014/main" val="3421345571"/>
                    </a:ext>
                  </a:extLst>
                </a:gridCol>
                <a:gridCol w="2290916">
                  <a:extLst>
                    <a:ext uri="{9D8B030D-6E8A-4147-A177-3AD203B41FA5}">
                      <a16:colId xmlns:a16="http://schemas.microsoft.com/office/drawing/2014/main" val="3116459775"/>
                    </a:ext>
                  </a:extLst>
                </a:gridCol>
                <a:gridCol w="2104103">
                  <a:extLst>
                    <a:ext uri="{9D8B030D-6E8A-4147-A177-3AD203B41FA5}">
                      <a16:colId xmlns:a16="http://schemas.microsoft.com/office/drawing/2014/main" val="19154922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Actividad principal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A (Aprueba)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R (Responsable)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C (Consultado)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50" b="1" dirty="0"/>
                        <a:t>I (Informado)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8566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Tráfico y logística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-Harvey (compras)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-Pavel (logística, aduana, </a:t>
                      </a:r>
                      <a:r>
                        <a:rPr lang="es-MX" sz="1650" dirty="0" err="1">
                          <a:solidFill>
                            <a:schemeClr val="tx1"/>
                          </a:solidFill>
                        </a:rPr>
                        <a:t>picking</a:t>
                      </a:r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es-MX" sz="1650" dirty="0" err="1">
                          <a:solidFill>
                            <a:schemeClr val="tx1"/>
                          </a:solidFill>
                        </a:rPr>
                        <a:t>Karym</a:t>
                      </a:r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 (gestión administrativa).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50" dirty="0">
                          <a:solidFill>
                            <a:schemeClr val="tx1"/>
                          </a:solidFill>
                        </a:rPr>
                        <a:t>-Francia (seguimiento, tiempos, entregables).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71193"/>
                  </a:ext>
                </a:extLst>
              </a:tr>
            </a:tbl>
          </a:graphicData>
        </a:graphic>
      </p:graphicFrame>
      <p:sp>
        <p:nvSpPr>
          <p:cNvPr id="7" name="Marcador de pie de página 4">
            <a:extLst>
              <a:ext uri="{FF2B5EF4-FFF2-40B4-BE49-F238E27FC236}">
                <a16:creationId xmlns:a16="http://schemas.microsoft.com/office/drawing/2014/main" id="{5B08CF7F-3DFA-11AC-F7B1-48369DC07B47}"/>
              </a:ext>
            </a:extLst>
          </p:cNvPr>
          <p:cNvSpPr txBox="1">
            <a:spLocks/>
          </p:cNvSpPr>
          <p:nvPr/>
        </p:nvSpPr>
        <p:spPr>
          <a:xfrm>
            <a:off x="442452" y="6356350"/>
            <a:ext cx="3672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s-mx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/>
              <a:t>HTL Electronics </a:t>
            </a:r>
            <a:endParaRPr lang="es-MX" dirty="0"/>
          </a:p>
        </p:txBody>
      </p:sp>
      <p:sp>
        <p:nvSpPr>
          <p:cNvPr id="12" name="Título 13">
            <a:extLst>
              <a:ext uri="{FF2B5EF4-FFF2-40B4-BE49-F238E27FC236}">
                <a16:creationId xmlns:a16="http://schemas.microsoft.com/office/drawing/2014/main" id="{19FEF5BF-227B-C080-5331-590C6FB2AAF2}"/>
              </a:ext>
            </a:extLst>
          </p:cNvPr>
          <p:cNvSpPr txBox="1">
            <a:spLocks/>
          </p:cNvSpPr>
          <p:nvPr/>
        </p:nvSpPr>
        <p:spPr>
          <a:xfrm>
            <a:off x="1359365" y="404761"/>
            <a:ext cx="9473270" cy="938476"/>
          </a:xfrm>
          <a:prstGeom prst="rect">
            <a:avLst/>
          </a:prstGeom>
        </p:spPr>
        <p:txBody>
          <a:bodyPr vert="horz" lIns="91440" tIns="45720" rIns="91440" bIns="0" rtlCol="0" anchor="b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dirty="0">
                <a:solidFill>
                  <a:schemeClr val="tx1"/>
                </a:solidFill>
                <a:latin typeface="+mn-lt"/>
              </a:rPr>
              <a:t>SOP 12-TRÁFICO Y LOGÍSTICA </a:t>
            </a:r>
            <a:br>
              <a:rPr lang="es-MX" sz="1800" kern="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04056B4-A7E7-3C98-B76C-821D0338E515}"/>
              </a:ext>
            </a:extLst>
          </p:cNvPr>
          <p:cNvSpPr txBox="1"/>
          <p:nvPr/>
        </p:nvSpPr>
        <p:spPr>
          <a:xfrm>
            <a:off x="909438" y="2185295"/>
            <a:ext cx="4629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Validación de documentación de embarque. 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Confirmación de liberación en aduana.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Guías de envío UPS. </a:t>
            </a:r>
          </a:p>
          <a:p>
            <a:pPr marL="285750" indent="-285750" algn="just">
              <a:buSzPct val="80000"/>
              <a:buFont typeface="Wingdings" panose="05000000000000000000" pitchFamily="2" charset="2"/>
              <a:buChar char="ü"/>
            </a:pPr>
            <a:r>
              <a:rPr lang="es-MX" sz="1650" dirty="0"/>
              <a:t>Comprobante de entrega al cliente.</a:t>
            </a:r>
          </a:p>
        </p:txBody>
      </p:sp>
    </p:spTree>
    <p:extLst>
      <p:ext uri="{BB962C8B-B14F-4D97-AF65-F5344CB8AC3E}">
        <p14:creationId xmlns:p14="http://schemas.microsoft.com/office/powerpoint/2010/main" val="10817781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80FE4-705F-75DC-2DFA-8FCDE4C40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733518D6-BEE1-B95B-1D7E-09936948900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4" y="6308957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44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46BA7019-B2D8-F225-6C7E-93EE1735BC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F33C345C-1DCC-9D06-F2B6-7C954DE065E7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68CC07CD-C448-7789-1B42-B179C611AD2E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8741FE95-E2CF-28E9-5680-48B8C9040017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04452420-93B5-9C7E-C677-A75BBD639CD2}"/>
              </a:ext>
            </a:extLst>
          </p:cNvPr>
          <p:cNvSpPr txBox="1">
            <a:spLocks/>
          </p:cNvSpPr>
          <p:nvPr/>
        </p:nvSpPr>
        <p:spPr>
          <a:xfrm>
            <a:off x="817283" y="1870301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7" name="Marcador de pie de página 4">
            <a:extLst>
              <a:ext uri="{FF2B5EF4-FFF2-40B4-BE49-F238E27FC236}">
                <a16:creationId xmlns:a16="http://schemas.microsoft.com/office/drawing/2014/main" id="{818EF992-D076-E4E3-3D30-A20EC56F6388}"/>
              </a:ext>
            </a:extLst>
          </p:cNvPr>
          <p:cNvSpPr txBox="1">
            <a:spLocks/>
          </p:cNvSpPr>
          <p:nvPr/>
        </p:nvSpPr>
        <p:spPr>
          <a:xfrm>
            <a:off x="442452" y="6356350"/>
            <a:ext cx="3672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s-mx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/>
              <a:t>HTL Electronics </a:t>
            </a:r>
            <a:endParaRPr lang="es-MX" dirty="0"/>
          </a:p>
        </p:txBody>
      </p:sp>
      <p:sp>
        <p:nvSpPr>
          <p:cNvPr id="12" name="Título 13">
            <a:extLst>
              <a:ext uri="{FF2B5EF4-FFF2-40B4-BE49-F238E27FC236}">
                <a16:creationId xmlns:a16="http://schemas.microsoft.com/office/drawing/2014/main" id="{C7CCD9E7-BEDB-2F04-7C3A-4DA2B928C0D5}"/>
              </a:ext>
            </a:extLst>
          </p:cNvPr>
          <p:cNvSpPr txBox="1">
            <a:spLocks/>
          </p:cNvSpPr>
          <p:nvPr/>
        </p:nvSpPr>
        <p:spPr>
          <a:xfrm>
            <a:off x="1359365" y="404761"/>
            <a:ext cx="9473270" cy="938476"/>
          </a:xfrm>
          <a:prstGeom prst="rect">
            <a:avLst/>
          </a:prstGeom>
        </p:spPr>
        <p:txBody>
          <a:bodyPr vert="horz" lIns="91440" tIns="45720" rIns="91440" bIns="0" rtlCol="0" anchor="b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dirty="0">
                <a:solidFill>
                  <a:schemeClr val="tx1"/>
                </a:solidFill>
                <a:latin typeface="+mn-lt"/>
              </a:rPr>
              <a:t>SOP 12-TRÁFICO Y LOGÍSTICA</a:t>
            </a:r>
            <a:br>
              <a:rPr lang="es-MX" sz="1800" kern="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5F2AD646-617E-7A40-4A54-E1F1085E2A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4950" y="1021124"/>
            <a:ext cx="7522099" cy="5627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0119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7CE1E-5A61-D25D-629F-AE14E785D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2F19132E-4F39-439A-212B-30C9B40BA6E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4" y="6308957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45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5159097E-4D3E-ACDC-97CF-A351A8CE9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4F9C21CB-0F19-3F3D-5BC0-F12322FC3524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46BDB3D2-FD69-50D7-3A53-15FD041A664C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E19F7958-8A2E-6889-150E-1B427430D301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92C5A2D-16EB-EC30-423A-EBFB1F9AA0D2}"/>
              </a:ext>
            </a:extLst>
          </p:cNvPr>
          <p:cNvSpPr txBox="1">
            <a:spLocks/>
          </p:cNvSpPr>
          <p:nvPr/>
        </p:nvSpPr>
        <p:spPr>
          <a:xfrm>
            <a:off x="817283" y="1870301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7" name="Marcador de pie de página 4">
            <a:extLst>
              <a:ext uri="{FF2B5EF4-FFF2-40B4-BE49-F238E27FC236}">
                <a16:creationId xmlns:a16="http://schemas.microsoft.com/office/drawing/2014/main" id="{63283DCF-711F-DF40-7309-3443AEE352C0}"/>
              </a:ext>
            </a:extLst>
          </p:cNvPr>
          <p:cNvSpPr txBox="1">
            <a:spLocks/>
          </p:cNvSpPr>
          <p:nvPr/>
        </p:nvSpPr>
        <p:spPr>
          <a:xfrm>
            <a:off x="442452" y="6356350"/>
            <a:ext cx="3672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s-mx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/>
              <a:t>HTL Electronics </a:t>
            </a:r>
            <a:endParaRPr lang="es-MX" dirty="0"/>
          </a:p>
        </p:txBody>
      </p:sp>
      <p:sp>
        <p:nvSpPr>
          <p:cNvPr id="12" name="Título 13">
            <a:extLst>
              <a:ext uri="{FF2B5EF4-FFF2-40B4-BE49-F238E27FC236}">
                <a16:creationId xmlns:a16="http://schemas.microsoft.com/office/drawing/2014/main" id="{B42D8004-BF07-776D-6A2B-B7CDF04A96C2}"/>
              </a:ext>
            </a:extLst>
          </p:cNvPr>
          <p:cNvSpPr txBox="1">
            <a:spLocks/>
          </p:cNvSpPr>
          <p:nvPr/>
        </p:nvSpPr>
        <p:spPr>
          <a:xfrm>
            <a:off x="1359365" y="404761"/>
            <a:ext cx="9473270" cy="938476"/>
          </a:xfrm>
          <a:prstGeom prst="rect">
            <a:avLst/>
          </a:prstGeom>
        </p:spPr>
        <p:txBody>
          <a:bodyPr vert="horz" lIns="91440" tIns="45720" rIns="91440" bIns="0" rtlCol="0" anchor="b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dirty="0">
                <a:solidFill>
                  <a:schemeClr val="tx1"/>
                </a:solidFill>
                <a:latin typeface="+mn-lt"/>
              </a:rPr>
              <a:t>SOP 12-TRÁFICO Y LOGÍSTICA</a:t>
            </a:r>
            <a:br>
              <a:rPr lang="es-MX" sz="1800" kern="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EE525596-C624-4D4B-BA69-ECB3B7466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8952" y="1059433"/>
            <a:ext cx="7534095" cy="5662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1451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58A73-FABF-AD5A-DB13-AD09FC88B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05994D81-0969-0A2A-7B14-421781185E5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4" y="6308957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46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361579B0-F622-D233-5427-8FE5CD9A0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72CDADFE-13F6-B6F5-717F-FDF5A7D98ACA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AC870394-7CC6-3432-14A3-DF59BFA2FB99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FF77745B-B683-63AC-6A60-57158C332E6E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Título 13">
            <a:extLst>
              <a:ext uri="{FF2B5EF4-FFF2-40B4-BE49-F238E27FC236}">
                <a16:creationId xmlns:a16="http://schemas.microsoft.com/office/drawing/2014/main" id="{68552390-7629-7EFF-125F-12D492C6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628" y="218011"/>
            <a:ext cx="9473270" cy="565002"/>
          </a:xfrm>
        </p:spPr>
        <p:txBody>
          <a:bodyPr rtlCol="0">
            <a:normAutofit fontScale="90000"/>
          </a:bodyPr>
          <a:lstStyle/>
          <a:p>
            <a:pPr algn="ctr"/>
            <a:r>
              <a:rPr lang="es-MX" dirty="0">
                <a:solidFill>
                  <a:schemeClr val="tx1"/>
                </a:solidFill>
                <a:latin typeface="+mn-lt"/>
              </a:rPr>
              <a:t>CUADRO DE KPI´S TRANSVERSALES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F4E7F2-6293-2CA6-4D8E-AFA0CD9795EB}"/>
              </a:ext>
            </a:extLst>
          </p:cNvPr>
          <p:cNvSpPr txBox="1">
            <a:spLocks/>
          </p:cNvSpPr>
          <p:nvPr/>
        </p:nvSpPr>
        <p:spPr>
          <a:xfrm>
            <a:off x="442452" y="6356350"/>
            <a:ext cx="3672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s-mx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/>
              <a:t>HTL Electronics </a:t>
            </a:r>
            <a:endParaRPr lang="es-MX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AF175F94-CD60-712B-DFD6-317F26E579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29863"/>
              </p:ext>
            </p:extLst>
          </p:nvPr>
        </p:nvGraphicFramePr>
        <p:xfrm>
          <a:off x="1963271" y="995082"/>
          <a:ext cx="8444754" cy="5753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2377">
                  <a:extLst>
                    <a:ext uri="{9D8B030D-6E8A-4147-A177-3AD203B41FA5}">
                      <a16:colId xmlns:a16="http://schemas.microsoft.com/office/drawing/2014/main" val="286621047"/>
                    </a:ext>
                  </a:extLst>
                </a:gridCol>
                <a:gridCol w="4222377">
                  <a:extLst>
                    <a:ext uri="{9D8B030D-6E8A-4147-A177-3AD203B41FA5}">
                      <a16:colId xmlns:a16="http://schemas.microsoft.com/office/drawing/2014/main" val="260408452"/>
                    </a:ext>
                  </a:extLst>
                </a:gridCol>
              </a:tblGrid>
              <a:tr h="419380"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ÁREA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dirty="0"/>
                        <a:t>KPI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0715473"/>
                  </a:ext>
                </a:extLst>
              </a:tr>
              <a:tr h="723860">
                <a:tc>
                  <a:txBody>
                    <a:bodyPr/>
                    <a:lstStyle/>
                    <a:p>
                      <a:pPr algn="ctr"/>
                      <a:r>
                        <a:rPr lang="es-MX" sz="1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Comercial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-Tasa de éxito.</a:t>
                      </a:r>
                    </a:p>
                    <a:p>
                      <a:r>
                        <a:rPr lang="es-MX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-Margen cotizado vs. Real.</a:t>
                      </a:r>
                    </a:p>
                    <a:p>
                      <a:r>
                        <a:rPr lang="es-MX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-Lead time de cotización.</a:t>
                      </a:r>
                    </a:p>
                    <a:p>
                      <a:r>
                        <a:rPr lang="es-MX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-No. de clientes nuevos (trimestral)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6993960"/>
                  </a:ext>
                </a:extLst>
              </a:tr>
              <a:tr h="723860">
                <a:tc>
                  <a:txBody>
                    <a:bodyPr/>
                    <a:lstStyle/>
                    <a:p>
                      <a:pPr algn="ctr"/>
                      <a:r>
                        <a:rPr lang="es-MX" sz="1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Proyectos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-% hitos </a:t>
                      </a:r>
                      <a:r>
                        <a:rPr lang="es-MX" sz="1400" dirty="0" err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on</a:t>
                      </a:r>
                      <a:r>
                        <a:rPr lang="es-MX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-time.</a:t>
                      </a:r>
                    </a:p>
                    <a:p>
                      <a:r>
                        <a:rPr lang="es-MX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-Desviación de costo.</a:t>
                      </a:r>
                    </a:p>
                    <a:p>
                      <a:r>
                        <a:rPr lang="es-MX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-N.º </a:t>
                      </a:r>
                      <a:r>
                        <a:rPr lang="es-MX" sz="1400" dirty="0" err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change</a:t>
                      </a:r>
                      <a:r>
                        <a:rPr lang="es-MX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s-MX" sz="1400" dirty="0" err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orders</a:t>
                      </a:r>
                      <a:r>
                        <a:rPr lang="es-MX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0414086"/>
                  </a:ext>
                </a:extLst>
              </a:tr>
              <a:tr h="723860">
                <a:tc>
                  <a:txBody>
                    <a:bodyPr/>
                    <a:lstStyle/>
                    <a:p>
                      <a:pPr algn="ctr"/>
                      <a:r>
                        <a:rPr lang="es-MX" sz="1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Compras/logística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-Ciclo requisición→PO→recepción Consumo de stock existente.</a:t>
                      </a:r>
                    </a:p>
                    <a:p>
                      <a:r>
                        <a:rPr lang="es-MX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-OTD de proveedores.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5408669"/>
                  </a:ext>
                </a:extLst>
              </a:tr>
              <a:tr h="723860">
                <a:tc>
                  <a:txBody>
                    <a:bodyPr/>
                    <a:lstStyle/>
                    <a:p>
                      <a:pPr algn="ctr"/>
                      <a:r>
                        <a:rPr lang="es-MX" sz="1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Calidad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-NCR por fase.</a:t>
                      </a:r>
                    </a:p>
                    <a:p>
                      <a:r>
                        <a:rPr lang="es-MX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-Retrabajo en SI.</a:t>
                      </a:r>
                    </a:p>
                    <a:p>
                      <a:r>
                        <a:rPr lang="es-MX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-Aceptación SAT a la primera.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3193841"/>
                  </a:ext>
                </a:extLst>
              </a:tr>
              <a:tr h="723860">
                <a:tc>
                  <a:txBody>
                    <a:bodyPr/>
                    <a:lstStyle/>
                    <a:p>
                      <a:pPr algn="ctr"/>
                      <a:r>
                        <a:rPr lang="es-MX" sz="1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Soporte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-SLA por severidad.</a:t>
                      </a:r>
                    </a:p>
                    <a:p>
                      <a:r>
                        <a:rPr lang="es-MX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-CSAT.</a:t>
                      </a:r>
                    </a:p>
                    <a:p>
                      <a:r>
                        <a:rPr lang="es-MX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-Repetición de fallas.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8046771"/>
                  </a:ext>
                </a:extLst>
              </a:tr>
              <a:tr h="723860">
                <a:tc>
                  <a:txBody>
                    <a:bodyPr/>
                    <a:lstStyle/>
                    <a:p>
                      <a:pPr algn="ctr"/>
                      <a:r>
                        <a:rPr lang="es-MX" sz="1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Finanzas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-Flujo de caja por proyecto.</a:t>
                      </a:r>
                    </a:p>
                    <a:p>
                      <a:r>
                        <a:rPr lang="es-MX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-DSO (días de cobranza).</a:t>
                      </a:r>
                    </a:p>
                    <a:p>
                      <a:r>
                        <a:rPr lang="es-MX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-Rentabilidad por unidad de negocio.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4178022"/>
                  </a:ext>
                </a:extLst>
              </a:tr>
              <a:tr h="723860">
                <a:tc>
                  <a:txBody>
                    <a:bodyPr/>
                    <a:lstStyle/>
                    <a:p>
                      <a:pPr algn="ctr"/>
                      <a:r>
                        <a:rPr lang="es-MX" sz="1400" b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Demos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MX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-Utilización.</a:t>
                      </a:r>
                    </a:p>
                    <a:p>
                      <a:r>
                        <a:rPr lang="es-MX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-Puntualidad de devoluciones.</a:t>
                      </a:r>
                    </a:p>
                    <a:p>
                      <a:r>
                        <a:rPr lang="es-MX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-Incidentes por equipo.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23798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60304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6A0B7-EFD1-07CB-78C6-858E8CC7D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3BBD15FD-B22D-61E2-1BAB-35C878779C4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4" y="6308957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47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BEB9EAEB-4740-21E5-15B5-43A3A8536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634006C6-5A80-08CE-DBEE-66D8D737DCF8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F2CFF1FB-48E9-3E7D-190F-9A661135F413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A0242BFC-A7CB-C445-669C-AF73CDEFAD32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1DD44DA5-B6A4-03E5-2592-21D8D4480414}"/>
              </a:ext>
            </a:extLst>
          </p:cNvPr>
          <p:cNvSpPr txBox="1">
            <a:spLocks/>
          </p:cNvSpPr>
          <p:nvPr/>
        </p:nvSpPr>
        <p:spPr>
          <a:xfrm>
            <a:off x="817283" y="1870301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10" name="Título 13">
            <a:extLst>
              <a:ext uri="{FF2B5EF4-FFF2-40B4-BE49-F238E27FC236}">
                <a16:creationId xmlns:a16="http://schemas.microsoft.com/office/drawing/2014/main" id="{730E5B16-8F93-7301-A0E1-7A50F89A4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628" y="498384"/>
            <a:ext cx="9473270" cy="938476"/>
          </a:xfrm>
        </p:spPr>
        <p:txBody>
          <a:bodyPr rtlCol="0">
            <a:noAutofit/>
          </a:bodyPr>
          <a:lstStyle/>
          <a:p>
            <a:pPr algn="ctr"/>
            <a:r>
              <a:rPr lang="es-MX" sz="4000" kern="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ANÁLISIS DE CARGA FUNCIONAL </a:t>
            </a:r>
            <a:br>
              <a:rPr lang="es-MX" sz="40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sz="4000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sp>
        <p:nvSpPr>
          <p:cNvPr id="2" name="Marcador de pie de página 4">
            <a:extLst>
              <a:ext uri="{FF2B5EF4-FFF2-40B4-BE49-F238E27FC236}">
                <a16:creationId xmlns:a16="http://schemas.microsoft.com/office/drawing/2014/main" id="{3AD4D83E-A078-0FDC-8239-20839D15E2FB}"/>
              </a:ext>
            </a:extLst>
          </p:cNvPr>
          <p:cNvSpPr txBox="1">
            <a:spLocks/>
          </p:cNvSpPr>
          <p:nvPr/>
        </p:nvSpPr>
        <p:spPr>
          <a:xfrm>
            <a:off x="442452" y="6356350"/>
            <a:ext cx="3672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s-mx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/>
              <a:t>HTL Electronics </a:t>
            </a:r>
            <a:endParaRPr lang="es-MX" dirty="0"/>
          </a:p>
        </p:txBody>
      </p:sp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B0A5B2DC-9480-47E7-A74F-77FB77299B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9966746"/>
              </p:ext>
            </p:extLst>
          </p:nvPr>
        </p:nvGraphicFramePr>
        <p:xfrm>
          <a:off x="1079507" y="1269673"/>
          <a:ext cx="10032985" cy="52511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929613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16DED-1D71-0FB1-D68D-242AB9B04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692F345E-C6C8-A450-F512-98CF32F5090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4" y="6308957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48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801325A1-8C0A-596A-7B6E-03739D2DC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E73F7356-0E9C-0795-20C8-A037ED9D8CC3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5C8ACD2D-0511-A6F8-1875-5D23A8159AB1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3ECED66D-220F-9B5D-A16C-AA52164317C6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1FDDA049-84E2-6C61-206E-D4126B169D1C}"/>
              </a:ext>
            </a:extLst>
          </p:cNvPr>
          <p:cNvSpPr txBox="1">
            <a:spLocks/>
          </p:cNvSpPr>
          <p:nvPr/>
        </p:nvSpPr>
        <p:spPr>
          <a:xfrm>
            <a:off x="817283" y="1870301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10" name="Título 13">
            <a:extLst>
              <a:ext uri="{FF2B5EF4-FFF2-40B4-BE49-F238E27FC236}">
                <a16:creationId xmlns:a16="http://schemas.microsoft.com/office/drawing/2014/main" id="{7D119219-9A23-D454-8446-1E8AE98E2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558" y="557871"/>
            <a:ext cx="9836884" cy="938476"/>
          </a:xfrm>
        </p:spPr>
        <p:txBody>
          <a:bodyPr rtlCol="0">
            <a:noAutofit/>
          </a:bodyPr>
          <a:lstStyle/>
          <a:p>
            <a:pPr algn="ctr"/>
            <a:r>
              <a:rPr lang="es-MX" sz="4000" kern="1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HOJA DE RUTA DE IMPLEMENTACIÓN</a:t>
            </a:r>
            <a:br>
              <a:rPr lang="es-MX" sz="40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sz="4000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7400A31-D0A1-1C85-D099-EAC8D72A9B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9893024"/>
              </p:ext>
            </p:extLst>
          </p:nvPr>
        </p:nvGraphicFramePr>
        <p:xfrm>
          <a:off x="1413376" y="1705839"/>
          <a:ext cx="9365247" cy="41711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3620">
                  <a:extLst>
                    <a:ext uri="{9D8B030D-6E8A-4147-A177-3AD203B41FA5}">
                      <a16:colId xmlns:a16="http://schemas.microsoft.com/office/drawing/2014/main" val="3743903903"/>
                    </a:ext>
                  </a:extLst>
                </a:gridCol>
                <a:gridCol w="6341627">
                  <a:extLst>
                    <a:ext uri="{9D8B030D-6E8A-4147-A177-3AD203B41FA5}">
                      <a16:colId xmlns:a16="http://schemas.microsoft.com/office/drawing/2014/main" val="1885021123"/>
                    </a:ext>
                  </a:extLst>
                </a:gridCol>
              </a:tblGrid>
              <a:tr h="405454">
                <a:tc>
                  <a:txBody>
                    <a:bodyPr/>
                    <a:lstStyle/>
                    <a:p>
                      <a:pPr algn="ctr"/>
                      <a:r>
                        <a:rPr lang="es-MX" sz="1700" dirty="0"/>
                        <a:t>PERIODO (DÍAS)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700" dirty="0"/>
                        <a:t>ACCIONES CLAVE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355454"/>
                  </a:ext>
                </a:extLst>
              </a:tr>
              <a:tr h="1166375"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/>
                        <a:t>0-30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6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-Habilitar canal único de requisición.</a:t>
                      </a:r>
                    </a:p>
                    <a:p>
                      <a:pPr algn="l"/>
                      <a:r>
                        <a:rPr lang="es-MX" sz="16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-Formularios F-SAP (salida a proyecto) y F-DEM (préstamo de demos).</a:t>
                      </a: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s-MX" sz="16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-Comité inter-áreas semanal.</a:t>
                      </a: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es-MX" sz="16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-Autoridad formal a PM (Francia).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418989"/>
                  </a:ext>
                </a:extLst>
              </a:tr>
              <a:tr h="1166375"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/>
                        <a:t>31-60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600" dirty="0"/>
                        <a:t>-Implementar </a:t>
                      </a:r>
                      <a:r>
                        <a:rPr lang="es-MX" sz="1600" dirty="0" err="1"/>
                        <a:t>kitting</a:t>
                      </a:r>
                      <a:r>
                        <a:rPr lang="es-MX" sz="1600" dirty="0"/>
                        <a:t> y movimientos por proyecto en ERP.</a:t>
                      </a:r>
                    </a:p>
                    <a:p>
                      <a:pPr algn="l"/>
                      <a:r>
                        <a:rPr lang="es-MX" sz="1600" dirty="0"/>
                        <a:t>-Definir matriz de descuentos.</a:t>
                      </a:r>
                    </a:p>
                    <a:p>
                      <a:pPr algn="l"/>
                      <a:r>
                        <a:rPr lang="es-MX" sz="1600" dirty="0"/>
                        <a:t>-Plantillas de plan de proyecto y FAT/SAT.</a:t>
                      </a:r>
                    </a:p>
                    <a:p>
                      <a:pPr algn="l"/>
                      <a:r>
                        <a:rPr lang="es-MX" sz="1600" dirty="0"/>
                        <a:t>-Implementar RFQ/PO homologados para proveedores.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735438"/>
                  </a:ext>
                </a:extLst>
              </a:tr>
              <a:tr h="1432975"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/>
                        <a:t>61-90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1600" dirty="0"/>
                        <a:t>-Implementar </a:t>
                      </a:r>
                      <a:r>
                        <a:rPr lang="es-MX" sz="1600" dirty="0" err="1"/>
                        <a:t>scorecards</a:t>
                      </a:r>
                      <a:r>
                        <a:rPr lang="es-MX" sz="1600" dirty="0"/>
                        <a:t> de proveedores.</a:t>
                      </a:r>
                    </a:p>
                    <a:p>
                      <a:pPr algn="l"/>
                      <a:r>
                        <a:rPr lang="es-MX" sz="1600" dirty="0"/>
                        <a:t>-Desarrollar tablero </a:t>
                      </a:r>
                      <a:r>
                        <a:rPr lang="es-MX" sz="1600" dirty="0" err="1"/>
                        <a:t>KPIs</a:t>
                      </a:r>
                      <a:r>
                        <a:rPr lang="es-MX" sz="1600" dirty="0"/>
                        <a:t>.</a:t>
                      </a:r>
                    </a:p>
                    <a:p>
                      <a:pPr algn="l"/>
                      <a:r>
                        <a:rPr lang="es-MX" sz="1600" dirty="0"/>
                        <a:t>-Capacitación interna en </a:t>
                      </a:r>
                      <a:r>
                        <a:rPr lang="es-MX" sz="1600" dirty="0" err="1"/>
                        <a:t>SOPs</a:t>
                      </a:r>
                      <a:r>
                        <a:rPr lang="es-MX" sz="1600" dirty="0"/>
                        <a:t>.</a:t>
                      </a:r>
                    </a:p>
                    <a:p>
                      <a:pPr algn="l"/>
                      <a:r>
                        <a:rPr lang="es-MX" sz="1600" dirty="0"/>
                        <a:t>-Revisión de umbrales de compra (Harvey/</a:t>
                      </a:r>
                      <a:r>
                        <a:rPr lang="es-MX" sz="1600" dirty="0" err="1"/>
                        <a:t>Karym</a:t>
                      </a:r>
                      <a:r>
                        <a:rPr lang="es-MX" sz="1600" dirty="0"/>
                        <a:t>).</a:t>
                      </a:r>
                    </a:p>
                    <a:p>
                      <a:pPr algn="l"/>
                      <a:r>
                        <a:rPr lang="es-MX" sz="1600" dirty="0"/>
                        <a:t>-Lanzamiento piloto de Productos HTL con catálogo y P&amp;L.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339347"/>
                  </a:ext>
                </a:extLst>
              </a:tr>
            </a:tbl>
          </a:graphicData>
        </a:graphic>
      </p:graphicFrame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767630ED-4F64-E455-33DE-CF5906BCD2F9}"/>
              </a:ext>
            </a:extLst>
          </p:cNvPr>
          <p:cNvSpPr txBox="1">
            <a:spLocks/>
          </p:cNvSpPr>
          <p:nvPr/>
        </p:nvSpPr>
        <p:spPr>
          <a:xfrm>
            <a:off x="442452" y="6356350"/>
            <a:ext cx="3672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s-mx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/>
              <a:t>HTL Electronics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659599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9619F-B891-2894-C2C3-7B966E3B9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26BE8C17-8080-88F1-8346-335A1CF8F50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52224" y="6308957"/>
            <a:ext cx="739775" cy="365125"/>
          </a:xfrm>
        </p:spPr>
        <p:txBody>
          <a:bodyPr rtlCol="0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s-MX" smtClean="0"/>
              <a:pPr/>
              <a:t>49</a:t>
            </a:fld>
            <a:endParaRPr lang="es-MX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952DE5EE-7DE4-32C2-5CD1-5AB6EAC12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082" y="209029"/>
            <a:ext cx="928161" cy="1272480"/>
          </a:xfrm>
          <a:prstGeom prst="rect">
            <a:avLst/>
          </a:prstGeom>
        </p:spPr>
      </p:pic>
      <p:sp>
        <p:nvSpPr>
          <p:cNvPr id="3" name="Título 13">
            <a:extLst>
              <a:ext uri="{FF2B5EF4-FFF2-40B4-BE49-F238E27FC236}">
                <a16:creationId xmlns:a16="http://schemas.microsoft.com/office/drawing/2014/main" id="{A016DAF1-2D33-CF95-13FD-9F8A428B32E8}"/>
              </a:ext>
            </a:extLst>
          </p:cNvPr>
          <p:cNvSpPr txBox="1">
            <a:spLocks/>
          </p:cNvSpPr>
          <p:nvPr/>
        </p:nvSpPr>
        <p:spPr>
          <a:xfrm>
            <a:off x="6570432" y="209029"/>
            <a:ext cx="3099593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 dirty="0">
              <a:solidFill>
                <a:schemeClr val="tx1"/>
              </a:solidFill>
            </a:endParaRP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DC43A8CF-AFB3-2D1E-7331-1FCF60E66DFD}"/>
              </a:ext>
            </a:extLst>
          </p:cNvPr>
          <p:cNvSpPr/>
          <p:nvPr/>
        </p:nvSpPr>
        <p:spPr>
          <a:xfrm>
            <a:off x="1" y="0"/>
            <a:ext cx="128458" cy="6858000"/>
          </a:xfrm>
          <a:prstGeom prst="flowChartProcess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6" name="Diagrama de flujo: proceso 25">
            <a:extLst>
              <a:ext uri="{FF2B5EF4-FFF2-40B4-BE49-F238E27FC236}">
                <a16:creationId xmlns:a16="http://schemas.microsoft.com/office/drawing/2014/main" id="{2C759FA0-9C4A-4033-3B9E-056CAFC1A1BA}"/>
              </a:ext>
            </a:extLst>
          </p:cNvPr>
          <p:cNvSpPr/>
          <p:nvPr/>
        </p:nvSpPr>
        <p:spPr>
          <a:xfrm>
            <a:off x="197284" y="0"/>
            <a:ext cx="68826" cy="68580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8C44A1BA-9F61-774F-AEEA-E3829DAA9E61}"/>
              </a:ext>
            </a:extLst>
          </p:cNvPr>
          <p:cNvSpPr txBox="1">
            <a:spLocks/>
          </p:cNvSpPr>
          <p:nvPr/>
        </p:nvSpPr>
        <p:spPr>
          <a:xfrm>
            <a:off x="817283" y="1870301"/>
            <a:ext cx="11021960" cy="3117397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10" name="Título 13">
            <a:extLst>
              <a:ext uri="{FF2B5EF4-FFF2-40B4-BE49-F238E27FC236}">
                <a16:creationId xmlns:a16="http://schemas.microsoft.com/office/drawing/2014/main" id="{7D0F0D8E-FF3F-6C87-5543-1769E6014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558" y="557871"/>
            <a:ext cx="9836884" cy="938476"/>
          </a:xfrm>
        </p:spPr>
        <p:txBody>
          <a:bodyPr rtlCol="0">
            <a:noAutofit/>
          </a:bodyPr>
          <a:lstStyle/>
          <a:p>
            <a:pPr algn="ctr"/>
            <a:r>
              <a:rPr lang="es-MX" sz="40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ISO 9001:2015   </a:t>
            </a:r>
            <a:br>
              <a:rPr lang="es-MX" sz="4000" b="1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s-MX" sz="4000" dirty="0">
                <a:solidFill>
                  <a:schemeClr val="tx1"/>
                </a:solidFill>
                <a:latin typeface="+mn-lt"/>
              </a:rPr>
              <a:t>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B1C80F7-F9D6-94FC-2968-BB35D8123B0F}"/>
              </a:ext>
            </a:extLst>
          </p:cNvPr>
          <p:cNvSpPr txBox="1"/>
          <p:nvPr/>
        </p:nvSpPr>
        <p:spPr>
          <a:xfrm>
            <a:off x="931433" y="1715145"/>
            <a:ext cx="5367867" cy="372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b="1" dirty="0"/>
              <a:t>Clausulas auditables (4-10)</a:t>
            </a:r>
          </a:p>
        </p:txBody>
      </p:sp>
      <p:sp>
        <p:nvSpPr>
          <p:cNvPr id="8" name="AutoShape 2" descr="Vea los detalles de la imagen relacionada. Iso 9001 2015 Certification Iso 90012015 Logo Iso 9000 Certification ...">
            <a:extLst>
              <a:ext uri="{FF2B5EF4-FFF2-40B4-BE49-F238E27FC236}">
                <a16:creationId xmlns:a16="http://schemas.microsoft.com/office/drawing/2014/main" id="{BB283F2F-8264-2595-1A6A-79F0EC3DEA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63533" y="3276599"/>
            <a:ext cx="1684867" cy="1684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sp>
        <p:nvSpPr>
          <p:cNvPr id="12" name="AutoShape 4" descr="Vea los detalles de la imagen relacionada. Iso 9001 logo 스톡 벡터, 로열티 프리 Iso 9001 logo일러스트레이션 | Depositphotos®">
            <a:extLst>
              <a:ext uri="{FF2B5EF4-FFF2-40B4-BE49-F238E27FC236}">
                <a16:creationId xmlns:a16="http://schemas.microsoft.com/office/drawing/2014/main" id="{FC315274-184E-184C-89E6-D823CC4BEA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207000" y="3276600"/>
            <a:ext cx="1041400" cy="104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CCD5CDC-06BF-4646-196D-FC0094D607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781" t="22794" r="20456" b="21791"/>
          <a:stretch>
            <a:fillRect/>
          </a:stretch>
        </p:blipFill>
        <p:spPr>
          <a:xfrm>
            <a:off x="838300" y="234814"/>
            <a:ext cx="1337734" cy="1261533"/>
          </a:xfrm>
          <a:prstGeom prst="rect">
            <a:avLst/>
          </a:prstGeom>
        </p:spPr>
      </p:pic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38A07FB9-9026-8A88-6CF5-85ABC1A8AC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373382"/>
              </p:ext>
            </p:extLst>
          </p:nvPr>
        </p:nvGraphicFramePr>
        <p:xfrm>
          <a:off x="1127828" y="2180136"/>
          <a:ext cx="9886614" cy="4041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5538">
                  <a:extLst>
                    <a:ext uri="{9D8B030D-6E8A-4147-A177-3AD203B41FA5}">
                      <a16:colId xmlns:a16="http://schemas.microsoft.com/office/drawing/2014/main" val="88450777"/>
                    </a:ext>
                  </a:extLst>
                </a:gridCol>
                <a:gridCol w="3967101">
                  <a:extLst>
                    <a:ext uri="{9D8B030D-6E8A-4147-A177-3AD203B41FA5}">
                      <a16:colId xmlns:a16="http://schemas.microsoft.com/office/drawing/2014/main" val="3828557208"/>
                    </a:ext>
                  </a:extLst>
                </a:gridCol>
                <a:gridCol w="2623975">
                  <a:extLst>
                    <a:ext uri="{9D8B030D-6E8A-4147-A177-3AD203B41FA5}">
                      <a16:colId xmlns:a16="http://schemas.microsoft.com/office/drawing/2014/main" val="3218780509"/>
                    </a:ext>
                  </a:extLst>
                </a:gridCol>
              </a:tblGrid>
              <a:tr h="431275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Cláusula ISO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Nombre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¿Se cubre con los SOPS?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4604637"/>
                  </a:ext>
                </a:extLst>
              </a:tr>
              <a:tr h="431275">
                <a:tc>
                  <a:txBody>
                    <a:bodyPr/>
                    <a:lstStyle/>
                    <a:p>
                      <a:pPr algn="just"/>
                      <a:r>
                        <a:rPr lang="es-MX" sz="1600" b="1" dirty="0"/>
                        <a:t>4. Contexto de la organización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Entender procesos y su interacción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Parcial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0471235"/>
                  </a:ext>
                </a:extLst>
              </a:tr>
              <a:tr h="431275">
                <a:tc>
                  <a:txBody>
                    <a:bodyPr/>
                    <a:lstStyle/>
                    <a:p>
                      <a:pPr algn="just"/>
                      <a:r>
                        <a:rPr lang="es-MX" sz="1600" b="1" dirty="0"/>
                        <a:t>5. Contexto de la organización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Compromiso de la dirección. Roles y responsabilidades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Parcial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7590124"/>
                  </a:ext>
                </a:extLst>
              </a:tr>
              <a:tr h="431275">
                <a:tc>
                  <a:txBody>
                    <a:bodyPr/>
                    <a:lstStyle/>
                    <a:p>
                      <a:pPr algn="just"/>
                      <a:r>
                        <a:rPr lang="es-MX" sz="1600" b="1" dirty="0"/>
                        <a:t>6. Planificación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Riesgos y oportunidades; objetivos de calidad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Parcial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4499292"/>
                  </a:ext>
                </a:extLst>
              </a:tr>
              <a:tr h="431275">
                <a:tc>
                  <a:txBody>
                    <a:bodyPr/>
                    <a:lstStyle/>
                    <a:p>
                      <a:pPr algn="just"/>
                      <a:r>
                        <a:rPr lang="es-MX" sz="1600" b="1" dirty="0"/>
                        <a:t>7. Apoyo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Recursos, competencia, comunicación y control documental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Cubierto en su mayoría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2710326"/>
                  </a:ext>
                </a:extLst>
              </a:tr>
              <a:tr h="431275">
                <a:tc>
                  <a:txBody>
                    <a:bodyPr/>
                    <a:lstStyle/>
                    <a:p>
                      <a:pPr algn="just"/>
                      <a:r>
                        <a:rPr lang="es-MX" sz="1600" b="1" dirty="0"/>
                        <a:t>8. Operación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Ejecución del servicio producción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Total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9324556"/>
                  </a:ext>
                </a:extLst>
              </a:tr>
              <a:tr h="431275">
                <a:tc>
                  <a:txBody>
                    <a:bodyPr/>
                    <a:lstStyle/>
                    <a:p>
                      <a:pPr algn="just"/>
                      <a:r>
                        <a:rPr lang="es-MX" sz="1600" b="1" dirty="0"/>
                        <a:t>9. Evaluación del desempeño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Auditorías, satisfacción del cliente, indicadores.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Parcial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9846215"/>
                  </a:ext>
                </a:extLst>
              </a:tr>
              <a:tr h="431275">
                <a:tc>
                  <a:txBody>
                    <a:bodyPr/>
                    <a:lstStyle/>
                    <a:p>
                      <a:pPr algn="just"/>
                      <a:r>
                        <a:rPr lang="es-MX" sz="1600" b="1" dirty="0"/>
                        <a:t>10. Mejora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No conformidades, acciones correctivas, mejora continua.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Parcial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3828841"/>
                  </a:ext>
                </a:extLst>
              </a:tr>
            </a:tbl>
          </a:graphicData>
        </a:graphic>
      </p:graphicFrame>
      <p:sp>
        <p:nvSpPr>
          <p:cNvPr id="16" name="Marcador de pie de página 4">
            <a:extLst>
              <a:ext uri="{FF2B5EF4-FFF2-40B4-BE49-F238E27FC236}">
                <a16:creationId xmlns:a16="http://schemas.microsoft.com/office/drawing/2014/main" id="{9E81708C-D1C9-75B0-B31D-CB2F2BA9B66F}"/>
              </a:ext>
            </a:extLst>
          </p:cNvPr>
          <p:cNvSpPr txBox="1">
            <a:spLocks/>
          </p:cNvSpPr>
          <p:nvPr/>
        </p:nvSpPr>
        <p:spPr>
          <a:xfrm>
            <a:off x="442452" y="6356350"/>
            <a:ext cx="36723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es-mx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/>
              <a:t>HTL Electronics 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950006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740662_TF00951641.potx" id="{7E8BFDE7-79DB-40D6-B758-6DCE886BBCE3}" vid="{8D758CA4-0809-4CBE-9CFD-4DCAA17650A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A75B173-5BB8-43DF-BBDA-EE0334DC28BB}">
  <we:reference id="wa200005566" version="3.0.0.3" store="es-MX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6216C5D0F720449930F31E8CA59569" ma:contentTypeVersion="4" ma:contentTypeDescription="Create a new document." ma:contentTypeScope="" ma:versionID="48bca9cff04508a0e29ecdb42edcb935">
  <xsd:schema xmlns:xsd="http://www.w3.org/2001/XMLSchema" xmlns:xs="http://www.w3.org/2001/XMLSchema" xmlns:p="http://schemas.microsoft.com/office/2006/metadata/properties" xmlns:ns3="82fd040f-2877-48d1-ac65-ddc423084e4c" targetNamespace="http://schemas.microsoft.com/office/2006/metadata/properties" ma:root="true" ma:fieldsID="82f36bbc456d68c2df54c3491be295e9" ns3:_="">
    <xsd:import namespace="82fd040f-2877-48d1-ac65-ddc423084e4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fd040f-2877-48d1-ac65-ddc423084e4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9AA90D-A39D-4F83-B1BD-92099B1CAD0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4D15D6-87BC-477C-8E91-9F90829C2FC8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www.w3.org/XML/1998/namespace"/>
    <ds:schemaRef ds:uri="http://purl.org/dc/terms/"/>
    <ds:schemaRef ds:uri="http://purl.org/dc/elements/1.1/"/>
    <ds:schemaRef ds:uri="82fd040f-2877-48d1-ac65-ddc423084e4c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333A14A2-4B67-4EE6-8018-591559AA51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2fd040f-2877-48d1-ac65-ddc423084e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hexágono clara</Template>
  <TotalTime>94860</TotalTime>
  <Words>4575</Words>
  <Application>Microsoft Office PowerPoint</Application>
  <PresentationFormat>Panorámica</PresentationFormat>
  <Paragraphs>919</Paragraphs>
  <Slides>49</Slides>
  <Notes>49</Notes>
  <HiddenSlides>1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5" baseType="lpstr">
      <vt:lpstr>Arial</vt:lpstr>
      <vt:lpstr>Arial Black</vt:lpstr>
      <vt:lpstr>Calibri</vt:lpstr>
      <vt:lpstr>Times New Roman</vt:lpstr>
      <vt:lpstr>Wingdings</vt:lpstr>
      <vt:lpstr>Tema de Office</vt:lpstr>
      <vt:lpstr>Análisis organizacional y propuesta de procedimientos (SOPs) </vt:lpstr>
      <vt:lpstr>CONTEXTO DE HTL ELECTRONICS</vt:lpstr>
      <vt:lpstr>OBJETIVOS</vt:lpstr>
      <vt:lpstr>HALLAZGOS Y RIESGOS </vt:lpstr>
      <vt:lpstr>MATRÍZ DE PROBABILIDAD E IMPACTO </vt:lpstr>
      <vt:lpstr>OBJETIVOS DE LA PROPUESTA </vt:lpstr>
      <vt:lpstr>GOBERNANZA Y RACI DE ALTO NIVEL</vt:lpstr>
      <vt:lpstr>SOP 1-COTIZACIONES (distribución, proyectos y componentes)  </vt:lpstr>
      <vt:lpstr>SOP 1-COTIZACIONES (distribución, proyectos y componentes)  </vt:lpstr>
      <vt:lpstr>SOP 1-COTIZACIONES (distribución, proyectos y componentes)  </vt:lpstr>
      <vt:lpstr>SOP 1-COTIZACIONES (distribución, proyectos y componentes)  </vt:lpstr>
      <vt:lpstr>SOP 2-REQUISICIONES (canal único)  </vt:lpstr>
      <vt:lpstr>Presentación de PowerPoint</vt:lpstr>
      <vt:lpstr>Presentación de PowerPoint</vt:lpstr>
      <vt:lpstr>SOP 3-CONTROL DE MATERIALES PARA PROYECTO (descarga a costo)  </vt:lpstr>
      <vt:lpstr>SOP 3-CONTROL DE MATERIALES PARA PROYECTO (descarga a costo)  </vt:lpstr>
      <vt:lpstr>SOP 3-CONTROL DE MATERIALES PARA PROYECTO (descarga a costo)  </vt:lpstr>
      <vt:lpstr>SOP 4-PRÉSTAMO DE EQUIPOS DEMO (4 UR5e, 1 MiR250 Shelf, 1 MiR100)  </vt:lpstr>
      <vt:lpstr>SOP 4-PRÉSTAMO DE EQUIPOS DEMO (4 UR5e, 1 MiR250 Shelf, 1 MiR100)  </vt:lpstr>
      <vt:lpstr>SOP 4-PRÉSTAMO DE EQUIPOS DEMO (4 UR5e, 1 MiR250 Shelf, 1 MiR100)  </vt:lpstr>
      <vt:lpstr>SOP 5-SOPORTE Y SERVICIOS (preventa, postventa y mantenimientos  </vt:lpstr>
      <vt:lpstr>SOP 5-SOPORTE Y SERVICIOS (postventa y mantenimientos  </vt:lpstr>
      <vt:lpstr>SOP 5-SOPORTE Y SERVICIOS (postventa y mantenimientos  </vt:lpstr>
      <vt:lpstr>SOP 6-CICLO DE PROYECTOS (stage-gate)  </vt:lpstr>
      <vt:lpstr>SOP 6-CICLO DE PROYECTOS (stage-gate)  </vt:lpstr>
      <vt:lpstr>SOP 6-CICLO DE PROYECTOS (stage-gate)  </vt:lpstr>
      <vt:lpstr>SOP 7-FABRICACIÓN DE PARTES CON PROVEEDORES  </vt:lpstr>
      <vt:lpstr>SOP 7-FABRICACIÓN DE PARTES CON PROVEEDORES  </vt:lpstr>
      <vt:lpstr>SOP 7-FABRICACIÓN DE PARTES CON PROVEEDORES  </vt:lpstr>
      <vt:lpstr>SOP 8-ENSAMBLE EN SYSTEMS INTEGRATION (SI)  </vt:lpstr>
      <vt:lpstr>SOP 8-ENSAMBLE EN SYSTEMS INTEGRATION (SI)  </vt:lpstr>
      <vt:lpstr>SOP 8-ENSAMBLE EN SYSTEMS INTEGRATION (SI)  </vt:lpstr>
      <vt:lpstr>SOP 9-PUESTA EN MARCHA (Commissioning)  </vt:lpstr>
      <vt:lpstr>SOP 9-PUESTA EN MARCHA (Commissioning)  </vt:lpstr>
      <vt:lpstr>SOP 9-PUESTA EN MARCHA (Commissioning)  </vt:lpstr>
      <vt:lpstr>SOP 10-DISEÑO  </vt:lpstr>
      <vt:lpstr>Presentación de PowerPoint</vt:lpstr>
      <vt:lpstr>Presentación de PowerPoint</vt:lpstr>
      <vt:lpstr>SOP 11-VENTAS  </vt:lpstr>
      <vt:lpstr>Presentación de PowerPoint</vt:lpstr>
      <vt:lpstr>Presentación de PowerPoint</vt:lpstr>
      <vt:lpstr>SOP 12-TRÁFICO Y LOGÍSTICA  </vt:lpstr>
      <vt:lpstr>Presentación de PowerPoint</vt:lpstr>
      <vt:lpstr>Presentación de PowerPoint</vt:lpstr>
      <vt:lpstr>Presentación de PowerPoint</vt:lpstr>
      <vt:lpstr>CUADRO DE KPI´S TRANSVERSALES</vt:lpstr>
      <vt:lpstr>ANÁLISIS DE CARGA FUNCIONAL   </vt:lpstr>
      <vt:lpstr>HOJA DE RUTA DE IMPLEMENTACIÓN  </vt:lpstr>
      <vt:lpstr>ISO 9001:2015     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Organizacional y Propuesta de Procedimientos (SOPs)</dc:title>
  <dc:creator>Colibecas</dc:creator>
  <cp:lastModifiedBy>arturo juarez</cp:lastModifiedBy>
  <cp:revision>21</cp:revision>
  <dcterms:created xsi:type="dcterms:W3CDTF">2025-09-18T21:34:04Z</dcterms:created>
  <dcterms:modified xsi:type="dcterms:W3CDTF">2026-02-10T19:16:33Z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0x0101008B6216C5D0F720449930F31E8CA59569</vt:lpwstr>
  </property>
</Properties>
</file>